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418" r:id="rId4"/>
    <p:sldId id="419" r:id="rId5"/>
    <p:sldId id="434" r:id="rId6"/>
    <p:sldId id="421" r:id="rId7"/>
    <p:sldId id="422" r:id="rId8"/>
    <p:sldId id="424" r:id="rId9"/>
    <p:sldId id="425" r:id="rId10"/>
    <p:sldId id="426" r:id="rId11"/>
    <p:sldId id="436" r:id="rId12"/>
    <p:sldId id="460" r:id="rId13"/>
    <p:sldId id="461" r:id="rId14"/>
    <p:sldId id="444" r:id="rId15"/>
    <p:sldId id="438" r:id="rId16"/>
    <p:sldId id="445" r:id="rId17"/>
    <p:sldId id="464" r:id="rId18"/>
    <p:sldId id="462" r:id="rId19"/>
    <p:sldId id="469" r:id="rId20"/>
    <p:sldId id="467" r:id="rId21"/>
    <p:sldId id="465" r:id="rId22"/>
    <p:sldId id="468" r:id="rId23"/>
    <p:sldId id="466" r:id="rId24"/>
    <p:sldId id="463" r:id="rId25"/>
    <p:sldId id="309" r:id="rId26"/>
    <p:sldId id="293" r:id="rId27"/>
    <p:sldId id="294" r:id="rId28"/>
    <p:sldId id="295" r:id="rId29"/>
    <p:sldId id="296" r:id="rId30"/>
    <p:sldId id="297" r:id="rId31"/>
    <p:sldId id="306" r:id="rId32"/>
    <p:sldId id="298" r:id="rId33"/>
    <p:sldId id="303" r:id="rId34"/>
    <p:sldId id="304" r:id="rId35"/>
    <p:sldId id="307" r:id="rId36"/>
    <p:sldId id="308" r:id="rId37"/>
    <p:sldId id="301" r:id="rId38"/>
    <p:sldId id="302" r:id="rId39"/>
    <p:sldId id="281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0457" autoAdjust="0"/>
  </p:normalViewPr>
  <p:slideViewPr>
    <p:cSldViewPr snapToGrid="0">
      <p:cViewPr varScale="1">
        <p:scale>
          <a:sx n="73" d="100"/>
          <a:sy n="73" d="100"/>
        </p:scale>
        <p:origin x="37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6C7E7-D7D8-4F66-BA48-C3A17B39A6A4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1B7C9-F039-44EB-8890-41BF77A233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068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F1B7C9-F039-44EB-8890-41BF77A2335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459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7488916-8BA5-4CA4-97C5-24ADE67B1226}" type="slidenum">
              <a:rPr lang="ru-RU" altLang="ru-RU" smtClean="0">
                <a:latin typeface="Arial" panose="020B0604020202020204" pitchFamily="34" charset="0"/>
                <a:cs typeface="DejaVu Sans" panose="020B06030308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ru-RU" altLang="ru-RU">
              <a:latin typeface="Arial" panose="020B0604020202020204" pitchFamily="34" charset="0"/>
              <a:cs typeface="DejaVu Sans" panose="020B0603030804020204" pitchFamily="34" charset="0"/>
            </a:endParaRPr>
          </a:p>
        </p:txBody>
      </p:sp>
      <p:sp>
        <p:nvSpPr>
          <p:cNvPr id="11267" name="Text Box 1"/>
          <p:cNvSpPr txBox="1">
            <a:spLocks noChangeArrowheads="1"/>
          </p:cNvSpPr>
          <p:nvPr/>
        </p:nvSpPr>
        <p:spPr bwMode="auto">
          <a:xfrm>
            <a:off x="1128713" y="668338"/>
            <a:ext cx="4591050" cy="34448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61000" cy="41846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343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D3F6AF1-DE11-4E9A-8E54-4DD677BF4C81}" type="slidenum">
              <a:rPr lang="ru-RU" altLang="ru-RU" smtClean="0">
                <a:latin typeface="Arial" panose="020B0604020202020204" pitchFamily="34" charset="0"/>
                <a:cs typeface="DejaVu Sans" panose="020B06030308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ru-RU" altLang="ru-RU">
              <a:latin typeface="Arial" panose="020B0604020202020204" pitchFamily="34" charset="0"/>
              <a:cs typeface="DejaVu Sans" panose="020B0603030804020204" pitchFamily="34" charset="0"/>
            </a:endParaRPr>
          </a:p>
        </p:txBody>
      </p:sp>
      <p:sp>
        <p:nvSpPr>
          <p:cNvPr id="16387" name="Text Box 1"/>
          <p:cNvSpPr txBox="1">
            <a:spLocks noChangeArrowheads="1"/>
          </p:cNvSpPr>
          <p:nvPr/>
        </p:nvSpPr>
        <p:spPr bwMode="auto">
          <a:xfrm>
            <a:off x="1128713" y="668338"/>
            <a:ext cx="4591050" cy="34448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61000" cy="41846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887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527F3EC-CF5F-4867-B4C3-6A66DA179F9C}" type="slidenum">
              <a:rPr lang="ru-RU" altLang="ru-RU" smtClean="0">
                <a:latin typeface="Arial" panose="020B0604020202020204" pitchFamily="34" charset="0"/>
                <a:cs typeface="DejaVu Sans" panose="020B06030308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ru-RU" altLang="ru-RU">
              <a:latin typeface="Arial" panose="020B0604020202020204" pitchFamily="34" charset="0"/>
              <a:cs typeface="DejaVu Sans" panose="020B0603030804020204" pitchFamily="34" charset="0"/>
            </a:endParaRPr>
          </a:p>
        </p:txBody>
      </p:sp>
      <p:sp>
        <p:nvSpPr>
          <p:cNvPr id="17411" name="Text Box 1"/>
          <p:cNvSpPr txBox="1">
            <a:spLocks noChangeArrowheads="1"/>
          </p:cNvSpPr>
          <p:nvPr/>
        </p:nvSpPr>
        <p:spPr bwMode="auto">
          <a:xfrm>
            <a:off x="1128713" y="668338"/>
            <a:ext cx="4591050" cy="34448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61000" cy="41846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702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C28423-9094-4D73-9441-50D76A22D9E0}" type="slidenum">
              <a:rPr lang="ru-RU" altLang="ru-RU" smtClean="0">
                <a:latin typeface="Arial" panose="020B0604020202020204" pitchFamily="34" charset="0"/>
                <a:cs typeface="DejaVu Sans" panose="020B06030308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ru-RU" altLang="ru-RU">
              <a:latin typeface="Arial" panose="020B0604020202020204" pitchFamily="34" charset="0"/>
              <a:cs typeface="DejaVu Sans" panose="020B0603030804020204" pitchFamily="34" charset="0"/>
            </a:endParaRPr>
          </a:p>
        </p:txBody>
      </p:sp>
      <p:sp>
        <p:nvSpPr>
          <p:cNvPr id="21507" name="Text Box 1"/>
          <p:cNvSpPr txBox="1">
            <a:spLocks noChangeArrowheads="1"/>
          </p:cNvSpPr>
          <p:nvPr/>
        </p:nvSpPr>
        <p:spPr bwMode="auto">
          <a:xfrm>
            <a:off x="1128713" y="668338"/>
            <a:ext cx="4591050" cy="34448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61000" cy="41846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740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B12089F-A5F8-4CB9-9208-E0A1350BD10D}" type="slidenum">
              <a:rPr lang="ru-RU" altLang="ru-RU" smtClean="0">
                <a:latin typeface="Arial" panose="020B0604020202020204" pitchFamily="34" charset="0"/>
                <a:cs typeface="DejaVu Sans" panose="020B06030308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ru-RU" altLang="ru-RU">
              <a:latin typeface="Arial" panose="020B0604020202020204" pitchFamily="34" charset="0"/>
              <a:cs typeface="DejaVu Sans" panose="020B0603030804020204" pitchFamily="34" charset="0"/>
            </a:endParaRPr>
          </a:p>
        </p:txBody>
      </p:sp>
      <p:sp>
        <p:nvSpPr>
          <p:cNvPr id="23555" name="Text Box 1"/>
          <p:cNvSpPr txBox="1">
            <a:spLocks noChangeArrowheads="1"/>
          </p:cNvSpPr>
          <p:nvPr/>
        </p:nvSpPr>
        <p:spPr bwMode="auto">
          <a:xfrm>
            <a:off x="1128713" y="668338"/>
            <a:ext cx="4591050" cy="34448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61000" cy="41846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814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3E0FE3-BF5D-4A29-BB09-5E2E03703230}" type="slidenum">
              <a:rPr lang="ru-RU" altLang="ru-RU" smtClean="0">
                <a:latin typeface="Arial" panose="020B0604020202020204" pitchFamily="34" charset="0"/>
                <a:cs typeface="DejaVu Sans" panose="020B06030308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ru-RU" altLang="ru-RU">
              <a:latin typeface="Arial" panose="020B0604020202020204" pitchFamily="34" charset="0"/>
              <a:cs typeface="DejaVu Sans" panose="020B0603030804020204" pitchFamily="34" charset="0"/>
            </a:endParaRPr>
          </a:p>
        </p:txBody>
      </p:sp>
      <p:sp>
        <p:nvSpPr>
          <p:cNvPr id="25603" name="Text Box 1"/>
          <p:cNvSpPr txBox="1">
            <a:spLocks noChangeArrowheads="1"/>
          </p:cNvSpPr>
          <p:nvPr/>
        </p:nvSpPr>
        <p:spPr bwMode="auto">
          <a:xfrm>
            <a:off x="1128713" y="668338"/>
            <a:ext cx="4591050" cy="34448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61000" cy="41846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570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926863-1BF8-4907-8D2A-4366B37415C3}" type="slidenum">
              <a:rPr lang="ru-RU" altLang="ru-RU" smtClean="0">
                <a:latin typeface="Arial" panose="020B0604020202020204" pitchFamily="34" charset="0"/>
                <a:cs typeface="DejaVu Sans" panose="020B06030308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ru-RU" altLang="ru-RU">
              <a:latin typeface="Arial" panose="020B0604020202020204" pitchFamily="34" charset="0"/>
              <a:cs typeface="DejaVu Sans" panose="020B0603030804020204" pitchFamily="34" charset="0"/>
            </a:endParaRPr>
          </a:p>
        </p:txBody>
      </p:sp>
      <p:sp>
        <p:nvSpPr>
          <p:cNvPr id="31747" name="Text Box 1"/>
          <p:cNvSpPr txBox="1">
            <a:spLocks noChangeArrowheads="1"/>
          </p:cNvSpPr>
          <p:nvPr/>
        </p:nvSpPr>
        <p:spPr bwMode="auto">
          <a:xfrm>
            <a:off x="1128713" y="668338"/>
            <a:ext cx="4591050" cy="34448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61000" cy="41846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826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8111CF-AF1C-41FE-B6B0-15CD8A7A979B}" type="slidenum">
              <a:rPr lang="ru-RU" altLang="ru-RU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8195" name="Text Box 1"/>
          <p:cNvSpPr txBox="1">
            <a:spLocks noChangeArrowheads="1"/>
          </p:cNvSpPr>
          <p:nvPr/>
        </p:nvSpPr>
        <p:spPr bwMode="auto">
          <a:xfrm>
            <a:off x="1143000" y="677863"/>
            <a:ext cx="4572000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70525" cy="419258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62544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9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8111CF-AF1C-41FE-B6B0-15CD8A7A979B}" type="slidenum">
              <a:rPr lang="ru-RU" altLang="ru-RU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8195" name="Text Box 1"/>
          <p:cNvSpPr txBox="1">
            <a:spLocks noChangeArrowheads="1"/>
          </p:cNvSpPr>
          <p:nvPr/>
        </p:nvSpPr>
        <p:spPr bwMode="auto">
          <a:xfrm>
            <a:off x="1143000" y="677863"/>
            <a:ext cx="4572000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70525" cy="419258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511599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926863-1BF8-4907-8D2A-4366B37415C3}" type="slidenum">
              <a:rPr lang="ru-RU" altLang="ru-RU" smtClean="0">
                <a:latin typeface="Arial" panose="020B0604020202020204" pitchFamily="34" charset="0"/>
                <a:cs typeface="DejaVu Sans" panose="020B06030308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ru-RU" altLang="ru-RU">
              <a:latin typeface="Arial" panose="020B0604020202020204" pitchFamily="34" charset="0"/>
              <a:cs typeface="DejaVu Sans" panose="020B0603030804020204" pitchFamily="34" charset="0"/>
            </a:endParaRPr>
          </a:p>
        </p:txBody>
      </p:sp>
      <p:sp>
        <p:nvSpPr>
          <p:cNvPr id="31747" name="Text Box 1"/>
          <p:cNvSpPr txBox="1">
            <a:spLocks noChangeArrowheads="1"/>
          </p:cNvSpPr>
          <p:nvPr/>
        </p:nvSpPr>
        <p:spPr bwMode="auto">
          <a:xfrm>
            <a:off x="1128713" y="668338"/>
            <a:ext cx="4591050" cy="34448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61000" cy="41846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570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926863-1BF8-4907-8D2A-4366B37415C3}" type="slidenum">
              <a:rPr lang="ru-RU" altLang="ru-RU" smtClean="0">
                <a:latin typeface="Arial" panose="020B0604020202020204" pitchFamily="34" charset="0"/>
                <a:cs typeface="DejaVu Sans" panose="020B06030308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ru-RU" altLang="ru-RU">
              <a:latin typeface="Arial" panose="020B0604020202020204" pitchFamily="34" charset="0"/>
              <a:cs typeface="DejaVu Sans" panose="020B0603030804020204" pitchFamily="34" charset="0"/>
            </a:endParaRPr>
          </a:p>
        </p:txBody>
      </p:sp>
      <p:sp>
        <p:nvSpPr>
          <p:cNvPr id="31747" name="Text Box 1"/>
          <p:cNvSpPr txBox="1">
            <a:spLocks noChangeArrowheads="1"/>
          </p:cNvSpPr>
          <p:nvPr/>
        </p:nvSpPr>
        <p:spPr bwMode="auto">
          <a:xfrm>
            <a:off x="1128713" y="668338"/>
            <a:ext cx="4591050" cy="34448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61000" cy="41846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7329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926863-1BF8-4907-8D2A-4366B37415C3}" type="slidenum">
              <a:rPr lang="ru-RU" altLang="ru-RU" smtClean="0">
                <a:latin typeface="Arial" panose="020B0604020202020204" pitchFamily="34" charset="0"/>
                <a:cs typeface="DejaVu Sans" panose="020B06030308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ru-RU" altLang="ru-RU">
              <a:latin typeface="Arial" panose="020B0604020202020204" pitchFamily="34" charset="0"/>
              <a:cs typeface="DejaVu Sans" panose="020B0603030804020204" pitchFamily="34" charset="0"/>
            </a:endParaRPr>
          </a:p>
        </p:txBody>
      </p:sp>
      <p:sp>
        <p:nvSpPr>
          <p:cNvPr id="31747" name="Text Box 1"/>
          <p:cNvSpPr txBox="1">
            <a:spLocks noChangeArrowheads="1"/>
          </p:cNvSpPr>
          <p:nvPr/>
        </p:nvSpPr>
        <p:spPr bwMode="auto">
          <a:xfrm>
            <a:off x="1128713" y="668338"/>
            <a:ext cx="4591050" cy="34448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61000" cy="41846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8584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DEE4B9-499E-7D8C-78F6-AA8B7130A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8">
            <a:extLst>
              <a:ext uri="{FF2B5EF4-FFF2-40B4-BE49-F238E27FC236}">
                <a16:creationId xmlns:a16="http://schemas.microsoft.com/office/drawing/2014/main" id="{B0BAAA58-4D7F-5666-DD23-942424E0A47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926863-1BF8-4907-8D2A-4366B37415C3}" type="slidenum">
              <a:rPr lang="ru-RU" altLang="ru-RU" smtClean="0">
                <a:latin typeface="Arial" panose="020B0604020202020204" pitchFamily="34" charset="0"/>
                <a:cs typeface="DejaVu Sans" panose="020B06030308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ru-RU" altLang="ru-RU">
              <a:latin typeface="Arial" panose="020B0604020202020204" pitchFamily="34" charset="0"/>
              <a:cs typeface="DejaVu Sans" panose="020B0603030804020204" pitchFamily="34" charset="0"/>
            </a:endParaRPr>
          </a:p>
        </p:txBody>
      </p:sp>
      <p:sp>
        <p:nvSpPr>
          <p:cNvPr id="31747" name="Text Box 1">
            <a:extLst>
              <a:ext uri="{FF2B5EF4-FFF2-40B4-BE49-F238E27FC236}">
                <a16:creationId xmlns:a16="http://schemas.microsoft.com/office/drawing/2014/main" id="{1CDFA6CA-F2BB-A9F3-8129-8D4E4ADEE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713" y="668338"/>
            <a:ext cx="4591050" cy="34448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8CEDA615-1265-E56C-D4E6-70CC0844E5E3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61000" cy="41846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2629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ED76BD-FAF0-F132-8EA9-8FB4791C0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8">
            <a:extLst>
              <a:ext uri="{FF2B5EF4-FFF2-40B4-BE49-F238E27FC236}">
                <a16:creationId xmlns:a16="http://schemas.microsoft.com/office/drawing/2014/main" id="{BBD03933-AAA7-0F26-5D27-2E3780939E1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926863-1BF8-4907-8D2A-4366B37415C3}" type="slidenum">
              <a:rPr lang="ru-RU" altLang="ru-RU" smtClean="0">
                <a:latin typeface="Arial" panose="020B0604020202020204" pitchFamily="34" charset="0"/>
                <a:cs typeface="DejaVu Sans" panose="020B06030308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ru-RU" altLang="ru-RU">
              <a:latin typeface="Arial" panose="020B0604020202020204" pitchFamily="34" charset="0"/>
              <a:cs typeface="DejaVu Sans" panose="020B0603030804020204" pitchFamily="34" charset="0"/>
            </a:endParaRPr>
          </a:p>
        </p:txBody>
      </p:sp>
      <p:sp>
        <p:nvSpPr>
          <p:cNvPr id="31747" name="Text Box 1">
            <a:extLst>
              <a:ext uri="{FF2B5EF4-FFF2-40B4-BE49-F238E27FC236}">
                <a16:creationId xmlns:a16="http://schemas.microsoft.com/office/drawing/2014/main" id="{D363F151-636B-4AAE-D864-66EB54EE4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713" y="668338"/>
            <a:ext cx="4591050" cy="34448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726ACCAD-0ACA-877B-0454-9E1DC557015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61000" cy="41846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3378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4FC171-275E-42D2-0E6F-E5098FC5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8">
            <a:extLst>
              <a:ext uri="{FF2B5EF4-FFF2-40B4-BE49-F238E27FC236}">
                <a16:creationId xmlns:a16="http://schemas.microsoft.com/office/drawing/2014/main" id="{122A21C7-1C01-7CA9-8D09-BC8EAE72101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926863-1BF8-4907-8D2A-4366B37415C3}" type="slidenum">
              <a:rPr lang="ru-RU" altLang="ru-RU" smtClean="0">
                <a:latin typeface="Arial" panose="020B0604020202020204" pitchFamily="34" charset="0"/>
                <a:cs typeface="DejaVu Sans" panose="020B06030308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ru-RU" altLang="ru-RU">
              <a:latin typeface="Arial" panose="020B0604020202020204" pitchFamily="34" charset="0"/>
              <a:cs typeface="DejaVu Sans" panose="020B0603030804020204" pitchFamily="34" charset="0"/>
            </a:endParaRPr>
          </a:p>
        </p:txBody>
      </p:sp>
      <p:sp>
        <p:nvSpPr>
          <p:cNvPr id="31747" name="Text Box 1">
            <a:extLst>
              <a:ext uri="{FF2B5EF4-FFF2-40B4-BE49-F238E27FC236}">
                <a16:creationId xmlns:a16="http://schemas.microsoft.com/office/drawing/2014/main" id="{34E6564F-B38F-EB32-C9AC-BFFC0AE9D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713" y="668338"/>
            <a:ext cx="4591050" cy="34448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89084A89-FFE4-1134-B44B-5F919740095F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61000" cy="41846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1938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2B06FB-D934-B89C-EB4F-46128C04D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8">
            <a:extLst>
              <a:ext uri="{FF2B5EF4-FFF2-40B4-BE49-F238E27FC236}">
                <a16:creationId xmlns:a16="http://schemas.microsoft.com/office/drawing/2014/main" id="{EFE87EF6-A31E-EF03-8244-796B3431C05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926863-1BF8-4907-8D2A-4366B37415C3}" type="slidenum">
              <a:rPr lang="ru-RU" altLang="ru-RU" smtClean="0">
                <a:latin typeface="Arial" panose="020B0604020202020204" pitchFamily="34" charset="0"/>
                <a:cs typeface="DejaVu Sans" panose="020B06030308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ru-RU" altLang="ru-RU">
              <a:latin typeface="Arial" panose="020B0604020202020204" pitchFamily="34" charset="0"/>
              <a:cs typeface="DejaVu Sans" panose="020B0603030804020204" pitchFamily="34" charset="0"/>
            </a:endParaRPr>
          </a:p>
        </p:txBody>
      </p:sp>
      <p:sp>
        <p:nvSpPr>
          <p:cNvPr id="31747" name="Text Box 1">
            <a:extLst>
              <a:ext uri="{FF2B5EF4-FFF2-40B4-BE49-F238E27FC236}">
                <a16:creationId xmlns:a16="http://schemas.microsoft.com/office/drawing/2014/main" id="{1C14686E-EE23-9FA0-DAB2-54935E3B4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713" y="668338"/>
            <a:ext cx="4591050" cy="34448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D634F5C4-7FDC-F9F4-8A5A-2689DB2C808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61000" cy="41846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9891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340D54-1888-CEE8-9D74-527C902B3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8">
            <a:extLst>
              <a:ext uri="{FF2B5EF4-FFF2-40B4-BE49-F238E27FC236}">
                <a16:creationId xmlns:a16="http://schemas.microsoft.com/office/drawing/2014/main" id="{4CB16E3D-3F2F-38ED-8544-E3AC930016D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926863-1BF8-4907-8D2A-4366B37415C3}" type="slidenum">
              <a:rPr lang="ru-RU" altLang="ru-RU" smtClean="0">
                <a:latin typeface="Arial" panose="020B0604020202020204" pitchFamily="34" charset="0"/>
                <a:cs typeface="DejaVu Sans" panose="020B06030308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ru-RU" altLang="ru-RU">
              <a:latin typeface="Arial" panose="020B0604020202020204" pitchFamily="34" charset="0"/>
              <a:cs typeface="DejaVu Sans" panose="020B0603030804020204" pitchFamily="34" charset="0"/>
            </a:endParaRPr>
          </a:p>
        </p:txBody>
      </p:sp>
      <p:sp>
        <p:nvSpPr>
          <p:cNvPr id="31747" name="Text Box 1">
            <a:extLst>
              <a:ext uri="{FF2B5EF4-FFF2-40B4-BE49-F238E27FC236}">
                <a16:creationId xmlns:a16="http://schemas.microsoft.com/office/drawing/2014/main" id="{BCCAAE43-ED2C-94B3-015A-5EB4CA9FA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713" y="668338"/>
            <a:ext cx="4591050" cy="34448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7EA6C284-4C6A-6382-27BB-539DB7F3C47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61000" cy="41846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4469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A00E4-CE41-5A45-A107-DD401AE11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8">
            <a:extLst>
              <a:ext uri="{FF2B5EF4-FFF2-40B4-BE49-F238E27FC236}">
                <a16:creationId xmlns:a16="http://schemas.microsoft.com/office/drawing/2014/main" id="{91133759-8564-11CD-CC5A-B19B0AE75B2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926863-1BF8-4907-8D2A-4366B37415C3}" type="slidenum">
              <a:rPr lang="ru-RU" altLang="ru-RU" smtClean="0">
                <a:latin typeface="Arial" panose="020B0604020202020204" pitchFamily="34" charset="0"/>
                <a:cs typeface="DejaVu Sans" panose="020B06030308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ru-RU" altLang="ru-RU">
              <a:latin typeface="Arial" panose="020B0604020202020204" pitchFamily="34" charset="0"/>
              <a:cs typeface="DejaVu Sans" panose="020B0603030804020204" pitchFamily="34" charset="0"/>
            </a:endParaRPr>
          </a:p>
        </p:txBody>
      </p:sp>
      <p:sp>
        <p:nvSpPr>
          <p:cNvPr id="31747" name="Text Box 1">
            <a:extLst>
              <a:ext uri="{FF2B5EF4-FFF2-40B4-BE49-F238E27FC236}">
                <a16:creationId xmlns:a16="http://schemas.microsoft.com/office/drawing/2014/main" id="{84C71739-4725-5473-B575-BD19809AB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713" y="668338"/>
            <a:ext cx="4591050" cy="34448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7A82EE7C-902A-8BE3-C8CB-9F27F52CE95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61000" cy="41846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7811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840367-EA3D-6306-3EBF-4E7B49B1E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8">
            <a:extLst>
              <a:ext uri="{FF2B5EF4-FFF2-40B4-BE49-F238E27FC236}">
                <a16:creationId xmlns:a16="http://schemas.microsoft.com/office/drawing/2014/main" id="{FAD7E408-CBA6-8146-3B5A-4DDB6B3B570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926863-1BF8-4907-8D2A-4366B37415C3}" type="slidenum">
              <a:rPr lang="ru-RU" altLang="ru-RU" smtClean="0">
                <a:latin typeface="Arial" panose="020B0604020202020204" pitchFamily="34" charset="0"/>
                <a:cs typeface="DejaVu Sans" panose="020B06030308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ru-RU" altLang="ru-RU">
              <a:latin typeface="Arial" panose="020B0604020202020204" pitchFamily="34" charset="0"/>
              <a:cs typeface="DejaVu Sans" panose="020B0603030804020204" pitchFamily="34" charset="0"/>
            </a:endParaRPr>
          </a:p>
        </p:txBody>
      </p:sp>
      <p:sp>
        <p:nvSpPr>
          <p:cNvPr id="31747" name="Text Box 1">
            <a:extLst>
              <a:ext uri="{FF2B5EF4-FFF2-40B4-BE49-F238E27FC236}">
                <a16:creationId xmlns:a16="http://schemas.microsoft.com/office/drawing/2014/main" id="{12E0F332-4E4C-C054-6A97-529C7D65C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713" y="668338"/>
            <a:ext cx="4591050" cy="34448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96E5ECEB-A05B-17DA-FC9F-AB9ACF60EA8C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61000" cy="41846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9511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1D85D-D0B9-8661-4B47-83854C436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8">
            <a:extLst>
              <a:ext uri="{FF2B5EF4-FFF2-40B4-BE49-F238E27FC236}">
                <a16:creationId xmlns:a16="http://schemas.microsoft.com/office/drawing/2014/main" id="{1CB13A51-8ABB-1440-1568-EA51D73613B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926863-1BF8-4907-8D2A-4366B37415C3}" type="slidenum">
              <a:rPr lang="ru-RU" altLang="ru-RU" smtClean="0">
                <a:latin typeface="Arial" panose="020B0604020202020204" pitchFamily="34" charset="0"/>
                <a:cs typeface="DejaVu Sans" panose="020B06030308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ru-RU" altLang="ru-RU">
              <a:latin typeface="Arial" panose="020B0604020202020204" pitchFamily="34" charset="0"/>
              <a:cs typeface="DejaVu Sans" panose="020B0603030804020204" pitchFamily="34" charset="0"/>
            </a:endParaRPr>
          </a:p>
        </p:txBody>
      </p:sp>
      <p:sp>
        <p:nvSpPr>
          <p:cNvPr id="31747" name="Text Box 1">
            <a:extLst>
              <a:ext uri="{FF2B5EF4-FFF2-40B4-BE49-F238E27FC236}">
                <a16:creationId xmlns:a16="http://schemas.microsoft.com/office/drawing/2014/main" id="{348D257A-0F87-B83D-8B65-7BB6AE947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713" y="668338"/>
            <a:ext cx="4591050" cy="34448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/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990DBFA1-3BC7-3AE7-E817-4AEDDD0CAAE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61000" cy="41846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4593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DB458992-FFE5-4F75-9CA8-FB8ECC040B34}" type="slidenum">
              <a:rPr lang="en-US" altLang="ru-RU" smtClean="0">
                <a:solidFill>
                  <a:srgbClr val="000000"/>
                </a:solidFill>
              </a:rPr>
              <a:pPr/>
              <a:t>26</a:t>
            </a:fld>
            <a:endParaRPr lang="en-US" altLang="ru-RU">
              <a:solidFill>
                <a:srgbClr val="000000"/>
              </a:solidFill>
            </a:endParaRPr>
          </a:p>
        </p:txBody>
      </p:sp>
      <p:sp>
        <p:nvSpPr>
          <p:cNvPr id="92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824403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D493B1B1-201A-42C5-885F-ACB35A113613}" type="slidenum">
              <a:rPr lang="en-US" altLang="ru-RU" smtClean="0">
                <a:solidFill>
                  <a:srgbClr val="000000"/>
                </a:solidFill>
              </a:rPr>
              <a:pPr/>
              <a:t>27</a:t>
            </a:fld>
            <a:endParaRPr lang="en-US" altLang="ru-RU">
              <a:solidFill>
                <a:srgbClr val="000000"/>
              </a:solidFill>
            </a:endParaRPr>
          </a:p>
        </p:txBody>
      </p:sp>
      <p:sp>
        <p:nvSpPr>
          <p:cNvPr id="1126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145367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EFE18523-AE70-4C61-A900-BECD218DF47F}" type="slidenum">
              <a:rPr lang="en-US" altLang="ru-RU" smtClean="0">
                <a:solidFill>
                  <a:srgbClr val="000000"/>
                </a:solidFill>
              </a:rPr>
              <a:pPr/>
              <a:t>28</a:t>
            </a:fld>
            <a:endParaRPr lang="en-US" altLang="ru-RU">
              <a:solidFill>
                <a:srgbClr val="000000"/>
              </a:solidFill>
            </a:endParaRPr>
          </a:p>
        </p:txBody>
      </p:sp>
      <p:sp>
        <p:nvSpPr>
          <p:cNvPr id="1331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844705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6F3A342C-72DE-4235-B76A-81EC43547C93}" type="slidenum">
              <a:rPr lang="en-US" altLang="ru-RU" smtClean="0">
                <a:solidFill>
                  <a:srgbClr val="000000"/>
                </a:solidFill>
              </a:rPr>
              <a:pPr/>
              <a:t>29</a:t>
            </a:fld>
            <a:endParaRPr lang="en-US" altLang="ru-RU">
              <a:solidFill>
                <a:srgbClr val="000000"/>
              </a:solidFill>
            </a:endParaRPr>
          </a:p>
        </p:txBody>
      </p:sp>
      <p:sp>
        <p:nvSpPr>
          <p:cNvPr id="1536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208154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57859751-D239-4E90-82DE-C29CF484EDF4}" type="slidenum">
              <a:rPr lang="en-US" altLang="ru-RU" smtClean="0">
                <a:solidFill>
                  <a:srgbClr val="000000"/>
                </a:solidFill>
              </a:rPr>
              <a:pPr/>
              <a:t>30</a:t>
            </a:fld>
            <a:endParaRPr lang="en-US" altLang="ru-RU">
              <a:solidFill>
                <a:srgbClr val="000000"/>
              </a:solidFill>
            </a:endParaRPr>
          </a:p>
        </p:txBody>
      </p:sp>
      <p:sp>
        <p:nvSpPr>
          <p:cNvPr id="1741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002756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57859751-D239-4E90-82DE-C29CF484EDF4}" type="slidenum">
              <a:rPr lang="en-US" altLang="ru-RU" smtClean="0">
                <a:solidFill>
                  <a:srgbClr val="000000"/>
                </a:solidFill>
              </a:rPr>
              <a:pPr/>
              <a:t>31</a:t>
            </a:fld>
            <a:endParaRPr lang="en-US" altLang="ru-RU">
              <a:solidFill>
                <a:srgbClr val="000000"/>
              </a:solidFill>
            </a:endParaRPr>
          </a:p>
        </p:txBody>
      </p:sp>
      <p:sp>
        <p:nvSpPr>
          <p:cNvPr id="1741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09960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C755EA1B-847E-417C-886D-7E1452F40E5E}" type="slidenum">
              <a:rPr lang="en-US" altLang="ru-RU" smtClean="0">
                <a:solidFill>
                  <a:srgbClr val="000000"/>
                </a:solidFill>
              </a:rPr>
              <a:pPr/>
              <a:t>32</a:t>
            </a:fld>
            <a:endParaRPr lang="en-US" altLang="ru-RU">
              <a:solidFill>
                <a:srgbClr val="000000"/>
              </a:solidFill>
            </a:endParaRPr>
          </a:p>
        </p:txBody>
      </p:sp>
      <p:sp>
        <p:nvSpPr>
          <p:cNvPr id="194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4383366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C755EA1B-847E-417C-886D-7E1452F40E5E}" type="slidenum">
              <a:rPr lang="en-US" altLang="ru-RU" smtClean="0">
                <a:solidFill>
                  <a:srgbClr val="000000"/>
                </a:solidFill>
              </a:rPr>
              <a:pPr/>
              <a:t>33</a:t>
            </a:fld>
            <a:endParaRPr lang="en-US" altLang="ru-RU">
              <a:solidFill>
                <a:srgbClr val="000000"/>
              </a:solidFill>
            </a:endParaRPr>
          </a:p>
        </p:txBody>
      </p:sp>
      <p:sp>
        <p:nvSpPr>
          <p:cNvPr id="194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710876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C755EA1B-847E-417C-886D-7E1452F40E5E}" type="slidenum">
              <a:rPr lang="en-US" altLang="ru-RU" smtClean="0">
                <a:solidFill>
                  <a:srgbClr val="000000"/>
                </a:solidFill>
              </a:rPr>
              <a:pPr/>
              <a:t>34</a:t>
            </a:fld>
            <a:endParaRPr lang="en-US" altLang="ru-RU">
              <a:solidFill>
                <a:srgbClr val="000000"/>
              </a:solidFill>
            </a:endParaRPr>
          </a:p>
        </p:txBody>
      </p:sp>
      <p:sp>
        <p:nvSpPr>
          <p:cNvPr id="194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162073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C755EA1B-847E-417C-886D-7E1452F40E5E}" type="slidenum">
              <a:rPr lang="en-US" altLang="ru-RU" smtClean="0">
                <a:solidFill>
                  <a:srgbClr val="000000"/>
                </a:solidFill>
              </a:rPr>
              <a:pPr/>
              <a:t>35</a:t>
            </a:fld>
            <a:endParaRPr lang="en-US" altLang="ru-RU">
              <a:solidFill>
                <a:srgbClr val="000000"/>
              </a:solidFill>
            </a:endParaRPr>
          </a:p>
        </p:txBody>
      </p:sp>
      <p:sp>
        <p:nvSpPr>
          <p:cNvPr id="194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435522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C755EA1B-847E-417C-886D-7E1452F40E5E}" type="slidenum">
              <a:rPr lang="en-US" altLang="ru-RU" smtClean="0">
                <a:solidFill>
                  <a:srgbClr val="000000"/>
                </a:solidFill>
              </a:rPr>
              <a:pPr/>
              <a:t>36</a:t>
            </a:fld>
            <a:endParaRPr lang="en-US" altLang="ru-RU">
              <a:solidFill>
                <a:srgbClr val="000000"/>
              </a:solidFill>
            </a:endParaRPr>
          </a:p>
        </p:txBody>
      </p:sp>
      <p:sp>
        <p:nvSpPr>
          <p:cNvPr id="194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607271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C755EA1B-847E-417C-886D-7E1452F40E5E}" type="slidenum">
              <a:rPr lang="en-US" altLang="ru-RU" smtClean="0">
                <a:solidFill>
                  <a:srgbClr val="000000"/>
                </a:solidFill>
              </a:rPr>
              <a:pPr/>
              <a:t>37</a:t>
            </a:fld>
            <a:endParaRPr lang="en-US" altLang="ru-RU">
              <a:solidFill>
                <a:srgbClr val="000000"/>
              </a:solidFill>
            </a:endParaRPr>
          </a:p>
        </p:txBody>
      </p:sp>
      <p:sp>
        <p:nvSpPr>
          <p:cNvPr id="194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460081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C755EA1B-847E-417C-886D-7E1452F40E5E}" type="slidenum">
              <a:rPr lang="en-US" altLang="ru-RU" smtClean="0">
                <a:solidFill>
                  <a:srgbClr val="000000"/>
                </a:solidFill>
              </a:rPr>
              <a:pPr/>
              <a:t>38</a:t>
            </a:fld>
            <a:endParaRPr lang="en-US" altLang="ru-RU">
              <a:solidFill>
                <a:srgbClr val="000000"/>
              </a:solidFill>
            </a:endParaRPr>
          </a:p>
        </p:txBody>
      </p:sp>
      <p:sp>
        <p:nvSpPr>
          <p:cNvPr id="194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908940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34ABFBB-A473-4D09-8AAF-7C868D75AB83}" type="slidenum">
              <a:rPr lang="en-US" altLang="ru-RU" sz="1400" smtClean="0">
                <a:ea typeface="Droid Sans Fallback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ru-RU" sz="1400">
              <a:ea typeface="Droid Sans Fallback" charset="0"/>
            </a:endParaRPr>
          </a:p>
        </p:txBody>
      </p:sp>
      <p:sp>
        <p:nvSpPr>
          <p:cNvPr id="4915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915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46157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520" y="273051"/>
            <a:ext cx="10966610" cy="11398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1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4/4/17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515F40-4CDA-4B66-9CDB-D14B5087998D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926627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hirose/cpp-httplib.git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eves-internet-guide.com/install-mosquitto-broker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eves-internet-guide.com/mosquitto_pub-sub-clients/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://nano-chicken.blogspot.com/2017/11/mqtt-sample-code-using-libmosquitto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307859" y="2172956"/>
            <a:ext cx="8915399" cy="2262781"/>
          </a:xfrm>
        </p:spPr>
        <p:txBody>
          <a:bodyPr/>
          <a:lstStyle/>
          <a:p>
            <a:r>
              <a:rPr lang="ru-RU" dirty="0"/>
              <a:t>Практическое занятие </a:t>
            </a:r>
            <a:r>
              <a:rPr lang="en-US" dirty="0"/>
              <a:t>4</a:t>
            </a:r>
            <a:br>
              <a:rPr lang="ru-RU" dirty="0"/>
            </a:br>
            <a:r>
              <a:rPr lang="ru-RU" dirty="0"/>
              <a:t> </a:t>
            </a:r>
            <a:r>
              <a:rPr lang="en-US" dirty="0"/>
              <a:t>REST and MQTT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573179"/>
          </a:xfrm>
        </p:spPr>
        <p:txBody>
          <a:bodyPr>
            <a:normAutofit fontScale="85000" lnSpcReduction="20000"/>
          </a:bodyPr>
          <a:lstStyle/>
          <a:p>
            <a:endParaRPr lang="ru-RU" dirty="0"/>
          </a:p>
          <a:p>
            <a:r>
              <a:rPr lang="ru-RU" dirty="0"/>
              <a:t>Максимов Алексей</a:t>
            </a:r>
          </a:p>
          <a:p>
            <a:r>
              <a:rPr lang="ru-RU" dirty="0"/>
              <a:t>202</a:t>
            </a:r>
            <a:r>
              <a:rPr lang="en-US" dirty="0"/>
              <a:t>6</a:t>
            </a:r>
            <a:r>
              <a:rPr lang="ru-RU" dirty="0"/>
              <a:t>.</a:t>
            </a:r>
            <a:r>
              <a:rPr lang="en-US" dirty="0"/>
              <a:t>03</a:t>
            </a:r>
          </a:p>
          <a:p>
            <a:r>
              <a:rPr lang="ru-RU" dirty="0"/>
              <a:t>Версия </a:t>
            </a:r>
            <a:r>
              <a:rPr lang="en-US" dirty="0"/>
              <a:t>1</a:t>
            </a:r>
            <a:r>
              <a:rPr lang="ru-RU" dirty="0"/>
              <a:t>.</a:t>
            </a:r>
            <a:r>
              <a:rPr lang="en-US" dirty="0"/>
              <a:t>4</a:t>
            </a:r>
          </a:p>
          <a:p>
            <a:r>
              <a:rPr lang="ru-RU" dirty="0"/>
              <a:t>Презентация для кафедры 307 МАИ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0303" y="294666"/>
            <a:ext cx="4096850" cy="217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34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88245" y="1440263"/>
            <a:ext cx="8915400" cy="4749521"/>
          </a:xfrm>
        </p:spPr>
        <p:txBody>
          <a:bodyPr>
            <a:normAutofit fontScale="77500" lnSpcReduction="2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ru-RU" sz="4000" dirty="0"/>
              <a:t>Организовать связь при помощи </a:t>
            </a:r>
            <a:r>
              <a:rPr lang="en-US" sz="4000" dirty="0"/>
              <a:t>rest </a:t>
            </a:r>
            <a:r>
              <a:rPr lang="ru-RU" sz="4000" dirty="0"/>
              <a:t>между сервером распознавания и роботом</a:t>
            </a:r>
            <a:r>
              <a:rPr lang="en-US" sz="4000" dirty="0"/>
              <a:t> 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4000" dirty="0"/>
              <a:t>Поставить брокер </a:t>
            </a:r>
            <a:r>
              <a:rPr lang="en-US" sz="4000" dirty="0"/>
              <a:t>mosquito</a:t>
            </a:r>
            <a:endParaRPr lang="ru-RU" sz="4000" dirty="0"/>
          </a:p>
          <a:p>
            <a:pPr marL="1143000" lvl="1" indent="-742950">
              <a:buFont typeface="+mj-lt"/>
              <a:buAutoNum type="arabicPeriod"/>
            </a:pPr>
            <a:r>
              <a:rPr lang="ru-RU" sz="3800" dirty="0"/>
              <a:t> Передать команду при помощи </a:t>
            </a:r>
            <a:r>
              <a:rPr lang="en-US" sz="3800" dirty="0" err="1"/>
              <a:t>mosquito_pub</a:t>
            </a:r>
            <a:endParaRPr lang="en-US" sz="3800" dirty="0"/>
          </a:p>
          <a:p>
            <a:pPr marL="1143000" lvl="1" indent="-742950">
              <a:buFont typeface="+mj-lt"/>
              <a:buAutoNum type="arabicPeriod"/>
            </a:pPr>
            <a:r>
              <a:rPr lang="en-US" sz="3800" dirty="0"/>
              <a:t> </a:t>
            </a:r>
            <a:r>
              <a:rPr lang="ru-RU" sz="3800" dirty="0"/>
              <a:t>Принять при помощи </a:t>
            </a:r>
            <a:r>
              <a:rPr lang="en-US" sz="3800" dirty="0" err="1"/>
              <a:t>mosquito_sub</a:t>
            </a:r>
            <a:endParaRPr lang="en-US" sz="3800" dirty="0"/>
          </a:p>
          <a:p>
            <a:pPr marL="742950" indent="-742950">
              <a:buFont typeface="+mj-lt"/>
              <a:buAutoNum type="arabicPeriod"/>
            </a:pPr>
            <a:r>
              <a:rPr lang="en-US" sz="4000" dirty="0"/>
              <a:t> </a:t>
            </a:r>
            <a:r>
              <a:rPr lang="ru-RU" sz="4000" dirty="0"/>
              <a:t>Реализовать класс для приема команд на роботе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4000" dirty="0"/>
              <a:t>Обновить диаграмму классов</a:t>
            </a:r>
            <a:endParaRPr lang="en-US" sz="4000" dirty="0"/>
          </a:p>
          <a:p>
            <a:endParaRPr lang="en-US" sz="40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553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>
          <a:xfrm>
            <a:off x="2170175" y="165767"/>
            <a:ext cx="7539526" cy="1209994"/>
          </a:xfrm>
        </p:spPr>
        <p:txBody>
          <a:bodyPr/>
          <a:lstStyle/>
          <a:p>
            <a:pPr>
              <a:tabLst>
                <a:tab pos="0" algn="l"/>
                <a:tab pos="402853" algn="l"/>
                <a:tab pos="807137" algn="l"/>
                <a:tab pos="1211418" algn="l"/>
                <a:tab pos="1615702" algn="l"/>
                <a:tab pos="2019983" algn="l"/>
                <a:tab pos="2424266" algn="l"/>
                <a:tab pos="2828548" algn="l"/>
                <a:tab pos="3232830" algn="l"/>
                <a:tab pos="3637112" algn="l"/>
                <a:tab pos="4041395" algn="l"/>
                <a:tab pos="4445677" algn="l"/>
                <a:tab pos="4849960" algn="l"/>
                <a:tab pos="5254242" algn="l"/>
                <a:tab pos="5658524" algn="l"/>
                <a:tab pos="6062807" algn="l"/>
                <a:tab pos="6467089" algn="l"/>
                <a:tab pos="6871372" algn="l"/>
                <a:tab pos="7275654" algn="l"/>
                <a:tab pos="7679936" algn="l"/>
                <a:tab pos="8084219" algn="l"/>
              </a:tabLst>
            </a:pPr>
            <a:r>
              <a:rPr lang="en-US" altLang="ru-RU" sz="4320" dirty="0">
                <a:solidFill>
                  <a:srgbClr val="0070C0"/>
                </a:solidFill>
              </a:rPr>
              <a:t>REST</a:t>
            </a:r>
            <a:endParaRPr lang="ru-RU" altLang="ru-RU" sz="4320" dirty="0">
              <a:solidFill>
                <a:srgbClr val="0070C0"/>
              </a:solidFill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689594" y="5891845"/>
            <a:ext cx="8101387" cy="331427"/>
          </a:xfrm>
        </p:spPr>
        <p:txBody>
          <a:bodyPr vert="horz" lIns="91440" tIns="0" rIns="91440" bIns="45720" rtlCol="0">
            <a:normAutofit/>
          </a:bodyPr>
          <a:lstStyle/>
          <a:p>
            <a:pPr marL="0" indent="0">
              <a:buSzPct val="114000"/>
              <a:tabLst>
                <a:tab pos="277140" algn="l"/>
                <a:tab pos="371425" algn="l"/>
                <a:tab pos="775709" algn="l"/>
                <a:tab pos="1179990" algn="l"/>
                <a:tab pos="1584272" algn="l"/>
                <a:tab pos="1988555" algn="l"/>
                <a:tab pos="2392837" algn="l"/>
                <a:tab pos="2797120" algn="l"/>
                <a:tab pos="3201402" algn="l"/>
                <a:tab pos="3605684" algn="l"/>
                <a:tab pos="4009967" algn="l"/>
                <a:tab pos="4414249" algn="l"/>
                <a:tab pos="4818532" algn="l"/>
                <a:tab pos="5222814" algn="l"/>
                <a:tab pos="5627096" algn="l"/>
                <a:tab pos="6031379" algn="l"/>
                <a:tab pos="6435661" algn="l"/>
                <a:tab pos="6839942" algn="l"/>
                <a:tab pos="7244226" algn="l"/>
                <a:tab pos="7648507" algn="l"/>
                <a:tab pos="8052791" algn="l"/>
              </a:tabLst>
            </a:pPr>
            <a:r>
              <a:rPr lang="en-US" altLang="ru-RU" sz="1080">
                <a:solidFill>
                  <a:srgbClr val="0070C0"/>
                </a:solidFill>
              </a:rPr>
              <a:t>https://www.yoctoproject.org/software-overview/</a:t>
            </a:r>
          </a:p>
        </p:txBody>
      </p:sp>
      <p:sp>
        <p:nvSpPr>
          <p:cNvPr id="10244" name="Rectangle 2"/>
          <p:cNvSpPr txBox="1">
            <a:spLocks noChangeArrowheads="1"/>
          </p:cNvSpPr>
          <p:nvPr/>
        </p:nvSpPr>
        <p:spPr bwMode="auto">
          <a:xfrm>
            <a:off x="1301026" y="1646152"/>
            <a:ext cx="9589950" cy="4051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49263">
              <a:lnSpc>
                <a:spcPct val="88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1pPr>
            <a:lvl2pPr defTabSz="449263">
              <a:lnSpc>
                <a:spcPct val="88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2pPr>
            <a:lvl3pPr defTabSz="449263">
              <a:lnSpc>
                <a:spcPct val="88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3pPr>
            <a:lvl4pPr defTabSz="449263">
              <a:lnSpc>
                <a:spcPct val="88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4pPr>
            <a:lvl5pPr defTabSz="449263">
              <a:lnSpc>
                <a:spcPct val="88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1800" dirty="0">
                <a:solidFill>
                  <a:srgbClr val="0070C0"/>
                </a:solidFill>
              </a:rPr>
              <a:t>REST </a:t>
            </a:r>
            <a:r>
              <a:rPr lang="ru-RU" altLang="ru-RU" sz="1800" dirty="0">
                <a:solidFill>
                  <a:srgbClr val="0070C0"/>
                </a:solidFill>
              </a:rPr>
              <a:t>(</a:t>
            </a:r>
            <a:r>
              <a:rPr lang="ru-RU" altLang="ru-RU" sz="1800" dirty="0" err="1">
                <a:solidFill>
                  <a:srgbClr val="0070C0"/>
                </a:solidFill>
              </a:rPr>
              <a:t>REpresentational</a:t>
            </a:r>
            <a:r>
              <a:rPr lang="ru-RU" altLang="ru-RU" sz="1800" dirty="0">
                <a:solidFill>
                  <a:srgbClr val="0070C0"/>
                </a:solidFill>
              </a:rPr>
              <a:t> </a:t>
            </a:r>
            <a:r>
              <a:rPr lang="ru-RU" altLang="ru-RU" sz="1800" dirty="0" err="1">
                <a:solidFill>
                  <a:srgbClr val="0070C0"/>
                </a:solidFill>
              </a:rPr>
              <a:t>State</a:t>
            </a:r>
            <a:r>
              <a:rPr lang="ru-RU" altLang="ru-RU" sz="1800" dirty="0">
                <a:solidFill>
                  <a:srgbClr val="0070C0"/>
                </a:solidFill>
              </a:rPr>
              <a:t> </a:t>
            </a:r>
            <a:r>
              <a:rPr lang="ru-RU" altLang="ru-RU" sz="1800" dirty="0" err="1">
                <a:solidFill>
                  <a:srgbClr val="0070C0"/>
                </a:solidFill>
              </a:rPr>
              <a:t>Transfer</a:t>
            </a:r>
            <a:r>
              <a:rPr lang="ru-RU" altLang="ru-RU" sz="1800" dirty="0">
                <a:solidFill>
                  <a:srgbClr val="0070C0"/>
                </a:solidFill>
              </a:rPr>
              <a:t>) — это архитектура, т.е. принципы построения распределенных гипермедиа систем, того что другими словами называется </a:t>
            </a:r>
            <a:r>
              <a:rPr lang="ru-RU" altLang="ru-RU" sz="1800" dirty="0" err="1">
                <a:solidFill>
                  <a:srgbClr val="0070C0"/>
                </a:solidFill>
              </a:rPr>
              <a:t>World</a:t>
            </a:r>
            <a:r>
              <a:rPr lang="ru-RU" altLang="ru-RU" sz="1800" dirty="0">
                <a:solidFill>
                  <a:srgbClr val="0070C0"/>
                </a:solidFill>
              </a:rPr>
              <a:t> </a:t>
            </a:r>
            <a:r>
              <a:rPr lang="ru-RU" altLang="ru-RU" sz="1800" dirty="0" err="1">
                <a:solidFill>
                  <a:srgbClr val="0070C0"/>
                </a:solidFill>
              </a:rPr>
              <a:t>Wide</a:t>
            </a:r>
            <a:r>
              <a:rPr lang="ru-RU" altLang="ru-RU" sz="1800" dirty="0">
                <a:solidFill>
                  <a:srgbClr val="0070C0"/>
                </a:solidFill>
              </a:rPr>
              <a:t> </a:t>
            </a:r>
            <a:r>
              <a:rPr lang="ru-RU" altLang="ru-RU" sz="1800" dirty="0" err="1">
                <a:solidFill>
                  <a:srgbClr val="0070C0"/>
                </a:solidFill>
              </a:rPr>
              <a:t>Web</a:t>
            </a:r>
            <a:r>
              <a:rPr lang="ru-RU" altLang="ru-RU" sz="1800" dirty="0">
                <a:solidFill>
                  <a:srgbClr val="0070C0"/>
                </a:solidFill>
              </a:rPr>
              <a:t>, включая универсальные способы обработки и передачи состояний ресурсов по HTTP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endParaRPr lang="en-US" altLang="ru-RU" sz="18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ru-RU" altLang="ru-RU" sz="1800" dirty="0">
                <a:solidFill>
                  <a:srgbClr val="0070C0"/>
                </a:solidFill>
              </a:rPr>
              <a:t>REST – один из наиболее популярных способов организации взаимодействия между независимыми системами.  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endParaRPr lang="ru-RU" altLang="ru-RU" sz="18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ru-RU" altLang="ru-RU" sz="1800" dirty="0">
                <a:solidFill>
                  <a:srgbClr val="0070C0"/>
                </a:solidFill>
              </a:rPr>
              <a:t>Автор идеи и термина Рой Филдинг 2000г.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ru-RU" altLang="ru-RU" sz="1800" dirty="0">
                <a:solidFill>
                  <a:srgbClr val="0070C0"/>
                </a:solidFill>
              </a:rPr>
              <a:t>REST вытеснил остальные подходы, в том числе дизайн основанный на SOAP и WSDL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3175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2235202" y="233966"/>
            <a:ext cx="8728550" cy="1280890"/>
          </a:xfrm>
        </p:spPr>
        <p:txBody>
          <a:bodyPr/>
          <a:lstStyle/>
          <a:p>
            <a:pPr algn="l"/>
            <a:r>
              <a:rPr lang="ru-RU" altLang="ru-RU" sz="4320" dirty="0">
                <a:solidFill>
                  <a:srgbClr val="0070C0"/>
                </a:solidFill>
              </a:rPr>
              <a:t>Описание </a:t>
            </a:r>
            <a:r>
              <a:rPr lang="en-US" altLang="ru-RU" sz="4320" dirty="0">
                <a:solidFill>
                  <a:srgbClr val="0070C0"/>
                </a:solidFill>
              </a:rPr>
              <a:t>HTTP </a:t>
            </a:r>
            <a:r>
              <a:rPr lang="ru-RU" altLang="ru-RU" sz="4320" dirty="0">
                <a:solidFill>
                  <a:srgbClr val="0070C0"/>
                </a:solidFill>
              </a:rPr>
              <a:t>методов</a:t>
            </a:r>
            <a:endParaRPr lang="en-US" altLang="ru-RU" sz="4320" dirty="0">
              <a:solidFill>
                <a:srgbClr val="0070C0"/>
              </a:solidFill>
            </a:endParaRPr>
          </a:p>
        </p:txBody>
      </p:sp>
      <p:pic>
        <p:nvPicPr>
          <p:cNvPr id="12291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58168" y="1873295"/>
            <a:ext cx="9681379" cy="3824266"/>
          </a:xfr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338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2235202" y="233966"/>
            <a:ext cx="8728550" cy="1280890"/>
          </a:xfrm>
        </p:spPr>
        <p:txBody>
          <a:bodyPr/>
          <a:lstStyle/>
          <a:p>
            <a:pPr algn="l"/>
            <a:r>
              <a:rPr lang="ru-RU" altLang="ru-RU" sz="4320" dirty="0">
                <a:solidFill>
                  <a:srgbClr val="0070C0"/>
                </a:solidFill>
              </a:rPr>
              <a:t>Ошибки</a:t>
            </a:r>
            <a:endParaRPr lang="en-US" altLang="ru-RU" sz="4320" dirty="0">
              <a:solidFill>
                <a:srgbClr val="0070C0"/>
              </a:solidFill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723137" y="2133600"/>
            <a:ext cx="9240614" cy="377762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2xx: Successful operation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3xx: Redirection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4xx: Client error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5xx: Server error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499615" y="5933230"/>
            <a:ext cx="938377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160" dirty="0">
                <a:solidFill>
                  <a:srgbClr val="0070C0"/>
                </a:solidFill>
              </a:rPr>
              <a:t>Детально см. https://en.wikipedia.org/wiki/List_of_HTTP_status_codes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4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 noChangeArrowheads="1"/>
          </p:cNvSpPr>
          <p:nvPr>
            <p:ph type="title"/>
          </p:nvPr>
        </p:nvSpPr>
        <p:spPr>
          <a:xfrm>
            <a:off x="1593088" y="443301"/>
            <a:ext cx="9686456" cy="1209994"/>
          </a:xfrm>
        </p:spPr>
        <p:txBody>
          <a:bodyPr/>
          <a:lstStyle/>
          <a:p>
            <a:pPr>
              <a:tabLst>
                <a:tab pos="0" algn="l"/>
                <a:tab pos="402853" algn="l"/>
                <a:tab pos="807137" algn="l"/>
                <a:tab pos="1211418" algn="l"/>
                <a:tab pos="1615702" algn="l"/>
                <a:tab pos="2019983" algn="l"/>
                <a:tab pos="2424266" algn="l"/>
                <a:tab pos="2828548" algn="l"/>
                <a:tab pos="3232830" algn="l"/>
                <a:tab pos="3637112" algn="l"/>
                <a:tab pos="4041395" algn="l"/>
                <a:tab pos="4445677" algn="l"/>
                <a:tab pos="4849960" algn="l"/>
                <a:tab pos="5254242" algn="l"/>
                <a:tab pos="5658524" algn="l"/>
                <a:tab pos="6062807" algn="l"/>
                <a:tab pos="6467089" algn="l"/>
                <a:tab pos="6871372" algn="l"/>
                <a:tab pos="7275654" algn="l"/>
                <a:tab pos="7679936" algn="l"/>
                <a:tab pos="8084219" algn="l"/>
              </a:tabLst>
            </a:pPr>
            <a:r>
              <a:rPr lang="ru-RU" altLang="ru-RU" sz="3240" dirty="0">
                <a:solidFill>
                  <a:srgbClr val="0070C0"/>
                </a:solidFill>
              </a:rPr>
              <a:t>Пример результата </a:t>
            </a:r>
            <a:r>
              <a:rPr lang="en-US" altLang="ru-RU" sz="3240" dirty="0">
                <a:solidFill>
                  <a:srgbClr val="0070C0"/>
                </a:solidFill>
              </a:rPr>
              <a:t>GET </a:t>
            </a:r>
            <a:r>
              <a:rPr lang="ru-RU" altLang="ru-RU" sz="3240" dirty="0">
                <a:solidFill>
                  <a:srgbClr val="0070C0"/>
                </a:solidFill>
              </a:rPr>
              <a:t>запроса к </a:t>
            </a:r>
            <a:r>
              <a:rPr lang="en-US" altLang="ru-RU" sz="3240" dirty="0">
                <a:solidFill>
                  <a:srgbClr val="0070C0"/>
                </a:solidFill>
              </a:rPr>
              <a:t>/</a:t>
            </a:r>
            <a:r>
              <a:rPr lang="en-US" altLang="ru-RU" sz="3240" dirty="0" err="1">
                <a:solidFill>
                  <a:srgbClr val="0070C0"/>
                </a:solidFill>
              </a:rPr>
              <a:t>api</a:t>
            </a:r>
            <a:r>
              <a:rPr lang="en-US" altLang="ru-RU" sz="3240" dirty="0">
                <a:solidFill>
                  <a:srgbClr val="0070C0"/>
                </a:solidFill>
              </a:rPr>
              <a:t>/v1/flavors</a:t>
            </a:r>
            <a:endParaRPr lang="ru-RU" altLang="ru-RU" sz="3240" dirty="0">
              <a:solidFill>
                <a:srgbClr val="0070C0"/>
              </a:solidFill>
            </a:endParaRPr>
          </a:p>
        </p:txBody>
      </p:sp>
      <p:sp>
        <p:nvSpPr>
          <p:cNvPr id="15363" name="Rectangle 2"/>
          <p:cNvSpPr txBox="1">
            <a:spLocks noChangeArrowheads="1"/>
          </p:cNvSpPr>
          <p:nvPr/>
        </p:nvSpPr>
        <p:spPr bwMode="auto">
          <a:xfrm>
            <a:off x="1106740" y="1646152"/>
            <a:ext cx="10367089" cy="4051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49263">
              <a:lnSpc>
                <a:spcPct val="88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1pPr>
            <a:lvl2pPr defTabSz="449263">
              <a:lnSpc>
                <a:spcPct val="88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2pPr>
            <a:lvl3pPr defTabSz="449263">
              <a:lnSpc>
                <a:spcPct val="88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3pPr>
            <a:lvl4pPr defTabSz="449263">
              <a:lnSpc>
                <a:spcPct val="88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4pPr>
            <a:lvl5pPr defTabSz="449263">
              <a:lnSpc>
                <a:spcPct val="88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1440" dirty="0">
                <a:solidFill>
                  <a:srgbClr val="0070C0"/>
                </a:solidFill>
              </a:rPr>
              <a:t>[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1440" dirty="0">
                <a:solidFill>
                  <a:srgbClr val="0070C0"/>
                </a:solidFill>
              </a:rPr>
              <a:t>  {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1440" dirty="0">
                <a:solidFill>
                  <a:srgbClr val="0070C0"/>
                </a:solidFill>
              </a:rPr>
              <a:t>   "id": 1,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1440" dirty="0">
                <a:solidFill>
                  <a:srgbClr val="0070C0"/>
                </a:solidFill>
              </a:rPr>
              <a:t>    "name": "The Lazy Person's Movie Theater",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1440" dirty="0">
                <a:solidFill>
                  <a:srgbClr val="0070C0"/>
                </a:solidFill>
              </a:rPr>
              <a:t>    "description": "That elusive flavor that you begrudgingly carted yourself to the theater for, now in the comfort of your own home, you slob!"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1440" dirty="0">
                <a:solidFill>
                  <a:srgbClr val="0070C0"/>
                </a:solidFill>
              </a:rPr>
              <a:t>  }, {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1440" dirty="0">
                <a:solidFill>
                  <a:srgbClr val="0070C0"/>
                </a:solidFill>
              </a:rPr>
              <a:t>    "id": 2,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1440" dirty="0">
                <a:solidFill>
                  <a:srgbClr val="0070C0"/>
                </a:solidFill>
              </a:rPr>
              <a:t>    "name": "What's Wrong With You Caramel",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1440" dirty="0">
                <a:solidFill>
                  <a:srgbClr val="0070C0"/>
                </a:solidFill>
              </a:rPr>
              <a:t>    "description": "You're a crazy person that likes sweet popcorn. Congratulations."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1440" dirty="0">
                <a:solidFill>
                  <a:srgbClr val="0070C0"/>
                </a:solidFill>
              </a:rPr>
              <a:t>  }, {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1440" dirty="0">
                <a:solidFill>
                  <a:srgbClr val="0070C0"/>
                </a:solidFill>
              </a:rPr>
              <a:t>    "id": 3,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1440" dirty="0">
                <a:solidFill>
                  <a:srgbClr val="0070C0"/>
                </a:solidFill>
              </a:rPr>
              <a:t>    "name": "Gnarly Chili Lime",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1440" dirty="0">
                <a:solidFill>
                  <a:srgbClr val="0070C0"/>
                </a:solidFill>
              </a:rPr>
              <a:t>    "description": "The kind of popcorn you make when you need a good smack in the face."}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1440" dirty="0">
                <a:solidFill>
                  <a:srgbClr val="0070C0"/>
                </a:solidFill>
              </a:rPr>
              <a:t>]</a:t>
            </a:r>
            <a:endParaRPr lang="ru-RU" altLang="ru-RU" sz="1440" dirty="0">
              <a:solidFill>
                <a:srgbClr val="0070C0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3767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/>
          <p:cNvSpPr>
            <a:spLocks noGrp="1" noChangeArrowheads="1"/>
          </p:cNvSpPr>
          <p:nvPr>
            <p:ph type="title"/>
          </p:nvPr>
        </p:nvSpPr>
        <p:spPr>
          <a:xfrm>
            <a:off x="2056384" y="443301"/>
            <a:ext cx="9223160" cy="1209994"/>
          </a:xfrm>
        </p:spPr>
        <p:txBody>
          <a:bodyPr/>
          <a:lstStyle/>
          <a:p>
            <a:pPr>
              <a:tabLst>
                <a:tab pos="0" algn="l"/>
                <a:tab pos="402853" algn="l"/>
                <a:tab pos="807137" algn="l"/>
                <a:tab pos="1211418" algn="l"/>
                <a:tab pos="1615702" algn="l"/>
                <a:tab pos="2019983" algn="l"/>
                <a:tab pos="2424266" algn="l"/>
                <a:tab pos="2828548" algn="l"/>
                <a:tab pos="3232830" algn="l"/>
                <a:tab pos="3637112" algn="l"/>
                <a:tab pos="4041395" algn="l"/>
                <a:tab pos="4445677" algn="l"/>
                <a:tab pos="4849960" algn="l"/>
                <a:tab pos="5254242" algn="l"/>
                <a:tab pos="5658524" algn="l"/>
                <a:tab pos="6062807" algn="l"/>
                <a:tab pos="6467089" algn="l"/>
                <a:tab pos="6871372" algn="l"/>
                <a:tab pos="7275654" algn="l"/>
                <a:tab pos="7679936" algn="l"/>
                <a:tab pos="8084219" algn="l"/>
              </a:tabLst>
            </a:pPr>
            <a:r>
              <a:rPr lang="en-US" altLang="ru-RU" sz="4320" dirty="0">
                <a:solidFill>
                  <a:srgbClr val="0070C0"/>
                </a:solidFill>
              </a:rPr>
              <a:t>curl</a:t>
            </a:r>
            <a:endParaRPr lang="ru-RU" altLang="ru-RU" sz="4320" dirty="0">
              <a:solidFill>
                <a:srgbClr val="0070C0"/>
              </a:solidFill>
            </a:endParaRPr>
          </a:p>
        </p:txBody>
      </p:sp>
      <p:sp>
        <p:nvSpPr>
          <p:cNvPr id="16387" name="Rectangle 2"/>
          <p:cNvSpPr txBox="1">
            <a:spLocks noChangeArrowheads="1"/>
          </p:cNvSpPr>
          <p:nvPr/>
        </p:nvSpPr>
        <p:spPr bwMode="auto">
          <a:xfrm>
            <a:off x="1106740" y="1646152"/>
            <a:ext cx="10367089" cy="4051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49263">
              <a:lnSpc>
                <a:spcPct val="88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1pPr>
            <a:lvl2pPr defTabSz="449263">
              <a:lnSpc>
                <a:spcPct val="88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2pPr>
            <a:lvl3pPr defTabSz="449263">
              <a:lnSpc>
                <a:spcPct val="88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3pPr>
            <a:lvl4pPr defTabSz="449263">
              <a:lnSpc>
                <a:spcPct val="88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4pPr>
            <a:lvl5pPr defTabSz="449263">
              <a:lnSpc>
                <a:spcPct val="88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2520">
                <a:solidFill>
                  <a:srgbClr val="0070C0"/>
                </a:solidFill>
              </a:rPr>
              <a:t>curl [options] [URL...]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endParaRPr lang="en-US" altLang="ru-RU" sz="252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ru-RU" altLang="ru-RU" sz="2520">
                <a:solidFill>
                  <a:srgbClr val="0070C0"/>
                </a:solidFill>
              </a:rPr>
              <a:t>Вот варианты, которые мы будем использовать при отправке запросов: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endParaRPr lang="ru-RU" altLang="ru-RU" sz="252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ru-RU" altLang="ru-RU" sz="2520">
                <a:solidFill>
                  <a:srgbClr val="0070C0"/>
                </a:solidFill>
              </a:rPr>
              <a:t>-</a:t>
            </a:r>
            <a:r>
              <a:rPr lang="en-US" altLang="ru-RU" sz="2520">
                <a:solidFill>
                  <a:srgbClr val="0070C0"/>
                </a:solidFill>
              </a:rPr>
              <a:t>X, --request - The HTTP method to be used.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2520">
                <a:solidFill>
                  <a:srgbClr val="0070C0"/>
                </a:solidFill>
              </a:rPr>
              <a:t>-i, --include - Include the response headers.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2520">
                <a:solidFill>
                  <a:srgbClr val="0070C0"/>
                </a:solidFill>
              </a:rPr>
              <a:t>-d, --data - The data to be sent.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2520">
                <a:solidFill>
                  <a:srgbClr val="0070C0"/>
                </a:solidFill>
              </a:rPr>
              <a:t>-H, --header - Additional header to be sent</a:t>
            </a:r>
            <a:endParaRPr lang="ru-RU" altLang="ru-RU" sz="2520">
              <a:solidFill>
                <a:srgbClr val="0070C0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2819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/>
          </p:nvPr>
        </p:nvSpPr>
        <p:spPr>
          <a:xfrm>
            <a:off x="2178304" y="443301"/>
            <a:ext cx="9101240" cy="1209994"/>
          </a:xfrm>
        </p:spPr>
        <p:txBody>
          <a:bodyPr/>
          <a:lstStyle/>
          <a:p>
            <a:pPr>
              <a:tabLst>
                <a:tab pos="0" algn="l"/>
                <a:tab pos="402853" algn="l"/>
                <a:tab pos="807137" algn="l"/>
                <a:tab pos="1211418" algn="l"/>
                <a:tab pos="1615702" algn="l"/>
                <a:tab pos="2019983" algn="l"/>
                <a:tab pos="2424266" algn="l"/>
                <a:tab pos="2828548" algn="l"/>
                <a:tab pos="3232830" algn="l"/>
                <a:tab pos="3637112" algn="l"/>
                <a:tab pos="4041395" algn="l"/>
                <a:tab pos="4445677" algn="l"/>
                <a:tab pos="4849960" algn="l"/>
                <a:tab pos="5254242" algn="l"/>
                <a:tab pos="5658524" algn="l"/>
                <a:tab pos="6062807" algn="l"/>
                <a:tab pos="6467089" algn="l"/>
                <a:tab pos="6871372" algn="l"/>
                <a:tab pos="7275654" algn="l"/>
                <a:tab pos="7679936" algn="l"/>
                <a:tab pos="8084219" algn="l"/>
              </a:tabLst>
            </a:pPr>
            <a:r>
              <a:rPr lang="en-US" altLang="ru-RU" sz="3240" dirty="0">
                <a:solidFill>
                  <a:srgbClr val="0070C0"/>
                </a:solidFill>
              </a:rPr>
              <a:t>GET – </a:t>
            </a:r>
            <a:r>
              <a:rPr lang="ru-RU" altLang="ru-RU" sz="3240" dirty="0">
                <a:solidFill>
                  <a:srgbClr val="0070C0"/>
                </a:solidFill>
              </a:rPr>
              <a:t>метод по умолчанию</a:t>
            </a:r>
          </a:p>
        </p:txBody>
      </p:sp>
      <p:sp>
        <p:nvSpPr>
          <p:cNvPr id="20483" name="Rectangle 2"/>
          <p:cNvSpPr txBox="1">
            <a:spLocks noChangeArrowheads="1"/>
          </p:cNvSpPr>
          <p:nvPr/>
        </p:nvSpPr>
        <p:spPr bwMode="auto">
          <a:xfrm>
            <a:off x="1106740" y="1646152"/>
            <a:ext cx="10367089" cy="4051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49263">
              <a:lnSpc>
                <a:spcPct val="88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1pPr>
            <a:lvl2pPr defTabSz="449263">
              <a:lnSpc>
                <a:spcPct val="88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2pPr>
            <a:lvl3pPr defTabSz="449263">
              <a:lnSpc>
                <a:spcPct val="88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3pPr>
            <a:lvl4pPr defTabSz="449263">
              <a:lnSpc>
                <a:spcPct val="88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4pPr>
            <a:lvl5pPr defTabSz="449263">
              <a:lnSpc>
                <a:spcPct val="88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ru-RU" altLang="ru-RU" sz="2520">
                <a:solidFill>
                  <a:srgbClr val="0070C0"/>
                </a:solidFill>
              </a:rPr>
              <a:t>Получить все посты: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endParaRPr lang="ru-RU" altLang="ru-RU" sz="252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ru-RU" altLang="ru-RU" sz="2520">
                <a:solidFill>
                  <a:srgbClr val="0070C0"/>
                </a:solidFill>
              </a:rPr>
              <a:t>curl https://jsonplaceholder.typicode.com/posts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endParaRPr lang="ru-RU" altLang="ru-RU" sz="252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ru-RU" altLang="ru-RU" sz="2520">
                <a:solidFill>
                  <a:srgbClr val="0070C0"/>
                </a:solidFill>
              </a:rPr>
              <a:t>Указать один пост: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endParaRPr lang="ru-RU" altLang="ru-RU" sz="252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ru-RU" altLang="ru-RU" sz="2520">
                <a:solidFill>
                  <a:srgbClr val="0070C0"/>
                </a:solidFill>
              </a:rPr>
              <a:t>curl https://jsonplaceholder.typicode.com/posts?userId=1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2067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 noGrp="1" noChangeArrowheads="1"/>
          </p:cNvSpPr>
          <p:nvPr>
            <p:ph type="title"/>
          </p:nvPr>
        </p:nvSpPr>
        <p:spPr>
          <a:xfrm>
            <a:off x="2292096" y="443301"/>
            <a:ext cx="8987448" cy="1209994"/>
          </a:xfrm>
        </p:spPr>
        <p:txBody>
          <a:bodyPr/>
          <a:lstStyle/>
          <a:p>
            <a:pPr>
              <a:tabLst>
                <a:tab pos="0" algn="l"/>
                <a:tab pos="402853" algn="l"/>
                <a:tab pos="807137" algn="l"/>
                <a:tab pos="1211418" algn="l"/>
                <a:tab pos="1615702" algn="l"/>
                <a:tab pos="2019983" algn="l"/>
                <a:tab pos="2424266" algn="l"/>
                <a:tab pos="2828548" algn="l"/>
                <a:tab pos="3232830" algn="l"/>
                <a:tab pos="3637112" algn="l"/>
                <a:tab pos="4041395" algn="l"/>
                <a:tab pos="4445677" algn="l"/>
                <a:tab pos="4849960" algn="l"/>
                <a:tab pos="5254242" algn="l"/>
                <a:tab pos="5658524" algn="l"/>
                <a:tab pos="6062807" algn="l"/>
                <a:tab pos="6467089" algn="l"/>
                <a:tab pos="6871372" algn="l"/>
                <a:tab pos="7275654" algn="l"/>
                <a:tab pos="7679936" algn="l"/>
                <a:tab pos="8084219" algn="l"/>
              </a:tabLst>
            </a:pPr>
            <a:r>
              <a:rPr lang="en-US" altLang="ru-RU" sz="3240" dirty="0">
                <a:solidFill>
                  <a:srgbClr val="0070C0"/>
                </a:solidFill>
              </a:rPr>
              <a:t>POST</a:t>
            </a:r>
            <a:endParaRPr lang="ru-RU" altLang="ru-RU" sz="3240" dirty="0">
              <a:solidFill>
                <a:srgbClr val="0070C0"/>
              </a:solidFill>
            </a:endParaRPr>
          </a:p>
        </p:txBody>
      </p:sp>
      <p:sp>
        <p:nvSpPr>
          <p:cNvPr id="22531" name="Rectangle 2"/>
          <p:cNvSpPr txBox="1">
            <a:spLocks noChangeArrowheads="1"/>
          </p:cNvSpPr>
          <p:nvPr/>
        </p:nvSpPr>
        <p:spPr bwMode="auto">
          <a:xfrm>
            <a:off x="1106740" y="1646152"/>
            <a:ext cx="10367089" cy="4051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49263">
              <a:lnSpc>
                <a:spcPct val="88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1pPr>
            <a:lvl2pPr defTabSz="449263">
              <a:lnSpc>
                <a:spcPct val="88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2pPr>
            <a:lvl3pPr defTabSz="449263">
              <a:lnSpc>
                <a:spcPct val="88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3pPr>
            <a:lvl4pPr defTabSz="449263">
              <a:lnSpc>
                <a:spcPct val="88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4pPr>
            <a:lvl5pPr defTabSz="449263">
              <a:lnSpc>
                <a:spcPct val="88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ru-RU" altLang="ru-RU" sz="2520">
                <a:solidFill>
                  <a:srgbClr val="0070C0"/>
                </a:solidFill>
              </a:rPr>
              <a:t>Следующая команда выполняет запрос POST, используя данные, указанные с помощью параметра –d</a:t>
            </a:r>
            <a:endParaRPr lang="en-US" altLang="ru-RU" sz="252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endParaRPr lang="en-US" altLang="ru-RU" sz="252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2520">
                <a:solidFill>
                  <a:srgbClr val="0070C0"/>
                </a:solidFill>
              </a:rPr>
              <a:t>curl -X POST -d "userId=5&amp;title=Hello World&amp;body=Post body." https://jsonplaceholder.typicode.com/posts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endParaRPr lang="ru-RU" altLang="ru-RU" sz="252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ru-RU" altLang="ru-RU" sz="2520">
                <a:solidFill>
                  <a:srgbClr val="0070C0"/>
                </a:solidFill>
              </a:rPr>
              <a:t>Отправка данных в формате JSON задайте тип тела в application/json:</a:t>
            </a:r>
            <a:endParaRPr lang="en-US" altLang="ru-RU" sz="252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2520">
                <a:solidFill>
                  <a:srgbClr val="0070C0"/>
                </a:solidFill>
              </a:rPr>
              <a:t>curl -X POST -H "Content-Type: application/json" \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2520">
                <a:solidFill>
                  <a:srgbClr val="0070C0"/>
                </a:solidFill>
              </a:rPr>
              <a:t>    -d '{"userId": 5, "title": "Hello World", "body": "Post body."}' \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2520">
                <a:solidFill>
                  <a:srgbClr val="0070C0"/>
                </a:solidFill>
              </a:rPr>
              <a:t>    https://jsonplaceholder.typicode.com/posts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endParaRPr lang="en-US" altLang="ru-RU" sz="252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endParaRPr lang="ru-RU" altLang="ru-RU" sz="2520">
              <a:solidFill>
                <a:srgbClr val="0070C0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0903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ChangeArrowheads="1"/>
          </p:cNvSpPr>
          <p:nvPr>
            <p:ph type="title"/>
          </p:nvPr>
        </p:nvSpPr>
        <p:spPr>
          <a:xfrm>
            <a:off x="2170176" y="443301"/>
            <a:ext cx="9109368" cy="1209994"/>
          </a:xfrm>
        </p:spPr>
        <p:txBody>
          <a:bodyPr/>
          <a:lstStyle/>
          <a:p>
            <a:pPr>
              <a:tabLst>
                <a:tab pos="0" algn="l"/>
                <a:tab pos="402853" algn="l"/>
                <a:tab pos="807137" algn="l"/>
                <a:tab pos="1211418" algn="l"/>
                <a:tab pos="1615702" algn="l"/>
                <a:tab pos="2019983" algn="l"/>
                <a:tab pos="2424266" algn="l"/>
                <a:tab pos="2828548" algn="l"/>
                <a:tab pos="3232830" algn="l"/>
                <a:tab pos="3637112" algn="l"/>
                <a:tab pos="4041395" algn="l"/>
                <a:tab pos="4445677" algn="l"/>
                <a:tab pos="4849960" algn="l"/>
                <a:tab pos="5254242" algn="l"/>
                <a:tab pos="5658524" algn="l"/>
                <a:tab pos="6062807" algn="l"/>
                <a:tab pos="6467089" algn="l"/>
                <a:tab pos="6871372" algn="l"/>
                <a:tab pos="7275654" algn="l"/>
                <a:tab pos="7679936" algn="l"/>
                <a:tab pos="8084219" algn="l"/>
              </a:tabLst>
            </a:pPr>
            <a:r>
              <a:rPr lang="en-US" altLang="ru-RU" sz="3240" dirty="0">
                <a:solidFill>
                  <a:srgbClr val="0070C0"/>
                </a:solidFill>
              </a:rPr>
              <a:t>PUT</a:t>
            </a:r>
            <a:endParaRPr lang="ru-RU" altLang="ru-RU" sz="3240" dirty="0">
              <a:solidFill>
                <a:srgbClr val="0070C0"/>
              </a:solidFill>
            </a:endParaRPr>
          </a:p>
        </p:txBody>
      </p:sp>
      <p:sp>
        <p:nvSpPr>
          <p:cNvPr id="24579" name="Rectangle 2"/>
          <p:cNvSpPr txBox="1">
            <a:spLocks noChangeArrowheads="1"/>
          </p:cNvSpPr>
          <p:nvPr/>
        </p:nvSpPr>
        <p:spPr bwMode="auto">
          <a:xfrm>
            <a:off x="1106740" y="1646152"/>
            <a:ext cx="10367089" cy="4051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49263">
              <a:lnSpc>
                <a:spcPct val="88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1pPr>
            <a:lvl2pPr defTabSz="449263">
              <a:lnSpc>
                <a:spcPct val="88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2pPr>
            <a:lvl3pPr defTabSz="449263">
              <a:lnSpc>
                <a:spcPct val="88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3pPr>
            <a:lvl4pPr defTabSz="449263">
              <a:lnSpc>
                <a:spcPct val="88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4pPr>
            <a:lvl5pPr defTabSz="449263">
              <a:lnSpc>
                <a:spcPct val="88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ru-RU" altLang="ru-RU" sz="2520">
                <a:solidFill>
                  <a:srgbClr val="0070C0"/>
                </a:solidFill>
              </a:rPr>
              <a:t>Метод PUT используется для обновления или замены ресурса на сервере. Он заменяет все данные указанного ресурса данными запроса.</a:t>
            </a:r>
            <a:endParaRPr lang="en-US" altLang="ru-RU" sz="252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endParaRPr lang="en-US" altLang="ru-RU" sz="252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2520">
                <a:solidFill>
                  <a:srgbClr val="0070C0"/>
                </a:solidFill>
              </a:rPr>
              <a:t>curl -X PUT -d "userId=5&amp;title=Hello World&amp;body=Post body." https://jsonplaceholder.typicode.com/posts/5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endParaRPr lang="ru-RU" altLang="ru-RU" sz="2520">
              <a:solidFill>
                <a:srgbClr val="0070C0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7224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 noGrp="1" noChangeArrowheads="1"/>
          </p:cNvSpPr>
          <p:nvPr>
            <p:ph type="title"/>
          </p:nvPr>
        </p:nvSpPr>
        <p:spPr>
          <a:xfrm>
            <a:off x="2186433" y="443301"/>
            <a:ext cx="9093112" cy="1209994"/>
          </a:xfrm>
        </p:spPr>
        <p:txBody>
          <a:bodyPr/>
          <a:lstStyle/>
          <a:p>
            <a:pPr>
              <a:tabLst>
                <a:tab pos="0" algn="l"/>
                <a:tab pos="402853" algn="l"/>
                <a:tab pos="807137" algn="l"/>
                <a:tab pos="1211418" algn="l"/>
                <a:tab pos="1615702" algn="l"/>
                <a:tab pos="2019983" algn="l"/>
                <a:tab pos="2424266" algn="l"/>
                <a:tab pos="2828548" algn="l"/>
                <a:tab pos="3232830" algn="l"/>
                <a:tab pos="3637112" algn="l"/>
                <a:tab pos="4041395" algn="l"/>
                <a:tab pos="4445677" algn="l"/>
                <a:tab pos="4849960" algn="l"/>
                <a:tab pos="5254242" algn="l"/>
                <a:tab pos="5658524" algn="l"/>
                <a:tab pos="6062807" algn="l"/>
                <a:tab pos="6467089" algn="l"/>
                <a:tab pos="6871372" algn="l"/>
                <a:tab pos="7275654" algn="l"/>
                <a:tab pos="7679936" algn="l"/>
                <a:tab pos="8084219" algn="l"/>
              </a:tabLst>
            </a:pPr>
            <a:r>
              <a:rPr lang="en-US" altLang="ru-RU" sz="4320" dirty="0">
                <a:solidFill>
                  <a:srgbClr val="0070C0"/>
                </a:solidFill>
              </a:rPr>
              <a:t>Install</a:t>
            </a:r>
            <a:r>
              <a:rPr lang="ru-RU" altLang="ru-RU" sz="4320" dirty="0">
                <a:solidFill>
                  <a:srgbClr val="0070C0"/>
                </a:solidFill>
              </a:rPr>
              <a:t> </a:t>
            </a:r>
            <a:r>
              <a:rPr lang="en-US" altLang="ru-RU" sz="4320" dirty="0" err="1">
                <a:solidFill>
                  <a:srgbClr val="0070C0"/>
                </a:solidFill>
              </a:rPr>
              <a:t>FastAPI</a:t>
            </a:r>
            <a:endParaRPr lang="ru-RU" altLang="ru-RU" sz="4320" dirty="0">
              <a:solidFill>
                <a:srgbClr val="0070C0"/>
              </a:solidFill>
            </a:endParaRPr>
          </a:p>
        </p:txBody>
      </p:sp>
      <p:sp>
        <p:nvSpPr>
          <p:cNvPr id="30723" name="Rectangle 2"/>
          <p:cNvSpPr txBox="1">
            <a:spLocks noChangeArrowheads="1"/>
          </p:cNvSpPr>
          <p:nvPr/>
        </p:nvSpPr>
        <p:spPr bwMode="auto">
          <a:xfrm>
            <a:off x="1082455" y="1653296"/>
            <a:ext cx="10367088" cy="4051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49263">
              <a:lnSpc>
                <a:spcPct val="88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1pPr>
            <a:lvl2pPr defTabSz="449263">
              <a:lnSpc>
                <a:spcPct val="88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2pPr>
            <a:lvl3pPr defTabSz="449263">
              <a:lnSpc>
                <a:spcPct val="88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3pPr>
            <a:lvl4pPr defTabSz="449263">
              <a:lnSpc>
                <a:spcPct val="88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4pPr>
            <a:lvl5pPr defTabSz="449263">
              <a:lnSpc>
                <a:spcPct val="88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ru-RU" altLang="ru-RU" sz="3360" dirty="0">
                <a:solidFill>
                  <a:srgbClr val="0070C0"/>
                </a:solidFill>
              </a:rPr>
              <a:t>Установка (если проект </a:t>
            </a:r>
            <a:r>
              <a:rPr lang="ru-RU" altLang="ru-RU" sz="3360" dirty="0" err="1">
                <a:solidFill>
                  <a:srgbClr val="0070C0"/>
                </a:solidFill>
              </a:rPr>
              <a:t>предыщий</a:t>
            </a:r>
            <a:r>
              <a:rPr lang="ru-RU" altLang="ru-RU" sz="3360" dirty="0">
                <a:solidFill>
                  <a:srgbClr val="0070C0"/>
                </a:solidFill>
              </a:rPr>
              <a:t>, то не надо)</a:t>
            </a:r>
            <a:r>
              <a:rPr lang="en-US" altLang="ru-RU" sz="3360" dirty="0">
                <a:solidFill>
                  <a:srgbClr val="0070C0"/>
                </a:solidFill>
              </a:rPr>
              <a:t>:</a:t>
            </a:r>
            <a:endParaRPr lang="ru-RU" altLang="ru-RU" sz="3360" dirty="0">
              <a:solidFill>
                <a:srgbClr val="0070C0"/>
              </a:solidFill>
            </a:endParaRPr>
          </a:p>
          <a:p>
            <a:pPr indent="-334942">
              <a:tabLst>
                <a:tab pos="342878" algn="l"/>
                <a:tab pos="455583" algn="l"/>
                <a:tab pos="912753" algn="l"/>
                <a:tab pos="1369924" algn="l"/>
                <a:tab pos="1827094" algn="l"/>
                <a:tab pos="2284264" algn="l"/>
                <a:tab pos="2741434" algn="l"/>
                <a:tab pos="3198605" algn="l"/>
                <a:tab pos="3655775" algn="l"/>
                <a:tab pos="4112945" algn="l"/>
                <a:tab pos="4570116" algn="l"/>
                <a:tab pos="5027286" algn="l"/>
                <a:tab pos="5484458" algn="l"/>
                <a:tab pos="5941626" algn="l"/>
                <a:tab pos="6398797" algn="l"/>
                <a:tab pos="6855967" algn="l"/>
                <a:tab pos="7313139" algn="l"/>
                <a:tab pos="7770307" algn="l"/>
                <a:tab pos="8227478" algn="l"/>
                <a:tab pos="8684648" algn="l"/>
                <a:tab pos="9141819" algn="l"/>
              </a:tabLst>
            </a:pPr>
            <a:r>
              <a:rPr lang="en-US" altLang="ru-RU" sz="3600" dirty="0"/>
              <a:t>python -m </a:t>
            </a:r>
            <a:r>
              <a:rPr lang="en-US" altLang="ru-RU" sz="3600" dirty="0" err="1"/>
              <a:t>venv</a:t>
            </a:r>
            <a:r>
              <a:rPr lang="en-US" altLang="ru-RU" sz="3600" dirty="0"/>
              <a:t> </a:t>
            </a:r>
            <a:r>
              <a:rPr lang="en-US" altLang="ru-RU" sz="3600" dirty="0" err="1"/>
              <a:t>venv</a:t>
            </a:r>
            <a:r>
              <a:rPr lang="ru-RU" altLang="ru-RU" sz="3600" dirty="0"/>
              <a:t> </a:t>
            </a:r>
            <a:endParaRPr lang="en-US" altLang="ru-RU" sz="3600" dirty="0"/>
          </a:p>
          <a:p>
            <a:pPr indent="-334942">
              <a:tabLst>
                <a:tab pos="342878" algn="l"/>
                <a:tab pos="455583" algn="l"/>
                <a:tab pos="912753" algn="l"/>
                <a:tab pos="1369924" algn="l"/>
                <a:tab pos="1827094" algn="l"/>
                <a:tab pos="2284264" algn="l"/>
                <a:tab pos="2741434" algn="l"/>
                <a:tab pos="3198605" algn="l"/>
                <a:tab pos="3655775" algn="l"/>
                <a:tab pos="4112945" algn="l"/>
                <a:tab pos="4570116" algn="l"/>
                <a:tab pos="5027286" algn="l"/>
                <a:tab pos="5484458" algn="l"/>
                <a:tab pos="5941626" algn="l"/>
                <a:tab pos="6398797" algn="l"/>
                <a:tab pos="6855967" algn="l"/>
                <a:tab pos="7313139" algn="l"/>
                <a:tab pos="7770307" algn="l"/>
                <a:tab pos="8227478" algn="l"/>
                <a:tab pos="8684648" algn="l"/>
                <a:tab pos="9141819" algn="l"/>
              </a:tabLst>
            </a:pPr>
            <a:r>
              <a:rPr lang="ru-RU" altLang="ru-RU" sz="3600" dirty="0"/>
              <a:t>Для </a:t>
            </a:r>
            <a:r>
              <a:rPr lang="en-US" altLang="ru-RU" sz="3600" dirty="0"/>
              <a:t>Windows</a:t>
            </a:r>
          </a:p>
          <a:p>
            <a:pPr indent="-334942">
              <a:tabLst>
                <a:tab pos="342878" algn="l"/>
                <a:tab pos="455583" algn="l"/>
                <a:tab pos="912753" algn="l"/>
                <a:tab pos="1369924" algn="l"/>
                <a:tab pos="1827094" algn="l"/>
                <a:tab pos="2284264" algn="l"/>
                <a:tab pos="2741434" algn="l"/>
                <a:tab pos="3198605" algn="l"/>
                <a:tab pos="3655775" algn="l"/>
                <a:tab pos="4112945" algn="l"/>
                <a:tab pos="4570116" algn="l"/>
                <a:tab pos="5027286" algn="l"/>
                <a:tab pos="5484458" algn="l"/>
                <a:tab pos="5941626" algn="l"/>
                <a:tab pos="6398797" algn="l"/>
                <a:tab pos="6855967" algn="l"/>
                <a:tab pos="7313139" algn="l"/>
                <a:tab pos="7770307" algn="l"/>
                <a:tab pos="8227478" algn="l"/>
                <a:tab pos="8684648" algn="l"/>
                <a:tab pos="9141819" algn="l"/>
              </a:tabLst>
            </a:pPr>
            <a:r>
              <a:rPr lang="en-US" altLang="ru-RU" sz="3600" dirty="0"/>
              <a:t>.\</a:t>
            </a:r>
            <a:r>
              <a:rPr lang="en-US" altLang="ru-RU" sz="3600" dirty="0" err="1"/>
              <a:t>venv</a:t>
            </a:r>
            <a:r>
              <a:rPr lang="en-US" altLang="ru-RU" sz="3600" dirty="0"/>
              <a:t>\Scripts\activate.bat</a:t>
            </a:r>
          </a:p>
          <a:p>
            <a:pPr indent="-334942">
              <a:tabLst>
                <a:tab pos="342878" algn="l"/>
                <a:tab pos="455583" algn="l"/>
                <a:tab pos="912753" algn="l"/>
                <a:tab pos="1369924" algn="l"/>
                <a:tab pos="1827094" algn="l"/>
                <a:tab pos="2284264" algn="l"/>
                <a:tab pos="2741434" algn="l"/>
                <a:tab pos="3198605" algn="l"/>
                <a:tab pos="3655775" algn="l"/>
                <a:tab pos="4112945" algn="l"/>
                <a:tab pos="4570116" algn="l"/>
                <a:tab pos="5027286" algn="l"/>
                <a:tab pos="5484458" algn="l"/>
                <a:tab pos="5941626" algn="l"/>
                <a:tab pos="6398797" algn="l"/>
                <a:tab pos="6855967" algn="l"/>
                <a:tab pos="7313139" algn="l"/>
                <a:tab pos="7770307" algn="l"/>
                <a:tab pos="8227478" algn="l"/>
                <a:tab pos="8684648" algn="l"/>
                <a:tab pos="9141819" algn="l"/>
              </a:tabLst>
            </a:pPr>
            <a:r>
              <a:rPr lang="ru-RU" altLang="ru-RU" sz="3600" dirty="0"/>
              <a:t>Для </a:t>
            </a:r>
            <a:r>
              <a:rPr lang="en-US" altLang="ru-RU" sz="3600" dirty="0"/>
              <a:t>Linux</a:t>
            </a:r>
          </a:p>
          <a:p>
            <a:pPr indent="-334942">
              <a:tabLst>
                <a:tab pos="342878" algn="l"/>
                <a:tab pos="455583" algn="l"/>
                <a:tab pos="912753" algn="l"/>
                <a:tab pos="1369924" algn="l"/>
                <a:tab pos="1827094" algn="l"/>
                <a:tab pos="2284264" algn="l"/>
                <a:tab pos="2741434" algn="l"/>
                <a:tab pos="3198605" algn="l"/>
                <a:tab pos="3655775" algn="l"/>
                <a:tab pos="4112945" algn="l"/>
                <a:tab pos="4570116" algn="l"/>
                <a:tab pos="5027286" algn="l"/>
                <a:tab pos="5484458" algn="l"/>
                <a:tab pos="5941626" algn="l"/>
                <a:tab pos="6398797" algn="l"/>
                <a:tab pos="6855967" algn="l"/>
                <a:tab pos="7313139" algn="l"/>
                <a:tab pos="7770307" algn="l"/>
                <a:tab pos="8227478" algn="l"/>
                <a:tab pos="8684648" algn="l"/>
                <a:tab pos="9141819" algn="l"/>
              </a:tabLst>
            </a:pPr>
            <a:r>
              <a:rPr lang="en-US" altLang="ru-RU" sz="3600" dirty="0"/>
              <a:t>source </a:t>
            </a:r>
            <a:r>
              <a:rPr lang="en-US" altLang="ru-RU" sz="3600" dirty="0" err="1"/>
              <a:t>venv</a:t>
            </a:r>
            <a:r>
              <a:rPr lang="en-US" altLang="ru-RU" sz="3600" dirty="0"/>
              <a:t>/bin/activate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sv-SE" altLang="ru-RU" sz="3360" dirty="0">
                <a:solidFill>
                  <a:srgbClr val="0070C0"/>
                </a:solidFill>
              </a:rPr>
              <a:t>$ pip install fastapi uvicorn pydantic requests</a:t>
            </a:r>
            <a:endParaRPr lang="ru-RU" altLang="ru-RU" sz="336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8535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Номер слайда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ts val="72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02907" algn="l"/>
                <a:tab pos="807245" algn="l"/>
                <a:tab pos="1211580" algn="l"/>
                <a:tab pos="1615916" algn="l"/>
                <a:tab pos="2020253" algn="l"/>
                <a:tab pos="2424589" algn="l"/>
                <a:tab pos="2828926" algn="l"/>
                <a:tab pos="3233262" algn="l"/>
                <a:tab pos="3637597" algn="l"/>
                <a:tab pos="4041935" algn="l"/>
                <a:tab pos="4446270" algn="l"/>
                <a:tab pos="4850606" algn="l"/>
                <a:tab pos="5254943" algn="l"/>
                <a:tab pos="5659279" algn="l"/>
                <a:tab pos="6063616" algn="l"/>
                <a:tab pos="6467952" algn="l"/>
                <a:tab pos="6872287" algn="l"/>
                <a:tab pos="7276625" algn="l"/>
                <a:tab pos="7680960" algn="l"/>
                <a:tab pos="8085296" algn="l"/>
              </a:tabLst>
              <a:defRPr sz="288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63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02907" algn="l"/>
                <a:tab pos="807245" algn="l"/>
                <a:tab pos="1211580" algn="l"/>
                <a:tab pos="1615916" algn="l"/>
                <a:tab pos="2020253" algn="l"/>
                <a:tab pos="2424589" algn="l"/>
                <a:tab pos="2828926" algn="l"/>
                <a:tab pos="3233262" algn="l"/>
                <a:tab pos="3637597" algn="l"/>
                <a:tab pos="4041935" algn="l"/>
                <a:tab pos="4446270" algn="l"/>
                <a:tab pos="4850606" algn="l"/>
                <a:tab pos="5254943" algn="l"/>
                <a:tab pos="5659279" algn="l"/>
                <a:tab pos="6063616" algn="l"/>
                <a:tab pos="6467952" algn="l"/>
                <a:tab pos="6872287" algn="l"/>
                <a:tab pos="7276625" algn="l"/>
                <a:tab pos="7680960" algn="l"/>
                <a:tab pos="8085296" algn="l"/>
              </a:tabLst>
              <a:defRPr sz="252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54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02907" algn="l"/>
                <a:tab pos="807245" algn="l"/>
                <a:tab pos="1211580" algn="l"/>
                <a:tab pos="1615916" algn="l"/>
                <a:tab pos="2020253" algn="l"/>
                <a:tab pos="2424589" algn="l"/>
                <a:tab pos="2828926" algn="l"/>
                <a:tab pos="3233262" algn="l"/>
                <a:tab pos="3637597" algn="l"/>
                <a:tab pos="4041935" algn="l"/>
                <a:tab pos="4446270" algn="l"/>
                <a:tab pos="4850606" algn="l"/>
                <a:tab pos="5254943" algn="l"/>
                <a:tab pos="5659279" algn="l"/>
                <a:tab pos="6063616" algn="l"/>
                <a:tab pos="6467952" algn="l"/>
                <a:tab pos="6872287" algn="l"/>
                <a:tab pos="7276625" algn="l"/>
                <a:tab pos="7680960" algn="l"/>
                <a:tab pos="8085296" algn="l"/>
              </a:tabLst>
              <a:defRPr sz="216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02907" algn="l"/>
                <a:tab pos="807245" algn="l"/>
                <a:tab pos="1211580" algn="l"/>
                <a:tab pos="1615916" algn="l"/>
                <a:tab pos="2020253" algn="l"/>
                <a:tab pos="2424589" algn="l"/>
                <a:tab pos="2828926" algn="l"/>
                <a:tab pos="3233262" algn="l"/>
                <a:tab pos="3637597" algn="l"/>
                <a:tab pos="4041935" algn="l"/>
                <a:tab pos="4446270" algn="l"/>
                <a:tab pos="4850606" algn="l"/>
                <a:tab pos="5254943" algn="l"/>
                <a:tab pos="5659279" algn="l"/>
                <a:tab pos="6063616" algn="l"/>
                <a:tab pos="6467952" algn="l"/>
                <a:tab pos="6872287" algn="l"/>
                <a:tab pos="7276625" algn="l"/>
                <a:tab pos="7680960" algn="l"/>
                <a:tab pos="8085296" algn="l"/>
              </a:tabLst>
              <a:defRPr sz="18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02907" algn="l"/>
                <a:tab pos="807245" algn="l"/>
                <a:tab pos="1211580" algn="l"/>
                <a:tab pos="1615916" algn="l"/>
                <a:tab pos="2020253" algn="l"/>
                <a:tab pos="2424589" algn="l"/>
                <a:tab pos="2828926" algn="l"/>
                <a:tab pos="3233262" algn="l"/>
                <a:tab pos="3637597" algn="l"/>
                <a:tab pos="4041935" algn="l"/>
                <a:tab pos="4446270" algn="l"/>
                <a:tab pos="4850606" algn="l"/>
                <a:tab pos="5254943" algn="l"/>
                <a:tab pos="5659279" algn="l"/>
                <a:tab pos="6063616" algn="l"/>
                <a:tab pos="6467952" algn="l"/>
                <a:tab pos="6872287" algn="l"/>
                <a:tab pos="7276625" algn="l"/>
                <a:tab pos="7680960" algn="l"/>
                <a:tab pos="8085296" algn="l"/>
              </a:tabLst>
              <a:defRPr sz="18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263140" indent="-205740" defTabSz="404336" eaLnBrk="0" fontAlgn="base" hangingPunct="0"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02907" algn="l"/>
                <a:tab pos="807245" algn="l"/>
                <a:tab pos="1211580" algn="l"/>
                <a:tab pos="1615916" algn="l"/>
                <a:tab pos="2020253" algn="l"/>
                <a:tab pos="2424589" algn="l"/>
                <a:tab pos="2828926" algn="l"/>
                <a:tab pos="3233262" algn="l"/>
                <a:tab pos="3637597" algn="l"/>
                <a:tab pos="4041935" algn="l"/>
                <a:tab pos="4446270" algn="l"/>
                <a:tab pos="4850606" algn="l"/>
                <a:tab pos="5254943" algn="l"/>
                <a:tab pos="5659279" algn="l"/>
                <a:tab pos="6063616" algn="l"/>
                <a:tab pos="6467952" algn="l"/>
                <a:tab pos="6872287" algn="l"/>
                <a:tab pos="7276625" algn="l"/>
                <a:tab pos="7680960" algn="l"/>
                <a:tab pos="8085296" algn="l"/>
              </a:tabLst>
              <a:defRPr sz="18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674620" indent="-205740" defTabSz="404336" eaLnBrk="0" fontAlgn="base" hangingPunct="0"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02907" algn="l"/>
                <a:tab pos="807245" algn="l"/>
                <a:tab pos="1211580" algn="l"/>
                <a:tab pos="1615916" algn="l"/>
                <a:tab pos="2020253" algn="l"/>
                <a:tab pos="2424589" algn="l"/>
                <a:tab pos="2828926" algn="l"/>
                <a:tab pos="3233262" algn="l"/>
                <a:tab pos="3637597" algn="l"/>
                <a:tab pos="4041935" algn="l"/>
                <a:tab pos="4446270" algn="l"/>
                <a:tab pos="4850606" algn="l"/>
                <a:tab pos="5254943" algn="l"/>
                <a:tab pos="5659279" algn="l"/>
                <a:tab pos="6063616" algn="l"/>
                <a:tab pos="6467952" algn="l"/>
                <a:tab pos="6872287" algn="l"/>
                <a:tab pos="7276625" algn="l"/>
                <a:tab pos="7680960" algn="l"/>
                <a:tab pos="8085296" algn="l"/>
              </a:tabLst>
              <a:defRPr sz="18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086100" indent="-205740" defTabSz="404336" eaLnBrk="0" fontAlgn="base" hangingPunct="0"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02907" algn="l"/>
                <a:tab pos="807245" algn="l"/>
                <a:tab pos="1211580" algn="l"/>
                <a:tab pos="1615916" algn="l"/>
                <a:tab pos="2020253" algn="l"/>
                <a:tab pos="2424589" algn="l"/>
                <a:tab pos="2828926" algn="l"/>
                <a:tab pos="3233262" algn="l"/>
                <a:tab pos="3637597" algn="l"/>
                <a:tab pos="4041935" algn="l"/>
                <a:tab pos="4446270" algn="l"/>
                <a:tab pos="4850606" algn="l"/>
                <a:tab pos="5254943" algn="l"/>
                <a:tab pos="5659279" algn="l"/>
                <a:tab pos="6063616" algn="l"/>
                <a:tab pos="6467952" algn="l"/>
                <a:tab pos="6872287" algn="l"/>
                <a:tab pos="7276625" algn="l"/>
                <a:tab pos="7680960" algn="l"/>
                <a:tab pos="8085296" algn="l"/>
              </a:tabLst>
              <a:defRPr sz="18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497580" indent="-205740" defTabSz="404336" eaLnBrk="0" fontAlgn="base" hangingPunct="0"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02907" algn="l"/>
                <a:tab pos="807245" algn="l"/>
                <a:tab pos="1211580" algn="l"/>
                <a:tab pos="1615916" algn="l"/>
                <a:tab pos="2020253" algn="l"/>
                <a:tab pos="2424589" algn="l"/>
                <a:tab pos="2828926" algn="l"/>
                <a:tab pos="3233262" algn="l"/>
                <a:tab pos="3637597" algn="l"/>
                <a:tab pos="4041935" algn="l"/>
                <a:tab pos="4446270" algn="l"/>
                <a:tab pos="4850606" algn="l"/>
                <a:tab pos="5254943" algn="l"/>
                <a:tab pos="5659279" algn="l"/>
                <a:tab pos="6063616" algn="l"/>
                <a:tab pos="6467952" algn="l"/>
                <a:tab pos="6872287" algn="l"/>
                <a:tab pos="7276625" algn="l"/>
                <a:tab pos="7680960" algn="l"/>
                <a:tab pos="8085296" algn="l"/>
              </a:tabLst>
              <a:defRPr sz="18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1C0DF0A-7306-458A-BA38-15D23C982E01}" type="slidenum">
              <a:rPr lang="ru-RU" altLang="ru-RU" sz="1620"/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ru-RU" altLang="ru-RU" sz="1620"/>
          </a:p>
        </p:txBody>
      </p:sp>
      <p:sp>
        <p:nvSpPr>
          <p:cNvPr id="7171" name="Rectangle 1"/>
          <p:cNvSpPr>
            <a:spLocks noGrp="1" noChangeArrowheads="1"/>
          </p:cNvSpPr>
          <p:nvPr>
            <p:ph type="title"/>
          </p:nvPr>
        </p:nvSpPr>
        <p:spPr>
          <a:xfrm>
            <a:off x="2142651" y="500065"/>
            <a:ext cx="7938136" cy="802957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tabLst>
                <a:tab pos="0" algn="l"/>
                <a:tab pos="402907" algn="l"/>
                <a:tab pos="807245" algn="l"/>
                <a:tab pos="1211580" algn="l"/>
                <a:tab pos="1615916" algn="l"/>
                <a:tab pos="2020253" algn="l"/>
                <a:tab pos="2424589" algn="l"/>
                <a:tab pos="2828926" algn="l"/>
                <a:tab pos="3233262" algn="l"/>
                <a:tab pos="3637597" algn="l"/>
                <a:tab pos="4041935" algn="l"/>
                <a:tab pos="4446270" algn="l"/>
                <a:tab pos="4850606" algn="l"/>
                <a:tab pos="5254943" algn="l"/>
                <a:tab pos="5659279" algn="l"/>
                <a:tab pos="6063616" algn="l"/>
                <a:tab pos="6467952" algn="l"/>
                <a:tab pos="6872287" algn="l"/>
                <a:tab pos="7276625" algn="l"/>
                <a:tab pos="7680960" algn="l"/>
                <a:tab pos="8085296" algn="l"/>
              </a:tabLst>
            </a:pPr>
            <a:r>
              <a:rPr lang="ru-RU" altLang="ru-RU" sz="3240"/>
              <a:t>  </a:t>
            </a:r>
          </a:p>
        </p:txBody>
      </p:sp>
      <p:sp>
        <p:nvSpPr>
          <p:cNvPr id="7173" name="Text Box 3"/>
          <p:cNvSpPr txBox="1">
            <a:spLocks noChangeArrowheads="1"/>
          </p:cNvSpPr>
          <p:nvPr/>
        </p:nvSpPr>
        <p:spPr bwMode="auto">
          <a:xfrm>
            <a:off x="2629855" y="3420428"/>
            <a:ext cx="3563303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 sz="1350"/>
          </a:p>
        </p:txBody>
      </p:sp>
      <p:sp>
        <p:nvSpPr>
          <p:cNvPr id="7174" name="Rectangle 1"/>
          <p:cNvSpPr txBox="1">
            <a:spLocks noChangeArrowheads="1"/>
          </p:cNvSpPr>
          <p:nvPr/>
        </p:nvSpPr>
        <p:spPr bwMode="auto">
          <a:xfrm>
            <a:off x="2142651" y="552108"/>
            <a:ext cx="8075294" cy="802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lang="en-US" altLang="ru-RU" sz="3840" dirty="0" err="1">
                <a:solidFill>
                  <a:srgbClr val="0070C0"/>
                </a:solidFill>
              </a:rPr>
              <a:t>FastAPI</a:t>
            </a:r>
            <a:r>
              <a:rPr lang="en-US" altLang="ru-RU" sz="3840" dirty="0">
                <a:solidFill>
                  <a:srgbClr val="0070C0"/>
                </a:solidFill>
              </a:rPr>
              <a:t> rest server example</a:t>
            </a:r>
            <a:endParaRPr lang="ru-RU" altLang="ru-RU" sz="3840" dirty="0">
              <a:solidFill>
                <a:srgbClr val="0070C0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713051" y="6017430"/>
            <a:ext cx="12529392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60" dirty="0"/>
              <a:t>https://towardsdatascience.com/python-concurrency-threading-and-the-gil-db940596e325</a:t>
            </a:r>
            <a:endParaRPr lang="ru-RU" sz="216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11424" y="1614399"/>
            <a:ext cx="10109923" cy="40811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80" dirty="0">
                <a:solidFill>
                  <a:srgbClr val="0070C0"/>
                </a:solidFill>
              </a:rPr>
              <a:t>from </a:t>
            </a:r>
            <a:r>
              <a:rPr lang="en-US" sz="2880" dirty="0" err="1">
                <a:solidFill>
                  <a:srgbClr val="0070C0"/>
                </a:solidFill>
              </a:rPr>
              <a:t>fastapi</a:t>
            </a:r>
            <a:r>
              <a:rPr lang="en-US" sz="2880" dirty="0">
                <a:solidFill>
                  <a:srgbClr val="0070C0"/>
                </a:solidFill>
              </a:rPr>
              <a:t> import </a:t>
            </a:r>
            <a:r>
              <a:rPr lang="en-US" sz="2880" dirty="0" err="1">
                <a:solidFill>
                  <a:srgbClr val="0070C0"/>
                </a:solidFill>
              </a:rPr>
              <a:t>FastAPI</a:t>
            </a:r>
            <a:endParaRPr lang="en-US" sz="2880" dirty="0">
              <a:solidFill>
                <a:srgbClr val="0070C0"/>
              </a:solidFill>
            </a:endParaRPr>
          </a:p>
          <a:p>
            <a:r>
              <a:rPr lang="en-US" sz="2880" dirty="0">
                <a:solidFill>
                  <a:srgbClr val="0070C0"/>
                </a:solidFill>
              </a:rPr>
              <a:t>app = </a:t>
            </a:r>
            <a:r>
              <a:rPr lang="en-US" sz="2880" dirty="0" err="1">
                <a:solidFill>
                  <a:srgbClr val="0070C0"/>
                </a:solidFill>
              </a:rPr>
              <a:t>FastAPI</a:t>
            </a:r>
            <a:r>
              <a:rPr lang="en-US" sz="2880" dirty="0">
                <a:solidFill>
                  <a:srgbClr val="0070C0"/>
                </a:solidFill>
              </a:rPr>
              <a:t>()</a:t>
            </a:r>
          </a:p>
          <a:p>
            <a:r>
              <a:rPr lang="en-US" sz="2880" dirty="0">
                <a:solidFill>
                  <a:srgbClr val="0070C0"/>
                </a:solidFill>
              </a:rPr>
              <a:t>@</a:t>
            </a:r>
            <a:r>
              <a:rPr lang="en-US" sz="2880" dirty="0" err="1">
                <a:solidFill>
                  <a:srgbClr val="0070C0"/>
                </a:solidFill>
              </a:rPr>
              <a:t>app.get</a:t>
            </a:r>
            <a:r>
              <a:rPr lang="en-US" sz="2880" dirty="0">
                <a:solidFill>
                  <a:srgbClr val="0070C0"/>
                </a:solidFill>
              </a:rPr>
              <a:t>(«/»)</a:t>
            </a:r>
          </a:p>
          <a:p>
            <a:r>
              <a:rPr lang="en-US" sz="2880" dirty="0" err="1">
                <a:solidFill>
                  <a:srgbClr val="0070C0"/>
                </a:solidFill>
              </a:rPr>
              <a:t>def</a:t>
            </a:r>
            <a:r>
              <a:rPr lang="en-US" sz="2880" dirty="0">
                <a:solidFill>
                  <a:srgbClr val="0070C0"/>
                </a:solidFill>
              </a:rPr>
              <a:t> root ():</a:t>
            </a:r>
          </a:p>
          <a:p>
            <a:r>
              <a:rPr lang="en-US" sz="2880" dirty="0">
                <a:solidFill>
                  <a:srgbClr val="0070C0"/>
                </a:solidFill>
              </a:rPr>
              <a:t>  return {«message»: «Hello World!»}</a:t>
            </a:r>
          </a:p>
          <a:p>
            <a:endParaRPr lang="en-US" sz="2880" dirty="0">
              <a:solidFill>
                <a:srgbClr val="0070C0"/>
              </a:solidFill>
            </a:endParaRPr>
          </a:p>
          <a:p>
            <a:endParaRPr lang="en-US" sz="2880" dirty="0">
              <a:solidFill>
                <a:srgbClr val="0070C0"/>
              </a:solidFill>
            </a:endParaRPr>
          </a:p>
          <a:p>
            <a:r>
              <a:rPr lang="en-US" sz="2880" dirty="0">
                <a:solidFill>
                  <a:srgbClr val="0070C0"/>
                </a:solidFill>
              </a:rPr>
              <a:t>How to run:</a:t>
            </a:r>
          </a:p>
          <a:p>
            <a:r>
              <a:rPr lang="en-US" sz="2880" dirty="0" err="1"/>
              <a:t>uvicorn</a:t>
            </a:r>
            <a:r>
              <a:rPr lang="en-US" sz="2880" dirty="0"/>
              <a:t> </a:t>
            </a:r>
            <a:r>
              <a:rPr lang="en-US" sz="2880" dirty="0" err="1"/>
              <a:t>main:app</a:t>
            </a:r>
            <a:r>
              <a:rPr lang="en-US" sz="2880" dirty="0"/>
              <a:t> —reload</a:t>
            </a:r>
            <a:endParaRPr lang="ru-RU" sz="288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0082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Номер слайда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ts val="72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02907" algn="l"/>
                <a:tab pos="807245" algn="l"/>
                <a:tab pos="1211580" algn="l"/>
                <a:tab pos="1615916" algn="l"/>
                <a:tab pos="2020253" algn="l"/>
                <a:tab pos="2424589" algn="l"/>
                <a:tab pos="2828926" algn="l"/>
                <a:tab pos="3233262" algn="l"/>
                <a:tab pos="3637597" algn="l"/>
                <a:tab pos="4041935" algn="l"/>
                <a:tab pos="4446270" algn="l"/>
                <a:tab pos="4850606" algn="l"/>
                <a:tab pos="5254943" algn="l"/>
                <a:tab pos="5659279" algn="l"/>
                <a:tab pos="6063616" algn="l"/>
                <a:tab pos="6467952" algn="l"/>
                <a:tab pos="6872287" algn="l"/>
                <a:tab pos="7276625" algn="l"/>
                <a:tab pos="7680960" algn="l"/>
                <a:tab pos="8085296" algn="l"/>
              </a:tabLst>
              <a:defRPr sz="288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63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02907" algn="l"/>
                <a:tab pos="807245" algn="l"/>
                <a:tab pos="1211580" algn="l"/>
                <a:tab pos="1615916" algn="l"/>
                <a:tab pos="2020253" algn="l"/>
                <a:tab pos="2424589" algn="l"/>
                <a:tab pos="2828926" algn="l"/>
                <a:tab pos="3233262" algn="l"/>
                <a:tab pos="3637597" algn="l"/>
                <a:tab pos="4041935" algn="l"/>
                <a:tab pos="4446270" algn="l"/>
                <a:tab pos="4850606" algn="l"/>
                <a:tab pos="5254943" algn="l"/>
                <a:tab pos="5659279" algn="l"/>
                <a:tab pos="6063616" algn="l"/>
                <a:tab pos="6467952" algn="l"/>
                <a:tab pos="6872287" algn="l"/>
                <a:tab pos="7276625" algn="l"/>
                <a:tab pos="7680960" algn="l"/>
                <a:tab pos="8085296" algn="l"/>
              </a:tabLst>
              <a:defRPr sz="252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54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02907" algn="l"/>
                <a:tab pos="807245" algn="l"/>
                <a:tab pos="1211580" algn="l"/>
                <a:tab pos="1615916" algn="l"/>
                <a:tab pos="2020253" algn="l"/>
                <a:tab pos="2424589" algn="l"/>
                <a:tab pos="2828926" algn="l"/>
                <a:tab pos="3233262" algn="l"/>
                <a:tab pos="3637597" algn="l"/>
                <a:tab pos="4041935" algn="l"/>
                <a:tab pos="4446270" algn="l"/>
                <a:tab pos="4850606" algn="l"/>
                <a:tab pos="5254943" algn="l"/>
                <a:tab pos="5659279" algn="l"/>
                <a:tab pos="6063616" algn="l"/>
                <a:tab pos="6467952" algn="l"/>
                <a:tab pos="6872287" algn="l"/>
                <a:tab pos="7276625" algn="l"/>
                <a:tab pos="7680960" algn="l"/>
                <a:tab pos="8085296" algn="l"/>
              </a:tabLst>
              <a:defRPr sz="216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02907" algn="l"/>
                <a:tab pos="807245" algn="l"/>
                <a:tab pos="1211580" algn="l"/>
                <a:tab pos="1615916" algn="l"/>
                <a:tab pos="2020253" algn="l"/>
                <a:tab pos="2424589" algn="l"/>
                <a:tab pos="2828926" algn="l"/>
                <a:tab pos="3233262" algn="l"/>
                <a:tab pos="3637597" algn="l"/>
                <a:tab pos="4041935" algn="l"/>
                <a:tab pos="4446270" algn="l"/>
                <a:tab pos="4850606" algn="l"/>
                <a:tab pos="5254943" algn="l"/>
                <a:tab pos="5659279" algn="l"/>
                <a:tab pos="6063616" algn="l"/>
                <a:tab pos="6467952" algn="l"/>
                <a:tab pos="6872287" algn="l"/>
                <a:tab pos="7276625" algn="l"/>
                <a:tab pos="7680960" algn="l"/>
                <a:tab pos="8085296" algn="l"/>
              </a:tabLst>
              <a:defRPr sz="18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02907" algn="l"/>
                <a:tab pos="807245" algn="l"/>
                <a:tab pos="1211580" algn="l"/>
                <a:tab pos="1615916" algn="l"/>
                <a:tab pos="2020253" algn="l"/>
                <a:tab pos="2424589" algn="l"/>
                <a:tab pos="2828926" algn="l"/>
                <a:tab pos="3233262" algn="l"/>
                <a:tab pos="3637597" algn="l"/>
                <a:tab pos="4041935" algn="l"/>
                <a:tab pos="4446270" algn="l"/>
                <a:tab pos="4850606" algn="l"/>
                <a:tab pos="5254943" algn="l"/>
                <a:tab pos="5659279" algn="l"/>
                <a:tab pos="6063616" algn="l"/>
                <a:tab pos="6467952" algn="l"/>
                <a:tab pos="6872287" algn="l"/>
                <a:tab pos="7276625" algn="l"/>
                <a:tab pos="7680960" algn="l"/>
                <a:tab pos="8085296" algn="l"/>
              </a:tabLst>
              <a:defRPr sz="18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263140" indent="-205740" defTabSz="404336" eaLnBrk="0" fontAlgn="base" hangingPunct="0"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02907" algn="l"/>
                <a:tab pos="807245" algn="l"/>
                <a:tab pos="1211580" algn="l"/>
                <a:tab pos="1615916" algn="l"/>
                <a:tab pos="2020253" algn="l"/>
                <a:tab pos="2424589" algn="l"/>
                <a:tab pos="2828926" algn="l"/>
                <a:tab pos="3233262" algn="l"/>
                <a:tab pos="3637597" algn="l"/>
                <a:tab pos="4041935" algn="l"/>
                <a:tab pos="4446270" algn="l"/>
                <a:tab pos="4850606" algn="l"/>
                <a:tab pos="5254943" algn="l"/>
                <a:tab pos="5659279" algn="l"/>
                <a:tab pos="6063616" algn="l"/>
                <a:tab pos="6467952" algn="l"/>
                <a:tab pos="6872287" algn="l"/>
                <a:tab pos="7276625" algn="l"/>
                <a:tab pos="7680960" algn="l"/>
                <a:tab pos="8085296" algn="l"/>
              </a:tabLst>
              <a:defRPr sz="18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674620" indent="-205740" defTabSz="404336" eaLnBrk="0" fontAlgn="base" hangingPunct="0"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02907" algn="l"/>
                <a:tab pos="807245" algn="l"/>
                <a:tab pos="1211580" algn="l"/>
                <a:tab pos="1615916" algn="l"/>
                <a:tab pos="2020253" algn="l"/>
                <a:tab pos="2424589" algn="l"/>
                <a:tab pos="2828926" algn="l"/>
                <a:tab pos="3233262" algn="l"/>
                <a:tab pos="3637597" algn="l"/>
                <a:tab pos="4041935" algn="l"/>
                <a:tab pos="4446270" algn="l"/>
                <a:tab pos="4850606" algn="l"/>
                <a:tab pos="5254943" algn="l"/>
                <a:tab pos="5659279" algn="l"/>
                <a:tab pos="6063616" algn="l"/>
                <a:tab pos="6467952" algn="l"/>
                <a:tab pos="6872287" algn="l"/>
                <a:tab pos="7276625" algn="l"/>
                <a:tab pos="7680960" algn="l"/>
                <a:tab pos="8085296" algn="l"/>
              </a:tabLst>
              <a:defRPr sz="18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086100" indent="-205740" defTabSz="404336" eaLnBrk="0" fontAlgn="base" hangingPunct="0"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02907" algn="l"/>
                <a:tab pos="807245" algn="l"/>
                <a:tab pos="1211580" algn="l"/>
                <a:tab pos="1615916" algn="l"/>
                <a:tab pos="2020253" algn="l"/>
                <a:tab pos="2424589" algn="l"/>
                <a:tab pos="2828926" algn="l"/>
                <a:tab pos="3233262" algn="l"/>
                <a:tab pos="3637597" algn="l"/>
                <a:tab pos="4041935" algn="l"/>
                <a:tab pos="4446270" algn="l"/>
                <a:tab pos="4850606" algn="l"/>
                <a:tab pos="5254943" algn="l"/>
                <a:tab pos="5659279" algn="l"/>
                <a:tab pos="6063616" algn="l"/>
                <a:tab pos="6467952" algn="l"/>
                <a:tab pos="6872287" algn="l"/>
                <a:tab pos="7276625" algn="l"/>
                <a:tab pos="7680960" algn="l"/>
                <a:tab pos="8085296" algn="l"/>
              </a:tabLst>
              <a:defRPr sz="18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497580" indent="-205740" defTabSz="404336" eaLnBrk="0" fontAlgn="base" hangingPunct="0"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02907" algn="l"/>
                <a:tab pos="807245" algn="l"/>
                <a:tab pos="1211580" algn="l"/>
                <a:tab pos="1615916" algn="l"/>
                <a:tab pos="2020253" algn="l"/>
                <a:tab pos="2424589" algn="l"/>
                <a:tab pos="2828926" algn="l"/>
                <a:tab pos="3233262" algn="l"/>
                <a:tab pos="3637597" algn="l"/>
                <a:tab pos="4041935" algn="l"/>
                <a:tab pos="4446270" algn="l"/>
                <a:tab pos="4850606" algn="l"/>
                <a:tab pos="5254943" algn="l"/>
                <a:tab pos="5659279" algn="l"/>
                <a:tab pos="6063616" algn="l"/>
                <a:tab pos="6467952" algn="l"/>
                <a:tab pos="6872287" algn="l"/>
                <a:tab pos="7276625" algn="l"/>
                <a:tab pos="7680960" algn="l"/>
                <a:tab pos="8085296" algn="l"/>
              </a:tabLst>
              <a:defRPr sz="18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1C0DF0A-7306-458A-BA38-15D23C982E01}" type="slidenum">
              <a:rPr lang="ru-RU" altLang="ru-RU" sz="1620"/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ru-RU" altLang="ru-RU" sz="1620"/>
          </a:p>
        </p:txBody>
      </p:sp>
      <p:sp>
        <p:nvSpPr>
          <p:cNvPr id="7171" name="Rectangle 1"/>
          <p:cNvSpPr>
            <a:spLocks noGrp="1" noChangeArrowheads="1"/>
          </p:cNvSpPr>
          <p:nvPr>
            <p:ph type="title"/>
          </p:nvPr>
        </p:nvSpPr>
        <p:spPr>
          <a:xfrm>
            <a:off x="2142651" y="500065"/>
            <a:ext cx="7938136" cy="802957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tabLst>
                <a:tab pos="0" algn="l"/>
                <a:tab pos="402907" algn="l"/>
                <a:tab pos="807245" algn="l"/>
                <a:tab pos="1211580" algn="l"/>
                <a:tab pos="1615916" algn="l"/>
                <a:tab pos="2020253" algn="l"/>
                <a:tab pos="2424589" algn="l"/>
                <a:tab pos="2828926" algn="l"/>
                <a:tab pos="3233262" algn="l"/>
                <a:tab pos="3637597" algn="l"/>
                <a:tab pos="4041935" algn="l"/>
                <a:tab pos="4446270" algn="l"/>
                <a:tab pos="4850606" algn="l"/>
                <a:tab pos="5254943" algn="l"/>
                <a:tab pos="5659279" algn="l"/>
                <a:tab pos="6063616" algn="l"/>
                <a:tab pos="6467952" algn="l"/>
                <a:tab pos="6872287" algn="l"/>
                <a:tab pos="7276625" algn="l"/>
                <a:tab pos="7680960" algn="l"/>
                <a:tab pos="8085296" algn="l"/>
              </a:tabLst>
            </a:pPr>
            <a:r>
              <a:rPr lang="ru-RU" altLang="ru-RU" sz="3240"/>
              <a:t>  </a:t>
            </a:r>
          </a:p>
        </p:txBody>
      </p:sp>
      <p:sp>
        <p:nvSpPr>
          <p:cNvPr id="7173" name="Text Box 3"/>
          <p:cNvSpPr txBox="1">
            <a:spLocks noChangeArrowheads="1"/>
          </p:cNvSpPr>
          <p:nvPr/>
        </p:nvSpPr>
        <p:spPr bwMode="auto">
          <a:xfrm>
            <a:off x="2629855" y="3420428"/>
            <a:ext cx="3563303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ru-RU" altLang="ru-RU" sz="1350"/>
          </a:p>
        </p:txBody>
      </p:sp>
      <p:sp>
        <p:nvSpPr>
          <p:cNvPr id="7174" name="Rectangle 1"/>
          <p:cNvSpPr txBox="1">
            <a:spLocks noChangeArrowheads="1"/>
          </p:cNvSpPr>
          <p:nvPr/>
        </p:nvSpPr>
        <p:spPr bwMode="auto">
          <a:xfrm>
            <a:off x="2072640" y="552108"/>
            <a:ext cx="8145305" cy="802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lang="en-US" altLang="ru-RU" sz="3840" dirty="0">
                <a:solidFill>
                  <a:srgbClr val="0070C0"/>
                </a:solidFill>
              </a:rPr>
              <a:t>Testing</a:t>
            </a:r>
            <a:r>
              <a:rPr lang="ru-RU" altLang="ru-RU" sz="3840" dirty="0">
                <a:solidFill>
                  <a:srgbClr val="0070C0"/>
                </a:solidFill>
              </a:rPr>
              <a:t> </a:t>
            </a:r>
            <a:r>
              <a:rPr lang="en-US" altLang="ru-RU" sz="3840" dirty="0">
                <a:solidFill>
                  <a:srgbClr val="0070C0"/>
                </a:solidFill>
              </a:rPr>
              <a:t>REST API </a:t>
            </a:r>
            <a:endParaRPr lang="ru-RU" altLang="ru-RU" sz="3840" dirty="0">
              <a:solidFill>
                <a:srgbClr val="0070C0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713050" y="6017430"/>
            <a:ext cx="5381601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60" dirty="0"/>
              <a:t>https://testdriven.io/blog/fastapi-crud/</a:t>
            </a:r>
            <a:endParaRPr lang="ru-RU" sz="216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11424" y="1614400"/>
            <a:ext cx="449329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from </a:t>
            </a:r>
            <a:r>
              <a:rPr lang="en-US" sz="2400" dirty="0" err="1">
                <a:solidFill>
                  <a:srgbClr val="0070C0"/>
                </a:solidFill>
              </a:rPr>
              <a:t>fastapi</a:t>
            </a:r>
            <a:r>
              <a:rPr lang="en-US" sz="2400" dirty="0">
                <a:solidFill>
                  <a:srgbClr val="0070C0"/>
                </a:solidFill>
              </a:rPr>
              <a:t> import </a:t>
            </a:r>
            <a:r>
              <a:rPr lang="en-US" sz="2400" dirty="0" err="1">
                <a:solidFill>
                  <a:srgbClr val="0070C0"/>
                </a:solidFill>
              </a:rPr>
              <a:t>FastAPI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app = </a:t>
            </a:r>
            <a:r>
              <a:rPr lang="en-US" sz="2400" dirty="0" err="1">
                <a:solidFill>
                  <a:srgbClr val="0070C0"/>
                </a:solidFill>
              </a:rPr>
              <a:t>FastAPI</a:t>
            </a:r>
            <a:r>
              <a:rPr lang="en-US" sz="2400" dirty="0">
                <a:solidFill>
                  <a:srgbClr val="0070C0"/>
                </a:solidFill>
              </a:rPr>
              <a:t>()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@</a:t>
            </a:r>
            <a:r>
              <a:rPr lang="en-US" sz="2400" dirty="0" err="1">
                <a:solidFill>
                  <a:srgbClr val="0070C0"/>
                </a:solidFill>
              </a:rPr>
              <a:t>app.get</a:t>
            </a:r>
            <a:r>
              <a:rPr lang="en-US" sz="2400" dirty="0">
                <a:solidFill>
                  <a:srgbClr val="0070C0"/>
                </a:solidFill>
              </a:rPr>
              <a:t>("/ping")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def</a:t>
            </a:r>
            <a:r>
              <a:rPr lang="en-US" sz="2400" dirty="0">
                <a:solidFill>
                  <a:srgbClr val="0070C0"/>
                </a:solidFill>
              </a:rPr>
              <a:t> pong():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return {"ping": "pong!"}</a:t>
            </a:r>
            <a:endParaRPr lang="ru-RU" sz="2400" dirty="0">
              <a:solidFill>
                <a:srgbClr val="0070C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318314" y="1662317"/>
            <a:ext cx="596226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from </a:t>
            </a:r>
            <a:r>
              <a:rPr lang="en-US" sz="2400" dirty="0" err="1">
                <a:solidFill>
                  <a:srgbClr val="0070C0"/>
                </a:solidFill>
              </a:rPr>
              <a:t>starlette.testclient</a:t>
            </a:r>
            <a:r>
              <a:rPr lang="en-US" sz="2400" dirty="0">
                <a:solidFill>
                  <a:srgbClr val="0070C0"/>
                </a:solidFill>
              </a:rPr>
              <a:t> import </a:t>
            </a:r>
            <a:r>
              <a:rPr lang="en-US" sz="2400" dirty="0" err="1">
                <a:solidFill>
                  <a:srgbClr val="0070C0"/>
                </a:solidFill>
              </a:rPr>
              <a:t>TestClient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from </a:t>
            </a:r>
            <a:r>
              <a:rPr lang="en-US" sz="2400" dirty="0" err="1">
                <a:solidFill>
                  <a:srgbClr val="0070C0"/>
                </a:solidFill>
              </a:rPr>
              <a:t>app.main</a:t>
            </a:r>
            <a:r>
              <a:rPr lang="en-US" sz="2400" dirty="0">
                <a:solidFill>
                  <a:srgbClr val="0070C0"/>
                </a:solidFill>
              </a:rPr>
              <a:t> import app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client = </a:t>
            </a:r>
            <a:r>
              <a:rPr lang="en-US" sz="2400" dirty="0" err="1">
                <a:solidFill>
                  <a:srgbClr val="0070C0"/>
                </a:solidFill>
              </a:rPr>
              <a:t>TestClient</a:t>
            </a:r>
            <a:r>
              <a:rPr lang="en-US" sz="2400" dirty="0">
                <a:solidFill>
                  <a:srgbClr val="0070C0"/>
                </a:solidFill>
              </a:rPr>
              <a:t>(app)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def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test_ping</a:t>
            </a:r>
            <a:r>
              <a:rPr lang="en-US" sz="2400" dirty="0">
                <a:solidFill>
                  <a:srgbClr val="0070C0"/>
                </a:solidFill>
              </a:rPr>
              <a:t>():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response = </a:t>
            </a:r>
            <a:r>
              <a:rPr lang="en-US" sz="2400" dirty="0" err="1">
                <a:solidFill>
                  <a:srgbClr val="0070C0"/>
                </a:solidFill>
              </a:rPr>
              <a:t>client.get</a:t>
            </a:r>
            <a:r>
              <a:rPr lang="en-US" sz="2400" dirty="0">
                <a:solidFill>
                  <a:srgbClr val="0070C0"/>
                </a:solidFill>
              </a:rPr>
              <a:t>("/ping")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assert </a:t>
            </a:r>
            <a:r>
              <a:rPr lang="en-US" sz="2400" dirty="0" err="1">
                <a:solidFill>
                  <a:srgbClr val="0070C0"/>
                </a:solidFill>
              </a:rPr>
              <a:t>response.status_code</a:t>
            </a:r>
            <a:r>
              <a:rPr lang="en-US" sz="2400" dirty="0">
                <a:solidFill>
                  <a:srgbClr val="0070C0"/>
                </a:solidFill>
              </a:rPr>
              <a:t> == 200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assert </a:t>
            </a:r>
            <a:r>
              <a:rPr lang="en-US" sz="2400" dirty="0" err="1">
                <a:solidFill>
                  <a:srgbClr val="0070C0"/>
                </a:solidFill>
              </a:rPr>
              <a:t>response.json</a:t>
            </a:r>
            <a:r>
              <a:rPr lang="en-US" sz="2400" dirty="0">
                <a:solidFill>
                  <a:srgbClr val="0070C0"/>
                </a:solidFill>
              </a:rPr>
              <a:t>() == {"ping": "pong!"}</a:t>
            </a:r>
            <a:endParaRPr lang="ru-RU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4686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 noGrp="1" noChangeArrowheads="1"/>
          </p:cNvSpPr>
          <p:nvPr>
            <p:ph type="title"/>
          </p:nvPr>
        </p:nvSpPr>
        <p:spPr>
          <a:xfrm>
            <a:off x="2186433" y="443301"/>
            <a:ext cx="9093112" cy="1209994"/>
          </a:xfrm>
        </p:spPr>
        <p:txBody>
          <a:bodyPr/>
          <a:lstStyle/>
          <a:p>
            <a:pPr>
              <a:tabLst>
                <a:tab pos="0" algn="l"/>
                <a:tab pos="402853" algn="l"/>
                <a:tab pos="807137" algn="l"/>
                <a:tab pos="1211418" algn="l"/>
                <a:tab pos="1615702" algn="l"/>
                <a:tab pos="2019983" algn="l"/>
                <a:tab pos="2424266" algn="l"/>
                <a:tab pos="2828548" algn="l"/>
                <a:tab pos="3232830" algn="l"/>
                <a:tab pos="3637112" algn="l"/>
                <a:tab pos="4041395" algn="l"/>
                <a:tab pos="4445677" algn="l"/>
                <a:tab pos="4849960" algn="l"/>
                <a:tab pos="5254242" algn="l"/>
                <a:tab pos="5658524" algn="l"/>
                <a:tab pos="6062807" algn="l"/>
                <a:tab pos="6467089" algn="l"/>
                <a:tab pos="6871372" algn="l"/>
                <a:tab pos="7275654" algn="l"/>
                <a:tab pos="7679936" algn="l"/>
                <a:tab pos="8084219" algn="l"/>
              </a:tabLst>
            </a:pPr>
            <a:r>
              <a:rPr lang="en-US" altLang="ru-RU" sz="4320" dirty="0" err="1">
                <a:solidFill>
                  <a:srgbClr val="0070C0"/>
                </a:solidFill>
              </a:rPr>
              <a:t>FastAPI</a:t>
            </a:r>
            <a:r>
              <a:rPr lang="en-US" altLang="ru-RU" sz="4320" dirty="0">
                <a:solidFill>
                  <a:srgbClr val="0070C0"/>
                </a:solidFill>
              </a:rPr>
              <a:t> – hello world</a:t>
            </a:r>
            <a:endParaRPr lang="ru-RU" altLang="ru-RU" sz="4320" dirty="0">
              <a:solidFill>
                <a:srgbClr val="0070C0"/>
              </a:solidFill>
            </a:endParaRPr>
          </a:p>
        </p:txBody>
      </p:sp>
      <p:sp>
        <p:nvSpPr>
          <p:cNvPr id="30723" name="Rectangle 2"/>
          <p:cNvSpPr txBox="1">
            <a:spLocks noChangeArrowheads="1"/>
          </p:cNvSpPr>
          <p:nvPr/>
        </p:nvSpPr>
        <p:spPr bwMode="auto">
          <a:xfrm>
            <a:off x="1082455" y="1653296"/>
            <a:ext cx="10367088" cy="4051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49263">
              <a:lnSpc>
                <a:spcPct val="88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1pPr>
            <a:lvl2pPr defTabSz="449263">
              <a:lnSpc>
                <a:spcPct val="88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2pPr>
            <a:lvl3pPr defTabSz="449263">
              <a:lnSpc>
                <a:spcPct val="88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3pPr>
            <a:lvl4pPr defTabSz="449263">
              <a:lnSpc>
                <a:spcPct val="88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4pPr>
            <a:lvl5pPr defTabSz="449263">
              <a:lnSpc>
                <a:spcPct val="88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3360" dirty="0">
                <a:solidFill>
                  <a:srgbClr val="0070C0"/>
                </a:solidFill>
              </a:rPr>
              <a:t># main.py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3360" dirty="0">
                <a:solidFill>
                  <a:srgbClr val="0070C0"/>
                </a:solidFill>
              </a:rPr>
              <a:t>from </a:t>
            </a:r>
            <a:r>
              <a:rPr lang="en-US" altLang="ru-RU" sz="3360" dirty="0" err="1">
                <a:solidFill>
                  <a:srgbClr val="0070C0"/>
                </a:solidFill>
              </a:rPr>
              <a:t>fastapi</a:t>
            </a:r>
            <a:r>
              <a:rPr lang="en-US" altLang="ru-RU" sz="3360" dirty="0">
                <a:solidFill>
                  <a:srgbClr val="0070C0"/>
                </a:solidFill>
              </a:rPr>
              <a:t> import </a:t>
            </a:r>
            <a:r>
              <a:rPr lang="en-US" altLang="ru-RU" sz="3360" dirty="0" err="1">
                <a:solidFill>
                  <a:srgbClr val="0070C0"/>
                </a:solidFill>
              </a:rPr>
              <a:t>FastAPI</a:t>
            </a:r>
            <a:endParaRPr lang="en-US" altLang="ru-RU" sz="336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3360" dirty="0">
                <a:solidFill>
                  <a:srgbClr val="0070C0"/>
                </a:solidFill>
              </a:rPr>
              <a:t>app = </a:t>
            </a:r>
            <a:r>
              <a:rPr lang="en-US" altLang="ru-RU" sz="3360" dirty="0" err="1">
                <a:solidFill>
                  <a:srgbClr val="0070C0"/>
                </a:solidFill>
              </a:rPr>
              <a:t>FastAPI</a:t>
            </a:r>
            <a:r>
              <a:rPr lang="en-US" altLang="ru-RU" sz="3360" dirty="0">
                <a:solidFill>
                  <a:srgbClr val="0070C0"/>
                </a:solidFill>
              </a:rPr>
              <a:t>()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endParaRPr lang="en-US" altLang="ru-RU" sz="336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3360" dirty="0">
                <a:solidFill>
                  <a:srgbClr val="0070C0"/>
                </a:solidFill>
              </a:rPr>
              <a:t>@app.get("/analize")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3360" dirty="0" err="1">
                <a:solidFill>
                  <a:srgbClr val="0070C0"/>
                </a:solidFill>
              </a:rPr>
              <a:t>async</a:t>
            </a:r>
            <a:r>
              <a:rPr lang="en-US" altLang="ru-RU" sz="3360" dirty="0">
                <a:solidFill>
                  <a:srgbClr val="0070C0"/>
                </a:solidFill>
              </a:rPr>
              <a:t> </a:t>
            </a:r>
            <a:r>
              <a:rPr lang="en-US" altLang="ru-RU" sz="3360" dirty="0" err="1">
                <a:solidFill>
                  <a:srgbClr val="0070C0"/>
                </a:solidFill>
              </a:rPr>
              <a:t>def</a:t>
            </a:r>
            <a:r>
              <a:rPr lang="en-US" altLang="ru-RU" sz="3360" dirty="0">
                <a:solidFill>
                  <a:srgbClr val="0070C0"/>
                </a:solidFill>
              </a:rPr>
              <a:t> root():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3360" dirty="0">
                <a:solidFill>
                  <a:srgbClr val="0070C0"/>
                </a:solidFill>
              </a:rPr>
              <a:t>    return {"message": "Hello World"}</a:t>
            </a:r>
            <a:endParaRPr lang="ru-RU" altLang="ru-RU" sz="3360" dirty="0">
              <a:solidFill>
                <a:srgbClr val="0070C0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082455" y="6086923"/>
            <a:ext cx="6837128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160" dirty="0"/>
              <a:t>https://realpython.com/fastapi-python-web-apis/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6345849" y="2875543"/>
            <a:ext cx="4261192" cy="2086725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160" dirty="0">
                <a:solidFill>
                  <a:srgbClr val="0070C0"/>
                </a:solidFill>
              </a:rPr>
              <a:t>This function will be called by FASTAPI whenever it receives a request to the specified URL (/) using the GET operation. In this case, it is an asynchronous function</a:t>
            </a:r>
            <a:r>
              <a:rPr lang="ru-RU" sz="2160" dirty="0">
                <a:solidFill>
                  <a:srgbClr val="0070C0"/>
                </a:solidFill>
              </a:rPr>
              <a:t>.</a:t>
            </a:r>
          </a:p>
        </p:txBody>
      </p:sp>
      <p:cxnSp>
        <p:nvCxnSpPr>
          <p:cNvPr id="5" name="Прямая со стрелкой 4"/>
          <p:cNvCxnSpPr>
            <a:stCxn id="3" idx="1"/>
          </p:cNvCxnSpPr>
          <p:nvPr/>
        </p:nvCxnSpPr>
        <p:spPr>
          <a:xfrm flipH="1">
            <a:off x="3901441" y="3918906"/>
            <a:ext cx="2444408" cy="9985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2901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 noGrp="1" noChangeArrowheads="1"/>
          </p:cNvSpPr>
          <p:nvPr>
            <p:ph type="title"/>
          </p:nvPr>
        </p:nvSpPr>
        <p:spPr>
          <a:xfrm>
            <a:off x="2186433" y="199461"/>
            <a:ext cx="9093112" cy="1209994"/>
          </a:xfrm>
        </p:spPr>
        <p:txBody>
          <a:bodyPr/>
          <a:lstStyle/>
          <a:p>
            <a:pPr>
              <a:tabLst>
                <a:tab pos="0" algn="l"/>
                <a:tab pos="402853" algn="l"/>
                <a:tab pos="807137" algn="l"/>
                <a:tab pos="1211418" algn="l"/>
                <a:tab pos="1615702" algn="l"/>
                <a:tab pos="2019983" algn="l"/>
                <a:tab pos="2424266" algn="l"/>
                <a:tab pos="2828548" algn="l"/>
                <a:tab pos="3232830" algn="l"/>
                <a:tab pos="3637112" algn="l"/>
                <a:tab pos="4041395" algn="l"/>
                <a:tab pos="4445677" algn="l"/>
                <a:tab pos="4849960" algn="l"/>
                <a:tab pos="5254242" algn="l"/>
                <a:tab pos="5658524" algn="l"/>
                <a:tab pos="6062807" algn="l"/>
                <a:tab pos="6467089" algn="l"/>
                <a:tab pos="6871372" algn="l"/>
                <a:tab pos="7275654" algn="l"/>
                <a:tab pos="7679936" algn="l"/>
                <a:tab pos="8084219" algn="l"/>
              </a:tabLst>
            </a:pPr>
            <a:r>
              <a:rPr lang="en-US" altLang="ru-RU" sz="4320" dirty="0">
                <a:solidFill>
                  <a:srgbClr val="0070C0"/>
                </a:solidFill>
              </a:rPr>
              <a:t>REST server example</a:t>
            </a:r>
            <a:endParaRPr lang="ru-RU" altLang="ru-RU" sz="4320" dirty="0">
              <a:solidFill>
                <a:srgbClr val="0070C0"/>
              </a:solidFill>
            </a:endParaRPr>
          </a:p>
        </p:txBody>
      </p:sp>
      <p:sp>
        <p:nvSpPr>
          <p:cNvPr id="30723" name="Rectangle 2"/>
          <p:cNvSpPr txBox="1">
            <a:spLocks noChangeArrowheads="1"/>
          </p:cNvSpPr>
          <p:nvPr/>
        </p:nvSpPr>
        <p:spPr bwMode="auto">
          <a:xfrm>
            <a:off x="1067630" y="1211074"/>
            <a:ext cx="10367088" cy="5451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49263">
              <a:lnSpc>
                <a:spcPct val="88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1pPr>
            <a:lvl2pPr defTabSz="449263">
              <a:lnSpc>
                <a:spcPct val="88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2pPr>
            <a:lvl3pPr defTabSz="449263">
              <a:lnSpc>
                <a:spcPct val="88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3pPr>
            <a:lvl4pPr defTabSz="449263">
              <a:lnSpc>
                <a:spcPct val="88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4pPr>
            <a:lvl5pPr defTabSz="449263">
              <a:lnSpc>
                <a:spcPct val="88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>
                <a:solidFill>
                  <a:srgbClr val="0070C0"/>
                </a:solidFill>
              </a:rPr>
              <a:t>from </a:t>
            </a:r>
            <a:r>
              <a:rPr lang="en-US" altLang="ru-RU" sz="1200" dirty="0" err="1">
                <a:solidFill>
                  <a:srgbClr val="0070C0"/>
                </a:solidFill>
              </a:rPr>
              <a:t>fastapi</a:t>
            </a:r>
            <a:r>
              <a:rPr lang="en-US" altLang="ru-RU" sz="1200" dirty="0">
                <a:solidFill>
                  <a:srgbClr val="0070C0"/>
                </a:solidFill>
              </a:rPr>
              <a:t> import </a:t>
            </a:r>
            <a:r>
              <a:rPr lang="en-US" altLang="ru-RU" sz="1200" dirty="0" err="1">
                <a:solidFill>
                  <a:srgbClr val="0070C0"/>
                </a:solidFill>
              </a:rPr>
              <a:t>FastAPI</a:t>
            </a:r>
            <a:endParaRPr lang="en-US" altLang="ru-RU" sz="12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>
                <a:solidFill>
                  <a:srgbClr val="0070C0"/>
                </a:solidFill>
              </a:rPr>
              <a:t>from </a:t>
            </a:r>
            <a:r>
              <a:rPr lang="en-US" altLang="ru-RU" sz="1200" dirty="0" err="1">
                <a:solidFill>
                  <a:srgbClr val="0070C0"/>
                </a:solidFill>
              </a:rPr>
              <a:t>pydantic</a:t>
            </a:r>
            <a:r>
              <a:rPr lang="en-US" altLang="ru-RU" sz="1200" dirty="0">
                <a:solidFill>
                  <a:srgbClr val="0070C0"/>
                </a:solidFill>
              </a:rPr>
              <a:t> import </a:t>
            </a:r>
            <a:r>
              <a:rPr lang="en-US" altLang="ru-RU" sz="1200" dirty="0" err="1">
                <a:solidFill>
                  <a:srgbClr val="0070C0"/>
                </a:solidFill>
              </a:rPr>
              <a:t>BaseModel</a:t>
            </a:r>
            <a:endParaRPr lang="en-US" altLang="ru-RU" sz="12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en-US" altLang="ru-RU" sz="12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>
                <a:solidFill>
                  <a:srgbClr val="0070C0"/>
                </a:solidFill>
              </a:rPr>
              <a:t># 1. Define an API object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>
                <a:solidFill>
                  <a:srgbClr val="0070C0"/>
                </a:solidFill>
              </a:rPr>
              <a:t>app = </a:t>
            </a:r>
            <a:r>
              <a:rPr lang="en-US" altLang="ru-RU" sz="1200" dirty="0" err="1">
                <a:solidFill>
                  <a:srgbClr val="0070C0"/>
                </a:solidFill>
              </a:rPr>
              <a:t>FastAPI</a:t>
            </a:r>
            <a:r>
              <a:rPr lang="en-US" altLang="ru-RU" sz="1200" dirty="0">
                <a:solidFill>
                  <a:srgbClr val="0070C0"/>
                </a:solidFill>
              </a:rPr>
              <a:t>()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en-US" altLang="ru-RU" sz="12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>
                <a:solidFill>
                  <a:srgbClr val="0070C0"/>
                </a:solidFill>
              </a:rPr>
              <a:t># 2. Define data type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>
                <a:solidFill>
                  <a:srgbClr val="0070C0"/>
                </a:solidFill>
              </a:rPr>
              <a:t>class </a:t>
            </a:r>
            <a:r>
              <a:rPr lang="en-US" altLang="ru-RU" sz="1200" dirty="0" err="1">
                <a:solidFill>
                  <a:srgbClr val="0070C0"/>
                </a:solidFill>
              </a:rPr>
              <a:t>Msg</a:t>
            </a:r>
            <a:r>
              <a:rPr lang="en-US" altLang="ru-RU" sz="1200" dirty="0">
                <a:solidFill>
                  <a:srgbClr val="0070C0"/>
                </a:solidFill>
              </a:rPr>
              <a:t>(</a:t>
            </a:r>
            <a:r>
              <a:rPr lang="en-US" altLang="ru-RU" sz="1200" dirty="0" err="1">
                <a:solidFill>
                  <a:srgbClr val="0070C0"/>
                </a:solidFill>
              </a:rPr>
              <a:t>BaseModel</a:t>
            </a:r>
            <a:r>
              <a:rPr lang="en-US" altLang="ru-RU" sz="1200" dirty="0">
                <a:solidFill>
                  <a:srgbClr val="0070C0"/>
                </a:solidFill>
              </a:rPr>
              <a:t>):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>
                <a:solidFill>
                  <a:srgbClr val="0070C0"/>
                </a:solidFill>
              </a:rPr>
              <a:t>    </a:t>
            </a:r>
            <a:r>
              <a:rPr lang="en-US" altLang="ru-RU" sz="1200" dirty="0" err="1">
                <a:solidFill>
                  <a:srgbClr val="0070C0"/>
                </a:solidFill>
              </a:rPr>
              <a:t>msg</a:t>
            </a:r>
            <a:r>
              <a:rPr lang="en-US" altLang="ru-RU" sz="1200" dirty="0">
                <a:solidFill>
                  <a:srgbClr val="0070C0"/>
                </a:solidFill>
              </a:rPr>
              <a:t>: </a:t>
            </a:r>
            <a:r>
              <a:rPr lang="en-US" altLang="ru-RU" sz="1200" dirty="0" err="1">
                <a:solidFill>
                  <a:srgbClr val="0070C0"/>
                </a:solidFill>
              </a:rPr>
              <a:t>str</a:t>
            </a:r>
            <a:endParaRPr lang="en-US" altLang="ru-RU" sz="12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en-US" altLang="ru-RU" sz="12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>
                <a:solidFill>
                  <a:srgbClr val="0070C0"/>
                </a:solidFill>
              </a:rPr>
              <a:t># 3. Map HTTP method and path to python function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>
                <a:solidFill>
                  <a:srgbClr val="0070C0"/>
                </a:solidFill>
              </a:rPr>
              <a:t>@</a:t>
            </a:r>
            <a:r>
              <a:rPr lang="en-US" altLang="ru-RU" sz="1200" dirty="0" err="1">
                <a:solidFill>
                  <a:srgbClr val="0070C0"/>
                </a:solidFill>
              </a:rPr>
              <a:t>app.get</a:t>
            </a:r>
            <a:r>
              <a:rPr lang="en-US" altLang="ru-RU" sz="1200" dirty="0">
                <a:solidFill>
                  <a:srgbClr val="0070C0"/>
                </a:solidFill>
              </a:rPr>
              <a:t>("/")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 err="1">
                <a:solidFill>
                  <a:srgbClr val="0070C0"/>
                </a:solidFill>
              </a:rPr>
              <a:t>async</a:t>
            </a:r>
            <a:r>
              <a:rPr lang="en-US" altLang="ru-RU" sz="1200" dirty="0">
                <a:solidFill>
                  <a:srgbClr val="0070C0"/>
                </a:solidFill>
              </a:rPr>
              <a:t> </a:t>
            </a:r>
            <a:r>
              <a:rPr lang="en-US" altLang="ru-RU" sz="1200" dirty="0" err="1">
                <a:solidFill>
                  <a:srgbClr val="0070C0"/>
                </a:solidFill>
              </a:rPr>
              <a:t>def</a:t>
            </a:r>
            <a:r>
              <a:rPr lang="en-US" altLang="ru-RU" sz="1200" dirty="0">
                <a:solidFill>
                  <a:srgbClr val="0070C0"/>
                </a:solidFill>
              </a:rPr>
              <a:t> root():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>
                <a:solidFill>
                  <a:srgbClr val="0070C0"/>
                </a:solidFill>
              </a:rPr>
              <a:t>    return {"message": "Hello World. Welcome to the API home page!"}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en-US" altLang="ru-RU" sz="12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>
                <a:solidFill>
                  <a:srgbClr val="0070C0"/>
                </a:solidFill>
              </a:rPr>
              <a:t>@</a:t>
            </a:r>
            <a:r>
              <a:rPr lang="en-US" altLang="ru-RU" sz="1200" dirty="0" err="1">
                <a:solidFill>
                  <a:srgbClr val="0070C0"/>
                </a:solidFill>
              </a:rPr>
              <a:t>app.get</a:t>
            </a:r>
            <a:r>
              <a:rPr lang="en-US" altLang="ru-RU" sz="1200" dirty="0">
                <a:solidFill>
                  <a:srgbClr val="0070C0"/>
                </a:solidFill>
              </a:rPr>
              <a:t>("/path")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 err="1">
                <a:solidFill>
                  <a:srgbClr val="0070C0"/>
                </a:solidFill>
              </a:rPr>
              <a:t>async</a:t>
            </a:r>
            <a:r>
              <a:rPr lang="en-US" altLang="ru-RU" sz="1200" dirty="0">
                <a:solidFill>
                  <a:srgbClr val="0070C0"/>
                </a:solidFill>
              </a:rPr>
              <a:t> </a:t>
            </a:r>
            <a:r>
              <a:rPr lang="en-US" altLang="ru-RU" sz="1200" dirty="0" err="1">
                <a:solidFill>
                  <a:srgbClr val="0070C0"/>
                </a:solidFill>
              </a:rPr>
              <a:t>def</a:t>
            </a:r>
            <a:r>
              <a:rPr lang="en-US" altLang="ru-RU" sz="1200" dirty="0">
                <a:solidFill>
                  <a:srgbClr val="0070C0"/>
                </a:solidFill>
              </a:rPr>
              <a:t> </a:t>
            </a:r>
            <a:r>
              <a:rPr lang="en-US" altLang="ru-RU" sz="1200" dirty="0" err="1">
                <a:solidFill>
                  <a:srgbClr val="0070C0"/>
                </a:solidFill>
              </a:rPr>
              <a:t>function_demo_get</a:t>
            </a:r>
            <a:r>
              <a:rPr lang="en-US" altLang="ru-RU" sz="1200" dirty="0">
                <a:solidFill>
                  <a:srgbClr val="0070C0"/>
                </a:solidFill>
              </a:rPr>
              <a:t>():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>
                <a:solidFill>
                  <a:srgbClr val="0070C0"/>
                </a:solidFill>
              </a:rPr>
              <a:t>    return {"message": "This is /path endpoint, use post request to transform text to uppercase"}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en-US" altLang="ru-RU" sz="12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>
                <a:solidFill>
                  <a:srgbClr val="0070C0"/>
                </a:solidFill>
              </a:rPr>
              <a:t>@</a:t>
            </a:r>
            <a:r>
              <a:rPr lang="en-US" altLang="ru-RU" sz="1200" dirty="0" err="1">
                <a:solidFill>
                  <a:srgbClr val="0070C0"/>
                </a:solidFill>
              </a:rPr>
              <a:t>app.post</a:t>
            </a:r>
            <a:r>
              <a:rPr lang="en-US" altLang="ru-RU" sz="1200" dirty="0">
                <a:solidFill>
                  <a:srgbClr val="0070C0"/>
                </a:solidFill>
              </a:rPr>
              <a:t>("/path")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 err="1">
                <a:solidFill>
                  <a:srgbClr val="0070C0"/>
                </a:solidFill>
              </a:rPr>
              <a:t>async</a:t>
            </a:r>
            <a:r>
              <a:rPr lang="en-US" altLang="ru-RU" sz="1200" dirty="0">
                <a:solidFill>
                  <a:srgbClr val="0070C0"/>
                </a:solidFill>
              </a:rPr>
              <a:t> </a:t>
            </a:r>
            <a:r>
              <a:rPr lang="en-US" altLang="ru-RU" sz="1200" dirty="0" err="1">
                <a:solidFill>
                  <a:srgbClr val="0070C0"/>
                </a:solidFill>
              </a:rPr>
              <a:t>def</a:t>
            </a:r>
            <a:r>
              <a:rPr lang="en-US" altLang="ru-RU" sz="1200" dirty="0">
                <a:solidFill>
                  <a:srgbClr val="0070C0"/>
                </a:solidFill>
              </a:rPr>
              <a:t> </a:t>
            </a:r>
            <a:r>
              <a:rPr lang="en-US" altLang="ru-RU" sz="1200" dirty="0" err="1">
                <a:solidFill>
                  <a:srgbClr val="0070C0"/>
                </a:solidFill>
              </a:rPr>
              <a:t>function_demo_post</a:t>
            </a:r>
            <a:r>
              <a:rPr lang="en-US" altLang="ru-RU" sz="1200" dirty="0">
                <a:solidFill>
                  <a:srgbClr val="0070C0"/>
                </a:solidFill>
              </a:rPr>
              <a:t>(</a:t>
            </a:r>
            <a:r>
              <a:rPr lang="en-US" altLang="ru-RU" sz="1200" dirty="0" err="1">
                <a:solidFill>
                  <a:srgbClr val="0070C0"/>
                </a:solidFill>
              </a:rPr>
              <a:t>inp</a:t>
            </a:r>
            <a:r>
              <a:rPr lang="en-US" altLang="ru-RU" sz="1200" dirty="0">
                <a:solidFill>
                  <a:srgbClr val="0070C0"/>
                </a:solidFill>
              </a:rPr>
              <a:t>: </a:t>
            </a:r>
            <a:r>
              <a:rPr lang="en-US" altLang="ru-RU" sz="1200" dirty="0" err="1">
                <a:solidFill>
                  <a:srgbClr val="0070C0"/>
                </a:solidFill>
              </a:rPr>
              <a:t>Msg</a:t>
            </a:r>
            <a:r>
              <a:rPr lang="en-US" altLang="ru-RU" sz="1200" dirty="0">
                <a:solidFill>
                  <a:srgbClr val="0070C0"/>
                </a:solidFill>
              </a:rPr>
              <a:t>):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>
                <a:solidFill>
                  <a:srgbClr val="0070C0"/>
                </a:solidFill>
              </a:rPr>
              <a:t>    return {"message": </a:t>
            </a:r>
            <a:r>
              <a:rPr lang="en-US" altLang="ru-RU" sz="1200" dirty="0" err="1">
                <a:solidFill>
                  <a:srgbClr val="0070C0"/>
                </a:solidFill>
              </a:rPr>
              <a:t>inp.msg.upper</a:t>
            </a:r>
            <a:r>
              <a:rPr lang="en-US" altLang="ru-RU" sz="1200" dirty="0">
                <a:solidFill>
                  <a:srgbClr val="0070C0"/>
                </a:solidFill>
              </a:rPr>
              <a:t>()}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en-US" altLang="ru-RU" sz="12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>
                <a:solidFill>
                  <a:srgbClr val="0070C0"/>
                </a:solidFill>
              </a:rPr>
              <a:t>@</a:t>
            </a:r>
            <a:r>
              <a:rPr lang="en-US" altLang="ru-RU" sz="1200" dirty="0" err="1">
                <a:solidFill>
                  <a:srgbClr val="0070C0"/>
                </a:solidFill>
              </a:rPr>
              <a:t>app.get</a:t>
            </a:r>
            <a:r>
              <a:rPr lang="en-US" altLang="ru-RU" sz="1200" dirty="0">
                <a:solidFill>
                  <a:srgbClr val="0070C0"/>
                </a:solidFill>
              </a:rPr>
              <a:t>("/path/{</a:t>
            </a:r>
            <a:r>
              <a:rPr lang="en-US" altLang="ru-RU" sz="1200" dirty="0" err="1">
                <a:solidFill>
                  <a:srgbClr val="0070C0"/>
                </a:solidFill>
              </a:rPr>
              <a:t>path_id</a:t>
            </a:r>
            <a:r>
              <a:rPr lang="en-US" altLang="ru-RU" sz="1200" dirty="0">
                <a:solidFill>
                  <a:srgbClr val="0070C0"/>
                </a:solidFill>
              </a:rPr>
              <a:t>}")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 err="1">
                <a:solidFill>
                  <a:srgbClr val="0070C0"/>
                </a:solidFill>
              </a:rPr>
              <a:t>async</a:t>
            </a:r>
            <a:r>
              <a:rPr lang="en-US" altLang="ru-RU" sz="1200" dirty="0">
                <a:solidFill>
                  <a:srgbClr val="0070C0"/>
                </a:solidFill>
              </a:rPr>
              <a:t> </a:t>
            </a:r>
            <a:r>
              <a:rPr lang="en-US" altLang="ru-RU" sz="1200" dirty="0" err="1">
                <a:solidFill>
                  <a:srgbClr val="0070C0"/>
                </a:solidFill>
              </a:rPr>
              <a:t>def</a:t>
            </a:r>
            <a:r>
              <a:rPr lang="en-US" altLang="ru-RU" sz="1200" dirty="0">
                <a:solidFill>
                  <a:srgbClr val="0070C0"/>
                </a:solidFill>
              </a:rPr>
              <a:t> </a:t>
            </a:r>
            <a:r>
              <a:rPr lang="en-US" altLang="ru-RU" sz="1200" dirty="0" err="1">
                <a:solidFill>
                  <a:srgbClr val="0070C0"/>
                </a:solidFill>
              </a:rPr>
              <a:t>function_demo_get_path_id</a:t>
            </a:r>
            <a:r>
              <a:rPr lang="en-US" altLang="ru-RU" sz="1200" dirty="0">
                <a:solidFill>
                  <a:srgbClr val="0070C0"/>
                </a:solidFill>
              </a:rPr>
              <a:t>(</a:t>
            </a:r>
            <a:r>
              <a:rPr lang="en-US" altLang="ru-RU" sz="1200" dirty="0" err="1">
                <a:solidFill>
                  <a:srgbClr val="0070C0"/>
                </a:solidFill>
              </a:rPr>
              <a:t>path_id</a:t>
            </a:r>
            <a:r>
              <a:rPr lang="en-US" altLang="ru-RU" sz="1200" dirty="0">
                <a:solidFill>
                  <a:srgbClr val="0070C0"/>
                </a:solidFill>
              </a:rPr>
              <a:t>: </a:t>
            </a:r>
            <a:r>
              <a:rPr lang="en-US" altLang="ru-RU" sz="1200" dirty="0" err="1">
                <a:solidFill>
                  <a:srgbClr val="0070C0"/>
                </a:solidFill>
              </a:rPr>
              <a:t>int</a:t>
            </a:r>
            <a:r>
              <a:rPr lang="en-US" altLang="ru-RU" sz="1200" dirty="0">
                <a:solidFill>
                  <a:srgbClr val="0070C0"/>
                </a:solidFill>
              </a:rPr>
              <a:t>):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>
                <a:solidFill>
                  <a:srgbClr val="0070C0"/>
                </a:solidFill>
              </a:rPr>
              <a:t>    return {"message": </a:t>
            </a:r>
            <a:r>
              <a:rPr lang="en-US" altLang="ru-RU" sz="1200" dirty="0" err="1">
                <a:solidFill>
                  <a:srgbClr val="0070C0"/>
                </a:solidFill>
              </a:rPr>
              <a:t>f"This</a:t>
            </a:r>
            <a:r>
              <a:rPr lang="en-US" altLang="ru-RU" sz="1200" dirty="0">
                <a:solidFill>
                  <a:srgbClr val="0070C0"/>
                </a:solidFill>
              </a:rPr>
              <a:t> is /path/{</a:t>
            </a:r>
            <a:r>
              <a:rPr lang="en-US" altLang="ru-RU" sz="1200" dirty="0" err="1">
                <a:solidFill>
                  <a:srgbClr val="0070C0"/>
                </a:solidFill>
              </a:rPr>
              <a:t>path_id</a:t>
            </a:r>
            <a:r>
              <a:rPr lang="en-US" altLang="ru-RU" sz="1200" dirty="0">
                <a:solidFill>
                  <a:srgbClr val="0070C0"/>
                </a:solidFill>
              </a:rPr>
              <a:t>} endpoint, use post request to retrieve result"}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en-US" altLang="ru-RU" sz="12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>
                <a:solidFill>
                  <a:srgbClr val="0070C0"/>
                </a:solidFill>
              </a:rPr>
              <a:t># 4. Start the API application (on command line)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200" dirty="0">
                <a:solidFill>
                  <a:srgbClr val="0070C0"/>
                </a:solidFill>
              </a:rPr>
              <a:t># !</a:t>
            </a:r>
            <a:r>
              <a:rPr lang="en-US" altLang="ru-RU" sz="1200" dirty="0" err="1">
                <a:solidFill>
                  <a:srgbClr val="0070C0"/>
                </a:solidFill>
              </a:rPr>
              <a:t>uvicorn</a:t>
            </a:r>
            <a:r>
              <a:rPr lang="en-US" altLang="ru-RU" sz="1200" dirty="0">
                <a:solidFill>
                  <a:srgbClr val="0070C0"/>
                </a:solidFill>
              </a:rPr>
              <a:t> </a:t>
            </a:r>
            <a:r>
              <a:rPr lang="en-US" altLang="ru-RU" sz="1200" dirty="0" err="1">
                <a:solidFill>
                  <a:srgbClr val="0070C0"/>
                </a:solidFill>
              </a:rPr>
              <a:t>main:app</a:t>
            </a:r>
            <a:r>
              <a:rPr lang="en-US" altLang="ru-RU" sz="1200" dirty="0">
                <a:solidFill>
                  <a:srgbClr val="0070C0"/>
                </a:solidFill>
              </a:rPr>
              <a:t> --reload</a:t>
            </a:r>
            <a:endParaRPr lang="ru-RU" altLang="ru-RU" sz="1200" dirty="0">
              <a:solidFill>
                <a:srgbClr val="0070C0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019552" y="6394359"/>
            <a:ext cx="9093112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80" dirty="0">
                <a:solidFill>
                  <a:srgbClr val="0070C0"/>
                </a:solidFill>
              </a:rPr>
              <a:t>https://towardsdatascience.com/implementing-fastapi-in-10-minutes-d161cdd7c075</a:t>
            </a:r>
          </a:p>
        </p:txBody>
      </p:sp>
    </p:spTree>
    <p:extLst>
      <p:ext uri="{BB962C8B-B14F-4D97-AF65-F5344CB8AC3E}">
        <p14:creationId xmlns:p14="http://schemas.microsoft.com/office/powerpoint/2010/main" val="4479275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 noGrp="1" noChangeArrowheads="1"/>
          </p:cNvSpPr>
          <p:nvPr>
            <p:ph type="title"/>
          </p:nvPr>
        </p:nvSpPr>
        <p:spPr>
          <a:xfrm>
            <a:off x="2186433" y="443301"/>
            <a:ext cx="9093112" cy="1209994"/>
          </a:xfrm>
        </p:spPr>
        <p:txBody>
          <a:bodyPr/>
          <a:lstStyle/>
          <a:p>
            <a:pPr>
              <a:tabLst>
                <a:tab pos="0" algn="l"/>
                <a:tab pos="402853" algn="l"/>
                <a:tab pos="807137" algn="l"/>
                <a:tab pos="1211418" algn="l"/>
                <a:tab pos="1615702" algn="l"/>
                <a:tab pos="2019983" algn="l"/>
                <a:tab pos="2424266" algn="l"/>
                <a:tab pos="2828548" algn="l"/>
                <a:tab pos="3232830" algn="l"/>
                <a:tab pos="3637112" algn="l"/>
                <a:tab pos="4041395" algn="l"/>
                <a:tab pos="4445677" algn="l"/>
                <a:tab pos="4849960" algn="l"/>
                <a:tab pos="5254242" algn="l"/>
                <a:tab pos="5658524" algn="l"/>
                <a:tab pos="6062807" algn="l"/>
                <a:tab pos="6467089" algn="l"/>
                <a:tab pos="6871372" algn="l"/>
                <a:tab pos="7275654" algn="l"/>
                <a:tab pos="7679936" algn="l"/>
                <a:tab pos="8084219" algn="l"/>
              </a:tabLst>
            </a:pPr>
            <a:r>
              <a:rPr lang="en-US" altLang="ru-RU" sz="4320" dirty="0" err="1">
                <a:solidFill>
                  <a:srgbClr val="0070C0"/>
                </a:solidFill>
              </a:rPr>
              <a:t>FastAPI</a:t>
            </a:r>
            <a:r>
              <a:rPr lang="en-US" altLang="ru-RU" sz="4320" dirty="0">
                <a:solidFill>
                  <a:srgbClr val="0070C0"/>
                </a:solidFill>
              </a:rPr>
              <a:t> decorators</a:t>
            </a:r>
            <a:endParaRPr lang="ru-RU" altLang="ru-RU" sz="4320" dirty="0">
              <a:solidFill>
                <a:srgbClr val="0070C0"/>
              </a:solidFill>
            </a:endParaRPr>
          </a:p>
        </p:txBody>
      </p:sp>
      <p:sp>
        <p:nvSpPr>
          <p:cNvPr id="30723" name="Rectangle 2"/>
          <p:cNvSpPr txBox="1">
            <a:spLocks noChangeArrowheads="1"/>
          </p:cNvSpPr>
          <p:nvPr/>
        </p:nvSpPr>
        <p:spPr bwMode="auto">
          <a:xfrm>
            <a:off x="1082455" y="1653296"/>
            <a:ext cx="10367088" cy="4051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49263">
              <a:lnSpc>
                <a:spcPct val="88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1pPr>
            <a:lvl2pPr defTabSz="449263">
              <a:lnSpc>
                <a:spcPct val="88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2pPr>
            <a:lvl3pPr defTabSz="449263">
              <a:lnSpc>
                <a:spcPct val="88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3pPr>
            <a:lvl4pPr defTabSz="449263">
              <a:lnSpc>
                <a:spcPct val="88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4pPr>
            <a:lvl5pPr defTabSz="449263">
              <a:lnSpc>
                <a:spcPct val="88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2880" dirty="0">
                <a:solidFill>
                  <a:srgbClr val="0070C0"/>
                </a:solidFill>
              </a:rPr>
              <a:t>@</a:t>
            </a:r>
            <a:r>
              <a:rPr lang="en-US" altLang="ru-RU" sz="2880" dirty="0" err="1">
                <a:solidFill>
                  <a:srgbClr val="0070C0"/>
                </a:solidFill>
              </a:rPr>
              <a:t>app.get</a:t>
            </a:r>
            <a:r>
              <a:rPr lang="en-US" altLang="ru-RU" sz="2880" dirty="0">
                <a:solidFill>
                  <a:srgbClr val="0070C0"/>
                </a:solidFill>
              </a:rPr>
              <a:t>()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2880" dirty="0">
                <a:solidFill>
                  <a:srgbClr val="0070C0"/>
                </a:solidFill>
              </a:rPr>
              <a:t>@</a:t>
            </a:r>
            <a:r>
              <a:rPr lang="en-US" altLang="ru-RU" sz="2880" dirty="0" err="1">
                <a:solidFill>
                  <a:srgbClr val="0070C0"/>
                </a:solidFill>
              </a:rPr>
              <a:t>app.post</a:t>
            </a:r>
            <a:r>
              <a:rPr lang="en-US" altLang="ru-RU" sz="2880" dirty="0">
                <a:solidFill>
                  <a:srgbClr val="0070C0"/>
                </a:solidFill>
              </a:rPr>
              <a:t>()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2880" dirty="0">
                <a:solidFill>
                  <a:srgbClr val="0070C0"/>
                </a:solidFill>
              </a:rPr>
              <a:t>@</a:t>
            </a:r>
            <a:r>
              <a:rPr lang="en-US" altLang="ru-RU" sz="2880" dirty="0" err="1">
                <a:solidFill>
                  <a:srgbClr val="0070C0"/>
                </a:solidFill>
              </a:rPr>
              <a:t>app.put</a:t>
            </a:r>
            <a:r>
              <a:rPr lang="en-US" altLang="ru-RU" sz="2880" dirty="0">
                <a:solidFill>
                  <a:srgbClr val="0070C0"/>
                </a:solidFill>
              </a:rPr>
              <a:t>()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2880" dirty="0">
                <a:solidFill>
                  <a:srgbClr val="0070C0"/>
                </a:solidFill>
              </a:rPr>
              <a:t>@</a:t>
            </a:r>
            <a:r>
              <a:rPr lang="en-US" altLang="ru-RU" sz="2880" dirty="0" err="1">
                <a:solidFill>
                  <a:srgbClr val="0070C0"/>
                </a:solidFill>
              </a:rPr>
              <a:t>app.delete</a:t>
            </a:r>
            <a:r>
              <a:rPr lang="en-US" altLang="ru-RU" sz="2880" dirty="0">
                <a:solidFill>
                  <a:srgbClr val="0070C0"/>
                </a:solidFill>
              </a:rPr>
              <a:t>()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2880" dirty="0">
                <a:solidFill>
                  <a:srgbClr val="0070C0"/>
                </a:solidFill>
              </a:rPr>
              <a:t>@</a:t>
            </a:r>
            <a:r>
              <a:rPr lang="en-US" altLang="ru-RU" sz="2880" dirty="0" err="1">
                <a:solidFill>
                  <a:srgbClr val="0070C0"/>
                </a:solidFill>
              </a:rPr>
              <a:t>app.options</a:t>
            </a:r>
            <a:r>
              <a:rPr lang="en-US" altLang="ru-RU" sz="2880" dirty="0">
                <a:solidFill>
                  <a:srgbClr val="0070C0"/>
                </a:solidFill>
              </a:rPr>
              <a:t>()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2880" dirty="0">
                <a:solidFill>
                  <a:srgbClr val="0070C0"/>
                </a:solidFill>
              </a:rPr>
              <a:t>@</a:t>
            </a:r>
            <a:r>
              <a:rPr lang="en-US" altLang="ru-RU" sz="2880" dirty="0" err="1">
                <a:solidFill>
                  <a:srgbClr val="0070C0"/>
                </a:solidFill>
              </a:rPr>
              <a:t>app.head</a:t>
            </a:r>
            <a:r>
              <a:rPr lang="en-US" altLang="ru-RU" sz="2880" dirty="0">
                <a:solidFill>
                  <a:srgbClr val="0070C0"/>
                </a:solidFill>
              </a:rPr>
              <a:t>()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2880" dirty="0">
                <a:solidFill>
                  <a:srgbClr val="0070C0"/>
                </a:solidFill>
              </a:rPr>
              <a:t>@</a:t>
            </a:r>
            <a:r>
              <a:rPr lang="en-US" altLang="ru-RU" sz="2880" dirty="0" err="1">
                <a:solidFill>
                  <a:srgbClr val="0070C0"/>
                </a:solidFill>
              </a:rPr>
              <a:t>app.patch</a:t>
            </a:r>
            <a:r>
              <a:rPr lang="en-US" altLang="ru-RU" sz="2880" dirty="0">
                <a:solidFill>
                  <a:srgbClr val="0070C0"/>
                </a:solidFill>
              </a:rPr>
              <a:t>()</a:t>
            </a: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2880" dirty="0">
                <a:solidFill>
                  <a:srgbClr val="0070C0"/>
                </a:solidFill>
              </a:rPr>
              <a:t>@</a:t>
            </a:r>
            <a:r>
              <a:rPr lang="en-US" altLang="ru-RU" sz="2880" dirty="0" err="1">
                <a:solidFill>
                  <a:srgbClr val="0070C0"/>
                </a:solidFill>
              </a:rPr>
              <a:t>app.trace</a:t>
            </a:r>
            <a:r>
              <a:rPr lang="en-US" altLang="ru-RU" sz="2880" dirty="0">
                <a:solidFill>
                  <a:srgbClr val="0070C0"/>
                </a:solidFill>
              </a:rPr>
              <a:t>()</a:t>
            </a:r>
            <a:endParaRPr lang="ru-RU" altLang="ru-RU" sz="2880" dirty="0">
              <a:solidFill>
                <a:srgbClr val="0070C0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082455" y="6355147"/>
            <a:ext cx="6837128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60" dirty="0"/>
              <a:t>https://realpython.com/fastapi-python-web-apis/</a:t>
            </a:r>
            <a:endParaRPr lang="ru-RU" sz="2160" dirty="0"/>
          </a:p>
        </p:txBody>
      </p:sp>
    </p:spTree>
    <p:extLst>
      <p:ext uri="{BB962C8B-B14F-4D97-AF65-F5344CB8AC3E}">
        <p14:creationId xmlns:p14="http://schemas.microsoft.com/office/powerpoint/2010/main" val="15449272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FA1ED-B76C-E126-996D-4BBB84995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>
            <a:extLst>
              <a:ext uri="{FF2B5EF4-FFF2-40B4-BE49-F238E27FC236}">
                <a16:creationId xmlns:a16="http://schemas.microsoft.com/office/drawing/2014/main" id="{735E1C97-E00F-AC04-688A-93C56E3FAE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86433" y="443301"/>
            <a:ext cx="9093112" cy="1209994"/>
          </a:xfrm>
        </p:spPr>
        <p:txBody>
          <a:bodyPr/>
          <a:lstStyle/>
          <a:p>
            <a:pPr>
              <a:tabLst>
                <a:tab pos="0" algn="l"/>
                <a:tab pos="402853" algn="l"/>
                <a:tab pos="807137" algn="l"/>
                <a:tab pos="1211418" algn="l"/>
                <a:tab pos="1615702" algn="l"/>
                <a:tab pos="2019983" algn="l"/>
                <a:tab pos="2424266" algn="l"/>
                <a:tab pos="2828548" algn="l"/>
                <a:tab pos="3232830" algn="l"/>
                <a:tab pos="3637112" algn="l"/>
                <a:tab pos="4041395" algn="l"/>
                <a:tab pos="4445677" algn="l"/>
                <a:tab pos="4849960" algn="l"/>
                <a:tab pos="5254242" algn="l"/>
                <a:tab pos="5658524" algn="l"/>
                <a:tab pos="6062807" algn="l"/>
                <a:tab pos="6467089" algn="l"/>
                <a:tab pos="6871372" algn="l"/>
                <a:tab pos="7275654" algn="l"/>
                <a:tab pos="7679936" algn="l"/>
                <a:tab pos="8084219" algn="l"/>
              </a:tabLst>
            </a:pPr>
            <a:r>
              <a:rPr lang="ru-RU" altLang="ru-RU" sz="4320" dirty="0">
                <a:solidFill>
                  <a:srgbClr val="0070C0"/>
                </a:solidFill>
              </a:rPr>
              <a:t>Пример сервера 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4DA09CE4-1F99-6F72-CBE4-285BF7B25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454" y="1315939"/>
            <a:ext cx="10698213" cy="4051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49263">
              <a:lnSpc>
                <a:spcPct val="88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1pPr>
            <a:lvl2pPr defTabSz="449263">
              <a:lnSpc>
                <a:spcPct val="88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2pPr>
            <a:lvl3pPr defTabSz="449263">
              <a:lnSpc>
                <a:spcPct val="88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3pPr>
            <a:lvl4pPr defTabSz="449263">
              <a:lnSpc>
                <a:spcPct val="88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4pPr>
            <a:lvl5pPr defTabSz="449263">
              <a:lnSpc>
                <a:spcPct val="88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from </a:t>
            </a:r>
            <a:r>
              <a:rPr lang="en-US" altLang="ru-RU" sz="2000" dirty="0" err="1">
                <a:solidFill>
                  <a:srgbClr val="0070C0"/>
                </a:solidFill>
              </a:rPr>
              <a:t>fastapi</a:t>
            </a:r>
            <a:r>
              <a:rPr lang="en-US" altLang="ru-RU" sz="2000" dirty="0">
                <a:solidFill>
                  <a:srgbClr val="0070C0"/>
                </a:solidFill>
              </a:rPr>
              <a:t> import </a:t>
            </a:r>
            <a:r>
              <a:rPr lang="en-US" altLang="ru-RU" sz="2000" dirty="0" err="1">
                <a:solidFill>
                  <a:srgbClr val="0070C0"/>
                </a:solidFill>
              </a:rPr>
              <a:t>FastAPI</a:t>
            </a:r>
            <a:endParaRPr lang="en-US" altLang="ru-RU" sz="20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from </a:t>
            </a:r>
            <a:r>
              <a:rPr lang="en-US" altLang="ru-RU" sz="2000" dirty="0" err="1">
                <a:solidFill>
                  <a:srgbClr val="0070C0"/>
                </a:solidFill>
              </a:rPr>
              <a:t>pydantic</a:t>
            </a:r>
            <a:r>
              <a:rPr lang="en-US" altLang="ru-RU" sz="2000" dirty="0">
                <a:solidFill>
                  <a:srgbClr val="0070C0"/>
                </a:solidFill>
              </a:rPr>
              <a:t> import </a:t>
            </a:r>
            <a:r>
              <a:rPr lang="en-US" altLang="ru-RU" sz="2000" dirty="0" err="1">
                <a:solidFill>
                  <a:srgbClr val="0070C0"/>
                </a:solidFill>
              </a:rPr>
              <a:t>BaseModel</a:t>
            </a:r>
            <a:endParaRPr lang="en-US" altLang="ru-RU" sz="20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en-US" altLang="ru-RU" sz="20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# Define a </a:t>
            </a:r>
            <a:r>
              <a:rPr lang="en-US" altLang="ru-RU" sz="2000" dirty="0" err="1">
                <a:solidFill>
                  <a:srgbClr val="0070C0"/>
                </a:solidFill>
              </a:rPr>
              <a:t>Pydantic</a:t>
            </a:r>
            <a:r>
              <a:rPr lang="en-US" altLang="ru-RU" sz="2000" dirty="0">
                <a:solidFill>
                  <a:srgbClr val="0070C0"/>
                </a:solidFill>
              </a:rPr>
              <a:t> model for the expected JSON body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class Item(</a:t>
            </a:r>
            <a:r>
              <a:rPr lang="en-US" altLang="ru-RU" sz="2000" dirty="0" err="1">
                <a:solidFill>
                  <a:srgbClr val="0070C0"/>
                </a:solidFill>
              </a:rPr>
              <a:t>BaseModel</a:t>
            </a:r>
            <a:r>
              <a:rPr lang="en-US" altLang="ru-RU" sz="2000" dirty="0">
                <a:solidFill>
                  <a:srgbClr val="0070C0"/>
                </a:solidFill>
              </a:rPr>
              <a:t>):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    command: str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    time: float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en-US" altLang="ru-RU" sz="20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en-US" altLang="ru-RU" sz="20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app = </a:t>
            </a:r>
            <a:r>
              <a:rPr lang="en-US" altLang="ru-RU" sz="2000" dirty="0" err="1">
                <a:solidFill>
                  <a:srgbClr val="0070C0"/>
                </a:solidFill>
              </a:rPr>
              <a:t>FastAPI</a:t>
            </a:r>
            <a:r>
              <a:rPr lang="en-US" altLang="ru-RU" sz="2000" dirty="0">
                <a:solidFill>
                  <a:srgbClr val="0070C0"/>
                </a:solidFill>
              </a:rPr>
              <a:t>()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@app.post("/commands/")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def </a:t>
            </a:r>
            <a:r>
              <a:rPr lang="en-US" altLang="ru-RU" sz="2000" dirty="0" err="1">
                <a:solidFill>
                  <a:srgbClr val="0070C0"/>
                </a:solidFill>
              </a:rPr>
              <a:t>create_item</a:t>
            </a:r>
            <a:r>
              <a:rPr lang="en-US" altLang="ru-RU" sz="2000" dirty="0">
                <a:solidFill>
                  <a:srgbClr val="0070C0"/>
                </a:solidFill>
              </a:rPr>
              <a:t>(item: </a:t>
            </a:r>
            <a:r>
              <a:rPr lang="en-US" altLang="ru-RU" sz="2000" dirty="0" err="1">
                <a:solidFill>
                  <a:srgbClr val="0070C0"/>
                </a:solidFill>
              </a:rPr>
              <a:t>cmd</a:t>
            </a:r>
            <a:r>
              <a:rPr lang="en-US" altLang="ru-RU" sz="2000" dirty="0">
                <a:solidFill>
                  <a:srgbClr val="0070C0"/>
                </a:solidFill>
              </a:rPr>
              <a:t>):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    """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    Receives an item as a JSON body and returns it with a message.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    """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    return {"message": </a:t>
            </a:r>
            <a:r>
              <a:rPr lang="en-US" altLang="ru-RU" sz="2000" dirty="0" err="1">
                <a:solidFill>
                  <a:srgbClr val="0070C0"/>
                </a:solidFill>
              </a:rPr>
              <a:t>f"Command</a:t>
            </a:r>
            <a:r>
              <a:rPr lang="en-US" altLang="ru-RU" sz="2000" dirty="0">
                <a:solidFill>
                  <a:srgbClr val="0070C0"/>
                </a:solidFill>
              </a:rPr>
              <a:t> '{</a:t>
            </a:r>
            <a:r>
              <a:rPr lang="en-US" altLang="ru-RU" sz="2000" dirty="0" err="1">
                <a:solidFill>
                  <a:srgbClr val="0070C0"/>
                </a:solidFill>
              </a:rPr>
              <a:t>cmd.command</a:t>
            </a:r>
            <a:r>
              <a:rPr lang="en-US" altLang="ru-RU" sz="2000" dirty="0">
                <a:solidFill>
                  <a:srgbClr val="0070C0"/>
                </a:solidFill>
              </a:rPr>
              <a:t>}' executed successfully"}</a:t>
            </a:r>
            <a:endParaRPr lang="ru-RU" altLang="ru-RU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5992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ED3E6-036B-AF60-1C23-852F1B792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>
            <a:extLst>
              <a:ext uri="{FF2B5EF4-FFF2-40B4-BE49-F238E27FC236}">
                <a16:creationId xmlns:a16="http://schemas.microsoft.com/office/drawing/2014/main" id="{FBC3359E-130D-DBA7-57B9-4628759B34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86433" y="443301"/>
            <a:ext cx="9093112" cy="1209994"/>
          </a:xfrm>
        </p:spPr>
        <p:txBody>
          <a:bodyPr/>
          <a:lstStyle/>
          <a:p>
            <a:pPr>
              <a:tabLst>
                <a:tab pos="0" algn="l"/>
                <a:tab pos="402853" algn="l"/>
                <a:tab pos="807137" algn="l"/>
                <a:tab pos="1211418" algn="l"/>
                <a:tab pos="1615702" algn="l"/>
                <a:tab pos="2019983" algn="l"/>
                <a:tab pos="2424266" algn="l"/>
                <a:tab pos="2828548" algn="l"/>
                <a:tab pos="3232830" algn="l"/>
                <a:tab pos="3637112" algn="l"/>
                <a:tab pos="4041395" algn="l"/>
                <a:tab pos="4445677" algn="l"/>
                <a:tab pos="4849960" algn="l"/>
                <a:tab pos="5254242" algn="l"/>
                <a:tab pos="5658524" algn="l"/>
                <a:tab pos="6062807" algn="l"/>
                <a:tab pos="6467089" algn="l"/>
                <a:tab pos="6871372" algn="l"/>
                <a:tab pos="7275654" algn="l"/>
                <a:tab pos="7679936" algn="l"/>
                <a:tab pos="8084219" algn="l"/>
              </a:tabLst>
            </a:pPr>
            <a:r>
              <a:rPr lang="ru-RU" altLang="ru-RU" sz="4320" dirty="0">
                <a:solidFill>
                  <a:srgbClr val="0070C0"/>
                </a:solidFill>
              </a:rPr>
              <a:t>Клиент. </a:t>
            </a:r>
            <a:r>
              <a:rPr lang="en-US" altLang="ru-RU" sz="4320" dirty="0">
                <a:solidFill>
                  <a:srgbClr val="0070C0"/>
                </a:solidFill>
              </a:rPr>
              <a:t>Post </a:t>
            </a:r>
            <a:r>
              <a:rPr lang="ru-RU" altLang="ru-RU" sz="4320" dirty="0">
                <a:solidFill>
                  <a:srgbClr val="0070C0"/>
                </a:solidFill>
              </a:rPr>
              <a:t>с параметрами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2529FF14-2421-4D61-7911-9CAC7655F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454" y="1315939"/>
            <a:ext cx="10698213" cy="4051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49263">
              <a:lnSpc>
                <a:spcPct val="88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1pPr>
            <a:lvl2pPr defTabSz="449263">
              <a:lnSpc>
                <a:spcPct val="88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2pPr>
            <a:lvl3pPr defTabSz="449263">
              <a:lnSpc>
                <a:spcPct val="88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3pPr>
            <a:lvl4pPr defTabSz="449263">
              <a:lnSpc>
                <a:spcPct val="88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4pPr>
            <a:lvl5pPr defTabSz="449263">
              <a:lnSpc>
                <a:spcPct val="88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600" dirty="0">
                <a:solidFill>
                  <a:srgbClr val="0070C0"/>
                </a:solidFill>
              </a:rPr>
              <a:t>import requests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600" dirty="0">
                <a:solidFill>
                  <a:srgbClr val="0070C0"/>
                </a:solidFill>
              </a:rPr>
              <a:t>import </a:t>
            </a:r>
            <a:r>
              <a:rPr lang="en-US" altLang="ru-RU" sz="1600" dirty="0" err="1">
                <a:solidFill>
                  <a:srgbClr val="0070C0"/>
                </a:solidFill>
              </a:rPr>
              <a:t>json</a:t>
            </a:r>
            <a:endParaRPr lang="en-US" altLang="ru-RU" sz="16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en-US" altLang="ru-RU" sz="16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600" dirty="0" err="1">
                <a:solidFill>
                  <a:srgbClr val="0070C0"/>
                </a:solidFill>
              </a:rPr>
              <a:t>url</a:t>
            </a:r>
            <a:r>
              <a:rPr lang="en-US" altLang="ru-RU" sz="1600" dirty="0">
                <a:solidFill>
                  <a:srgbClr val="0070C0"/>
                </a:solidFill>
              </a:rPr>
              <a:t> = "http://127.0.0.1"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600" dirty="0">
                <a:solidFill>
                  <a:srgbClr val="0070C0"/>
                </a:solidFill>
              </a:rPr>
              <a:t># The JSON data to send (as a Python dictionary)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600" dirty="0">
                <a:solidFill>
                  <a:srgbClr val="0070C0"/>
                </a:solidFill>
              </a:rPr>
              <a:t>data = {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600" dirty="0">
                <a:solidFill>
                  <a:srgbClr val="0070C0"/>
                </a:solidFill>
              </a:rPr>
              <a:t>    "</a:t>
            </a:r>
            <a:r>
              <a:rPr lang="en-US" altLang="ru-RU" sz="1600" dirty="0" err="1">
                <a:solidFill>
                  <a:srgbClr val="0070C0"/>
                </a:solidFill>
              </a:rPr>
              <a:t>comand</a:t>
            </a:r>
            <a:r>
              <a:rPr lang="en-US" altLang="ru-RU" sz="1600" dirty="0">
                <a:solidFill>
                  <a:srgbClr val="0070C0"/>
                </a:solidFill>
              </a:rPr>
              <a:t>": "forward",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600" dirty="0">
                <a:solidFill>
                  <a:srgbClr val="0070C0"/>
                </a:solidFill>
              </a:rPr>
              <a:t>    "time": 1.00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600" dirty="0">
                <a:solidFill>
                  <a:srgbClr val="0070C0"/>
                </a:solidFill>
              </a:rPr>
              <a:t>}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600" dirty="0">
                <a:solidFill>
                  <a:srgbClr val="0070C0"/>
                </a:solidFill>
              </a:rPr>
              <a:t># </a:t>
            </a:r>
            <a:r>
              <a:rPr lang="ru-RU" altLang="ru-RU" sz="1600" dirty="0">
                <a:solidFill>
                  <a:srgbClr val="0070C0"/>
                </a:solidFill>
              </a:rPr>
              <a:t>Библиотека</a:t>
            </a:r>
            <a:r>
              <a:rPr lang="en-US" altLang="ru-RU" sz="1600" dirty="0">
                <a:solidFill>
                  <a:srgbClr val="0070C0"/>
                </a:solidFill>
              </a:rPr>
              <a:t> requests </a:t>
            </a:r>
            <a:r>
              <a:rPr lang="ru-RU" altLang="ru-RU" sz="1600" dirty="0">
                <a:solidFill>
                  <a:srgbClr val="0070C0"/>
                </a:solidFill>
              </a:rPr>
              <a:t>автоматически конвертирует </a:t>
            </a:r>
            <a:r>
              <a:rPr lang="en-US" altLang="ru-RU" sz="1600" dirty="0" err="1">
                <a:solidFill>
                  <a:srgbClr val="0070C0"/>
                </a:solidFill>
              </a:rPr>
              <a:t>dict</a:t>
            </a:r>
            <a:r>
              <a:rPr lang="en-US" altLang="ru-RU" sz="1600" dirty="0">
                <a:solidFill>
                  <a:srgbClr val="0070C0"/>
                </a:solidFill>
              </a:rPr>
              <a:t> </a:t>
            </a:r>
            <a:r>
              <a:rPr lang="ru-RU" altLang="ru-RU" sz="1600" dirty="0">
                <a:solidFill>
                  <a:srgbClr val="0070C0"/>
                </a:solidFill>
              </a:rPr>
              <a:t>в</a:t>
            </a:r>
            <a:r>
              <a:rPr lang="en-US" altLang="ru-RU" sz="1600" dirty="0">
                <a:solidFill>
                  <a:srgbClr val="0070C0"/>
                </a:solidFill>
              </a:rPr>
              <a:t> JSON 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600" dirty="0">
                <a:solidFill>
                  <a:srgbClr val="0070C0"/>
                </a:solidFill>
              </a:rPr>
              <a:t># </a:t>
            </a:r>
            <a:r>
              <a:rPr lang="ru-RU" altLang="ru-RU" sz="1600" dirty="0">
                <a:solidFill>
                  <a:srgbClr val="0070C0"/>
                </a:solidFill>
              </a:rPr>
              <a:t>и устанавливает</a:t>
            </a:r>
            <a:r>
              <a:rPr lang="en-US" altLang="ru-RU" sz="1600" dirty="0">
                <a:solidFill>
                  <a:srgbClr val="0070C0"/>
                </a:solidFill>
              </a:rPr>
              <a:t> </a:t>
            </a:r>
            <a:r>
              <a:rPr lang="ru-RU" altLang="ru-RU" sz="1600" dirty="0">
                <a:solidFill>
                  <a:srgbClr val="0070C0"/>
                </a:solidFill>
              </a:rPr>
              <a:t>заголовок </a:t>
            </a:r>
            <a:r>
              <a:rPr lang="en-US" altLang="ru-RU" sz="1600" dirty="0">
                <a:solidFill>
                  <a:srgbClr val="0070C0"/>
                </a:solidFill>
              </a:rPr>
              <a:t>'Content-Type: application/</a:t>
            </a:r>
            <a:r>
              <a:rPr lang="en-US" altLang="ru-RU" sz="1600" dirty="0" err="1">
                <a:solidFill>
                  <a:srgbClr val="0070C0"/>
                </a:solidFill>
              </a:rPr>
              <a:t>json</a:t>
            </a:r>
            <a:r>
              <a:rPr lang="en-US" altLang="ru-RU" sz="1600" dirty="0">
                <a:solidFill>
                  <a:srgbClr val="0070C0"/>
                </a:solidFill>
              </a:rPr>
              <a:t>’</a:t>
            </a:r>
            <a:r>
              <a:rPr lang="ru-RU" altLang="ru-RU" sz="1600" dirty="0">
                <a:solidFill>
                  <a:srgbClr val="0070C0"/>
                </a:solidFill>
              </a:rPr>
              <a:t> при использовании параметра</a:t>
            </a:r>
            <a:r>
              <a:rPr lang="en-US" altLang="ru-RU" sz="1600" dirty="0">
                <a:solidFill>
                  <a:srgbClr val="0070C0"/>
                </a:solidFill>
              </a:rPr>
              <a:t> '</a:t>
            </a:r>
            <a:r>
              <a:rPr lang="en-US" altLang="ru-RU" sz="1600" dirty="0" err="1">
                <a:solidFill>
                  <a:srgbClr val="0070C0"/>
                </a:solidFill>
              </a:rPr>
              <a:t>json</a:t>
            </a:r>
            <a:r>
              <a:rPr lang="en-US" altLang="ru-RU" sz="1600" dirty="0">
                <a:solidFill>
                  <a:srgbClr val="0070C0"/>
                </a:solidFill>
              </a:rPr>
              <a:t>' parameter.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600" dirty="0">
                <a:solidFill>
                  <a:srgbClr val="0070C0"/>
                </a:solidFill>
              </a:rPr>
              <a:t>response = </a:t>
            </a:r>
            <a:r>
              <a:rPr lang="en-US" altLang="ru-RU" sz="1600" b="1" dirty="0" err="1">
                <a:solidFill>
                  <a:srgbClr val="0070C0"/>
                </a:solidFill>
              </a:rPr>
              <a:t>requests.post</a:t>
            </a:r>
            <a:r>
              <a:rPr lang="en-US" altLang="ru-RU" sz="1600" b="1" dirty="0">
                <a:solidFill>
                  <a:srgbClr val="0070C0"/>
                </a:solidFill>
              </a:rPr>
              <a:t>(</a:t>
            </a:r>
            <a:r>
              <a:rPr lang="en-US" altLang="ru-RU" sz="1600" b="1" dirty="0" err="1">
                <a:solidFill>
                  <a:srgbClr val="0070C0"/>
                </a:solidFill>
              </a:rPr>
              <a:t>url</a:t>
            </a:r>
            <a:r>
              <a:rPr lang="en-US" altLang="ru-RU" sz="1600" b="1" dirty="0">
                <a:solidFill>
                  <a:srgbClr val="0070C0"/>
                </a:solidFill>
              </a:rPr>
              <a:t>, </a:t>
            </a:r>
            <a:r>
              <a:rPr lang="en-US" altLang="ru-RU" sz="1600" b="1" dirty="0" err="1">
                <a:solidFill>
                  <a:srgbClr val="0070C0"/>
                </a:solidFill>
              </a:rPr>
              <a:t>json</a:t>
            </a:r>
            <a:r>
              <a:rPr lang="en-US" altLang="ru-RU" sz="1600" b="1" dirty="0">
                <a:solidFill>
                  <a:srgbClr val="0070C0"/>
                </a:solidFill>
              </a:rPr>
              <a:t>=data)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en-US" altLang="ru-RU" sz="16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600" dirty="0">
                <a:solidFill>
                  <a:srgbClr val="0070C0"/>
                </a:solidFill>
              </a:rPr>
              <a:t># Check the response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600" dirty="0">
                <a:solidFill>
                  <a:srgbClr val="0070C0"/>
                </a:solidFill>
              </a:rPr>
              <a:t>if </a:t>
            </a:r>
            <a:r>
              <a:rPr lang="en-US" altLang="ru-RU" sz="1600" dirty="0" err="1">
                <a:solidFill>
                  <a:srgbClr val="0070C0"/>
                </a:solidFill>
              </a:rPr>
              <a:t>response.status_code</a:t>
            </a:r>
            <a:r>
              <a:rPr lang="en-US" altLang="ru-RU" sz="1600" dirty="0">
                <a:solidFill>
                  <a:srgbClr val="0070C0"/>
                </a:solidFill>
              </a:rPr>
              <a:t> == 200: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600" dirty="0">
                <a:solidFill>
                  <a:srgbClr val="0070C0"/>
                </a:solidFill>
              </a:rPr>
              <a:t>    print("Request successful!")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600" dirty="0">
                <a:solidFill>
                  <a:srgbClr val="0070C0"/>
                </a:solidFill>
              </a:rPr>
              <a:t>    print("Response JSON:", </a:t>
            </a:r>
            <a:r>
              <a:rPr lang="en-US" altLang="ru-RU" sz="1600" dirty="0" err="1">
                <a:solidFill>
                  <a:srgbClr val="0070C0"/>
                </a:solidFill>
              </a:rPr>
              <a:t>response.json</a:t>
            </a:r>
            <a:r>
              <a:rPr lang="en-US" altLang="ru-RU" sz="1600" dirty="0">
                <a:solidFill>
                  <a:srgbClr val="0070C0"/>
                </a:solidFill>
              </a:rPr>
              <a:t>())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600" dirty="0">
                <a:solidFill>
                  <a:srgbClr val="0070C0"/>
                </a:solidFill>
              </a:rPr>
              <a:t>else: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600" dirty="0">
                <a:solidFill>
                  <a:srgbClr val="0070C0"/>
                </a:solidFill>
              </a:rPr>
              <a:t>    print(</a:t>
            </a:r>
            <a:r>
              <a:rPr lang="en-US" altLang="ru-RU" sz="1600" dirty="0" err="1">
                <a:solidFill>
                  <a:srgbClr val="0070C0"/>
                </a:solidFill>
              </a:rPr>
              <a:t>f"Request</a:t>
            </a:r>
            <a:r>
              <a:rPr lang="en-US" altLang="ru-RU" sz="1600" dirty="0">
                <a:solidFill>
                  <a:srgbClr val="0070C0"/>
                </a:solidFill>
              </a:rPr>
              <a:t> failed with status code {</a:t>
            </a:r>
            <a:r>
              <a:rPr lang="en-US" altLang="ru-RU" sz="1600" dirty="0" err="1">
                <a:solidFill>
                  <a:srgbClr val="0070C0"/>
                </a:solidFill>
              </a:rPr>
              <a:t>response.status_code</a:t>
            </a:r>
            <a:r>
              <a:rPr lang="en-US" altLang="ru-RU" sz="1600" dirty="0">
                <a:solidFill>
                  <a:srgbClr val="0070C0"/>
                </a:solidFill>
              </a:rPr>
              <a:t>}")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600" dirty="0">
                <a:solidFill>
                  <a:srgbClr val="0070C0"/>
                </a:solidFill>
              </a:rPr>
              <a:t>    print("Response text:", </a:t>
            </a:r>
            <a:r>
              <a:rPr lang="en-US" altLang="ru-RU" sz="1600" dirty="0" err="1">
                <a:solidFill>
                  <a:srgbClr val="0070C0"/>
                </a:solidFill>
              </a:rPr>
              <a:t>response.text</a:t>
            </a:r>
            <a:r>
              <a:rPr lang="en-US" altLang="ru-RU" sz="1600" dirty="0">
                <a:solidFill>
                  <a:srgbClr val="0070C0"/>
                </a:solidFill>
              </a:rPr>
              <a:t>)</a:t>
            </a:r>
            <a:endParaRPr lang="ru-RU" altLang="ru-RU" sz="1600" dirty="0">
              <a:solidFill>
                <a:srgbClr val="0070C0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087552-1FD6-8634-02BA-0599D072CDD8}"/>
              </a:ext>
            </a:extLst>
          </p:cNvPr>
          <p:cNvSpPr/>
          <p:nvPr/>
        </p:nvSpPr>
        <p:spPr>
          <a:xfrm>
            <a:off x="1082455" y="6355147"/>
            <a:ext cx="6837128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60" dirty="0"/>
              <a:t>https://realpython.com/fastapi-python-web-apis/</a:t>
            </a:r>
            <a:endParaRPr lang="ru-RU" sz="2160" dirty="0"/>
          </a:p>
        </p:txBody>
      </p:sp>
    </p:spTree>
    <p:extLst>
      <p:ext uri="{BB962C8B-B14F-4D97-AF65-F5344CB8AC3E}">
        <p14:creationId xmlns:p14="http://schemas.microsoft.com/office/powerpoint/2010/main" val="23691009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C5F08-C51C-B687-E139-30361453B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>
            <a:extLst>
              <a:ext uri="{FF2B5EF4-FFF2-40B4-BE49-F238E27FC236}">
                <a16:creationId xmlns:a16="http://schemas.microsoft.com/office/drawing/2014/main" id="{8AB79EA8-57CD-CB25-1C53-F650D8B483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86432" y="443301"/>
            <a:ext cx="9766081" cy="1209994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402853" algn="l"/>
                <a:tab pos="807137" algn="l"/>
                <a:tab pos="1211418" algn="l"/>
                <a:tab pos="1615702" algn="l"/>
                <a:tab pos="2019983" algn="l"/>
                <a:tab pos="2424266" algn="l"/>
                <a:tab pos="2828548" algn="l"/>
                <a:tab pos="3232830" algn="l"/>
                <a:tab pos="3637112" algn="l"/>
                <a:tab pos="4041395" algn="l"/>
                <a:tab pos="4445677" algn="l"/>
                <a:tab pos="4849960" algn="l"/>
                <a:tab pos="5254242" algn="l"/>
                <a:tab pos="5658524" algn="l"/>
                <a:tab pos="6062807" algn="l"/>
                <a:tab pos="6467089" algn="l"/>
                <a:tab pos="6871372" algn="l"/>
                <a:tab pos="7275654" algn="l"/>
                <a:tab pos="7679936" algn="l"/>
                <a:tab pos="8084219" algn="l"/>
              </a:tabLst>
            </a:pPr>
            <a:r>
              <a:rPr lang="ru-RU" altLang="ru-RU" sz="4320" dirty="0">
                <a:solidFill>
                  <a:srgbClr val="0070C0"/>
                </a:solidFill>
              </a:rPr>
              <a:t>Клиент</a:t>
            </a:r>
            <a:r>
              <a:rPr lang="en-US" altLang="ru-RU" sz="4320" dirty="0">
                <a:solidFill>
                  <a:srgbClr val="0070C0"/>
                </a:solidFill>
              </a:rPr>
              <a:t>. Get </a:t>
            </a:r>
            <a:r>
              <a:rPr lang="ru-RU" altLang="ru-RU" sz="4320" dirty="0">
                <a:solidFill>
                  <a:srgbClr val="0070C0"/>
                </a:solidFill>
              </a:rPr>
              <a:t>с параметрами 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4DC1808-2CDE-ADFE-E32A-9760B95DE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863" y="1315939"/>
            <a:ext cx="9176804" cy="4949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49263">
              <a:lnSpc>
                <a:spcPct val="88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1pPr>
            <a:lvl2pPr defTabSz="449263">
              <a:lnSpc>
                <a:spcPct val="88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2pPr>
            <a:lvl3pPr defTabSz="449263">
              <a:lnSpc>
                <a:spcPct val="88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3pPr>
            <a:lvl4pPr defTabSz="449263">
              <a:lnSpc>
                <a:spcPct val="88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4pPr>
            <a:lvl5pPr defTabSz="449263">
              <a:lnSpc>
                <a:spcPct val="88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import requests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import </a:t>
            </a:r>
            <a:r>
              <a:rPr lang="en-US" altLang="ru-RU" sz="2000" dirty="0" err="1">
                <a:solidFill>
                  <a:srgbClr val="0070C0"/>
                </a:solidFill>
              </a:rPr>
              <a:t>json</a:t>
            </a:r>
            <a:endParaRPr lang="en-US" altLang="ru-RU" sz="20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import time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en-US" altLang="ru-RU" sz="20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 err="1">
                <a:solidFill>
                  <a:srgbClr val="0070C0"/>
                </a:solidFill>
              </a:rPr>
              <a:t>url</a:t>
            </a:r>
            <a:r>
              <a:rPr lang="en-US" altLang="ru-RU" sz="2000" dirty="0">
                <a:solidFill>
                  <a:srgbClr val="0070C0"/>
                </a:solidFill>
              </a:rPr>
              <a:t> = "http://localhost:8080/commands"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#"http://127.0.0.1:8080/"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# The JSON data to send (as a Python dictionary)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data = {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    "command": "forward",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    "time": 1.00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}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 err="1">
                <a:solidFill>
                  <a:srgbClr val="0070C0"/>
                </a:solidFill>
              </a:rPr>
              <a:t>snd</a:t>
            </a:r>
            <a:r>
              <a:rPr lang="en-US" altLang="ru-RU" sz="2000" dirty="0">
                <a:solidFill>
                  <a:srgbClr val="0070C0"/>
                </a:solidFill>
              </a:rPr>
              <a:t>()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 err="1">
                <a:solidFill>
                  <a:srgbClr val="0070C0"/>
                </a:solidFill>
              </a:rPr>
              <a:t>time.sleep</a:t>
            </a:r>
            <a:r>
              <a:rPr lang="en-US" altLang="ru-RU" sz="2000" dirty="0">
                <a:solidFill>
                  <a:srgbClr val="0070C0"/>
                </a:solidFill>
              </a:rPr>
              <a:t>(1) # Pauses the program for 1 second</a:t>
            </a:r>
            <a:endParaRPr lang="ru-RU" altLang="ru-RU" sz="20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ru-RU" altLang="ru-RU" sz="20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ru-RU" altLang="ru-RU" sz="2000" dirty="0">
                <a:solidFill>
                  <a:srgbClr val="0070C0"/>
                </a:solidFill>
              </a:rPr>
              <a:t>Аналог</a:t>
            </a:r>
            <a:r>
              <a:rPr lang="en-US" altLang="ru-RU" sz="2000" dirty="0">
                <a:solidFill>
                  <a:srgbClr val="0070C0"/>
                </a:solidFill>
              </a:rPr>
              <a:t>: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b="1" dirty="0">
                <a:solidFill>
                  <a:srgbClr val="0070C0"/>
                </a:solidFill>
              </a:rPr>
              <a:t>curl</a:t>
            </a:r>
            <a:r>
              <a:rPr lang="en-US" altLang="ru-RU" sz="2000" dirty="0">
                <a:solidFill>
                  <a:srgbClr val="0070C0"/>
                </a:solidFill>
              </a:rPr>
              <a:t> -X GET "http://127.0.0.1:8080/commands" -H "Content-Type: application/</a:t>
            </a:r>
            <a:r>
              <a:rPr lang="en-US" altLang="ru-RU" sz="2000" dirty="0" err="1">
                <a:solidFill>
                  <a:srgbClr val="0070C0"/>
                </a:solidFill>
              </a:rPr>
              <a:t>json</a:t>
            </a:r>
            <a:r>
              <a:rPr lang="en-US" altLang="ru-RU" sz="2000" dirty="0">
                <a:solidFill>
                  <a:srgbClr val="0070C0"/>
                </a:solidFill>
              </a:rPr>
              <a:t>" -d </a:t>
            </a:r>
            <a:r>
              <a:rPr lang="en-US" altLang="ru-RU" sz="2000" b="1" dirty="0">
                <a:solidFill>
                  <a:srgbClr val="0070C0"/>
                </a:solidFill>
              </a:rPr>
              <a:t>"{\"command\":\"</a:t>
            </a:r>
            <a:r>
              <a:rPr lang="en-US" altLang="ru-RU" sz="2000" b="1" dirty="0" err="1">
                <a:solidFill>
                  <a:srgbClr val="0070C0"/>
                </a:solidFill>
              </a:rPr>
              <a:t>forvard</a:t>
            </a:r>
            <a:r>
              <a:rPr lang="en-US" altLang="ru-RU" sz="2000" b="1" dirty="0">
                <a:solidFill>
                  <a:srgbClr val="0070C0"/>
                </a:solidFill>
              </a:rPr>
              <a:t>\", \"time\":\"1\" }</a:t>
            </a:r>
            <a:r>
              <a:rPr lang="en-US" altLang="ru-RU" sz="2000" dirty="0">
                <a:solidFill>
                  <a:srgbClr val="0070C0"/>
                </a:solidFill>
              </a:rPr>
              <a:t>"</a:t>
            </a:r>
            <a:endParaRPr lang="ru-RU" altLang="ru-RU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2972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FA39A-9E77-A1AB-2EAE-1C23027B6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>
            <a:extLst>
              <a:ext uri="{FF2B5EF4-FFF2-40B4-BE49-F238E27FC236}">
                <a16:creationId xmlns:a16="http://schemas.microsoft.com/office/drawing/2014/main" id="{1AE3D2C1-36FE-9844-9B0D-8CB9637F96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8878" y="244136"/>
            <a:ext cx="9691889" cy="6613863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402853" algn="l"/>
                <a:tab pos="807137" algn="l"/>
                <a:tab pos="1211418" algn="l"/>
                <a:tab pos="1615702" algn="l"/>
                <a:tab pos="2019983" algn="l"/>
                <a:tab pos="2424266" algn="l"/>
                <a:tab pos="2828548" algn="l"/>
                <a:tab pos="3232830" algn="l"/>
                <a:tab pos="3637112" algn="l"/>
                <a:tab pos="4041395" algn="l"/>
                <a:tab pos="4445677" algn="l"/>
                <a:tab pos="4849960" algn="l"/>
                <a:tab pos="5254242" algn="l"/>
                <a:tab pos="5658524" algn="l"/>
                <a:tab pos="6062807" algn="l"/>
                <a:tab pos="6467089" algn="l"/>
                <a:tab pos="6871372" algn="l"/>
                <a:tab pos="7275654" algn="l"/>
                <a:tab pos="7679936" algn="l"/>
                <a:tab pos="8084219" algn="l"/>
              </a:tabLst>
            </a:pPr>
            <a:r>
              <a:rPr lang="ru-RU" altLang="ru-RU" sz="3200" dirty="0">
                <a:solidFill>
                  <a:srgbClr val="0070C0"/>
                </a:solidFill>
              </a:rPr>
              <a:t>Библиотека </a:t>
            </a:r>
            <a:r>
              <a:rPr lang="en-US" altLang="ru-RU" sz="3200" dirty="0" err="1">
                <a:solidFill>
                  <a:srgbClr val="0070C0"/>
                </a:solidFill>
              </a:rPr>
              <a:t>cpp-httplib.h</a:t>
            </a:r>
            <a:r>
              <a:rPr lang="en-US" altLang="ru-RU" sz="3200" dirty="0">
                <a:solidFill>
                  <a:srgbClr val="0070C0"/>
                </a:solidFill>
              </a:rPr>
              <a:t> </a:t>
            </a:r>
            <a:r>
              <a:rPr lang="ru-RU" altLang="ru-RU" sz="3200" dirty="0">
                <a:solidFill>
                  <a:srgbClr val="0070C0"/>
                </a:solidFill>
              </a:rPr>
              <a:t>и </a:t>
            </a:r>
            <a:r>
              <a:rPr lang="en-US" altLang="ru-RU" sz="3200" dirty="0">
                <a:solidFill>
                  <a:srgbClr val="0070C0"/>
                </a:solidFill>
              </a:rPr>
              <a:t>json.hpp (</a:t>
            </a:r>
            <a:r>
              <a:rPr lang="en-US" altLang="ru-RU" sz="3200" dirty="0" err="1">
                <a:solidFill>
                  <a:srgbClr val="0070C0"/>
                </a:solidFill>
              </a:rPr>
              <a:t>nlohmann</a:t>
            </a:r>
            <a:r>
              <a:rPr lang="en-US" altLang="ru-RU" sz="3200" dirty="0">
                <a:solidFill>
                  <a:srgbClr val="0070C0"/>
                </a:solidFill>
              </a:rPr>
              <a:t>/</a:t>
            </a:r>
            <a:r>
              <a:rPr lang="en-US" altLang="ru-RU" sz="3200" dirty="0" err="1">
                <a:solidFill>
                  <a:srgbClr val="0070C0"/>
                </a:solidFill>
              </a:rPr>
              <a:t>json</a:t>
            </a:r>
            <a:r>
              <a:rPr lang="en-US" altLang="ru-RU" sz="3200" dirty="0">
                <a:solidFill>
                  <a:srgbClr val="0070C0"/>
                </a:solidFill>
              </a:rPr>
              <a:t>)</a:t>
            </a:r>
            <a:endParaRPr lang="ru-RU" altLang="ru-RU" sz="3200" dirty="0">
              <a:solidFill>
                <a:srgbClr val="0070C0"/>
              </a:solidFill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10F11079-E7C4-9142-CF43-4228F12FE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6366" y="1466859"/>
            <a:ext cx="9887567" cy="529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49263">
              <a:lnSpc>
                <a:spcPct val="88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1pPr>
            <a:lvl2pPr defTabSz="449263">
              <a:lnSpc>
                <a:spcPct val="88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2pPr>
            <a:lvl3pPr defTabSz="449263">
              <a:lnSpc>
                <a:spcPct val="88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3pPr>
            <a:lvl4pPr defTabSz="449263">
              <a:lnSpc>
                <a:spcPct val="88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4pPr>
            <a:lvl5pPr defTabSz="449263">
              <a:lnSpc>
                <a:spcPct val="88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ru-RU" altLang="ru-RU" sz="2400" dirty="0">
                <a:solidFill>
                  <a:srgbClr val="0070C0"/>
                </a:solidFill>
              </a:rPr>
              <a:t>Для разработки  </a:t>
            </a:r>
            <a:r>
              <a:rPr lang="en-US" altLang="ru-RU" sz="2400" dirty="0">
                <a:solidFill>
                  <a:srgbClr val="0070C0"/>
                </a:solidFill>
              </a:rPr>
              <a:t>rest </a:t>
            </a:r>
            <a:r>
              <a:rPr lang="ru-RU" altLang="ru-RU" sz="2400" dirty="0">
                <a:solidFill>
                  <a:srgbClr val="0070C0"/>
                </a:solidFill>
              </a:rPr>
              <a:t>сервера на </a:t>
            </a:r>
            <a:r>
              <a:rPr lang="en-US" altLang="ru-RU" sz="2400" dirty="0">
                <a:solidFill>
                  <a:srgbClr val="0070C0"/>
                </a:solidFill>
              </a:rPr>
              <a:t>C++ </a:t>
            </a:r>
            <a:r>
              <a:rPr lang="ru-RU" altLang="ru-RU" sz="2400" dirty="0">
                <a:solidFill>
                  <a:srgbClr val="0070C0"/>
                </a:solidFill>
              </a:rPr>
              <a:t>можно использовать 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400" dirty="0" err="1">
                <a:solidFill>
                  <a:srgbClr val="0070C0"/>
                </a:solidFill>
              </a:rPr>
              <a:t>cpp-httplib</a:t>
            </a:r>
            <a:endParaRPr lang="ru-RU" altLang="ru-RU" sz="24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ru-RU" altLang="ru-RU" sz="24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ru-RU" altLang="ru-RU" sz="2400" dirty="0">
                <a:solidFill>
                  <a:srgbClr val="0070C0"/>
                </a:solidFill>
              </a:rPr>
              <a:t>Скачать исходный код можно отсюда (тут есть и пример)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400" dirty="0">
                <a:solidFill>
                  <a:srgbClr val="0070C0"/>
                </a:solidFill>
                <a:hlinkClick r:id="rId3"/>
              </a:rPr>
              <a:t>https://github.com/yhirose/cpp-httplib.git</a:t>
            </a:r>
            <a:endParaRPr lang="ru-RU" altLang="ru-RU" sz="24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ru-RU" altLang="ru-RU" sz="24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ru-RU" altLang="ru-RU" sz="2400" dirty="0">
                <a:solidFill>
                  <a:srgbClr val="0070C0"/>
                </a:solidFill>
              </a:rPr>
              <a:t>Подключить в проект </a:t>
            </a:r>
            <a:r>
              <a:rPr lang="en-US" altLang="ru-RU" sz="2400" dirty="0" err="1">
                <a:solidFill>
                  <a:srgbClr val="0070C0"/>
                </a:solidFill>
              </a:rPr>
              <a:t>cpp-httplib</a:t>
            </a:r>
            <a:r>
              <a:rPr lang="ru-RU" altLang="ru-RU" sz="2400" dirty="0">
                <a:solidFill>
                  <a:srgbClr val="0070C0"/>
                </a:solidFill>
              </a:rPr>
              <a:t> можно при помощи </a:t>
            </a:r>
            <a:r>
              <a:rPr lang="en-US" altLang="ru-RU" sz="2400" dirty="0" err="1">
                <a:solidFill>
                  <a:srgbClr val="0070C0"/>
                </a:solidFill>
              </a:rPr>
              <a:t>FetchContent</a:t>
            </a:r>
            <a:endParaRPr lang="en-US" altLang="ru-RU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9399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61343-D91C-F10B-31AE-3F322089C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>
            <a:extLst>
              <a:ext uri="{FF2B5EF4-FFF2-40B4-BE49-F238E27FC236}">
                <a16:creationId xmlns:a16="http://schemas.microsoft.com/office/drawing/2014/main" id="{E28DDBF8-1AC9-CDBF-06AC-657DD88B84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8878" y="244136"/>
            <a:ext cx="9691889" cy="6613863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402853" algn="l"/>
                <a:tab pos="807137" algn="l"/>
                <a:tab pos="1211418" algn="l"/>
                <a:tab pos="1615702" algn="l"/>
                <a:tab pos="2019983" algn="l"/>
                <a:tab pos="2424266" algn="l"/>
                <a:tab pos="2828548" algn="l"/>
                <a:tab pos="3232830" algn="l"/>
                <a:tab pos="3637112" algn="l"/>
                <a:tab pos="4041395" algn="l"/>
                <a:tab pos="4445677" algn="l"/>
                <a:tab pos="4849960" algn="l"/>
                <a:tab pos="5254242" algn="l"/>
                <a:tab pos="5658524" algn="l"/>
                <a:tab pos="6062807" algn="l"/>
                <a:tab pos="6467089" algn="l"/>
                <a:tab pos="6871372" algn="l"/>
                <a:tab pos="7275654" algn="l"/>
                <a:tab pos="7679936" algn="l"/>
                <a:tab pos="8084219" algn="l"/>
              </a:tabLst>
            </a:pPr>
            <a:r>
              <a:rPr lang="ru-RU" altLang="ru-RU" sz="3200" dirty="0">
                <a:solidFill>
                  <a:srgbClr val="0070C0"/>
                </a:solidFill>
              </a:rPr>
              <a:t>Пример сервера на </a:t>
            </a:r>
            <a:r>
              <a:rPr lang="en-US" altLang="ru-RU" sz="3200" dirty="0" err="1">
                <a:solidFill>
                  <a:srgbClr val="0070C0"/>
                </a:solidFill>
              </a:rPr>
              <a:t>cpp-httplib.h</a:t>
            </a:r>
            <a:r>
              <a:rPr lang="en-US" altLang="ru-RU" sz="3200" dirty="0">
                <a:solidFill>
                  <a:srgbClr val="0070C0"/>
                </a:solidFill>
              </a:rPr>
              <a:t> </a:t>
            </a:r>
            <a:r>
              <a:rPr lang="ru-RU" altLang="ru-RU" sz="3200" dirty="0">
                <a:solidFill>
                  <a:srgbClr val="0070C0"/>
                </a:solidFill>
              </a:rPr>
              <a:t>и </a:t>
            </a:r>
            <a:r>
              <a:rPr lang="en-US" altLang="ru-RU" sz="3200" dirty="0">
                <a:solidFill>
                  <a:srgbClr val="0070C0"/>
                </a:solidFill>
              </a:rPr>
              <a:t>json.hpp (</a:t>
            </a:r>
            <a:r>
              <a:rPr lang="en-US" altLang="ru-RU" sz="3200" dirty="0" err="1">
                <a:solidFill>
                  <a:srgbClr val="0070C0"/>
                </a:solidFill>
              </a:rPr>
              <a:t>nlohmann</a:t>
            </a:r>
            <a:r>
              <a:rPr lang="en-US" altLang="ru-RU" sz="3200" dirty="0">
                <a:solidFill>
                  <a:srgbClr val="0070C0"/>
                </a:solidFill>
              </a:rPr>
              <a:t>/</a:t>
            </a:r>
            <a:r>
              <a:rPr lang="en-US" altLang="ru-RU" sz="3200" dirty="0" err="1">
                <a:solidFill>
                  <a:srgbClr val="0070C0"/>
                </a:solidFill>
              </a:rPr>
              <a:t>json</a:t>
            </a:r>
            <a:r>
              <a:rPr lang="en-US" altLang="ru-RU" sz="3200" dirty="0">
                <a:solidFill>
                  <a:srgbClr val="0070C0"/>
                </a:solidFill>
              </a:rPr>
              <a:t>)</a:t>
            </a:r>
            <a:endParaRPr lang="ru-RU" altLang="ru-RU" sz="3200" dirty="0">
              <a:solidFill>
                <a:srgbClr val="0070C0"/>
              </a:solidFill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A07EA7C-EE2E-A5FC-FB34-CFC508AA6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0955" y="1466859"/>
            <a:ext cx="9072978" cy="529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49263">
              <a:lnSpc>
                <a:spcPct val="88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1pPr>
            <a:lvl2pPr defTabSz="449263">
              <a:lnSpc>
                <a:spcPct val="88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2pPr>
            <a:lvl3pPr defTabSz="449263">
              <a:lnSpc>
                <a:spcPct val="88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3pPr>
            <a:lvl4pPr defTabSz="449263">
              <a:lnSpc>
                <a:spcPct val="88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4pPr>
            <a:lvl5pPr defTabSz="449263">
              <a:lnSpc>
                <a:spcPct val="88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#include &lt;iostream&gt;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#include "</a:t>
            </a:r>
            <a:r>
              <a:rPr lang="en-US" altLang="ru-RU" sz="1000" dirty="0" err="1">
                <a:solidFill>
                  <a:srgbClr val="0070C0"/>
                </a:solidFill>
              </a:rPr>
              <a:t>httplib.h</a:t>
            </a:r>
            <a:r>
              <a:rPr lang="en-US" altLang="ru-RU" sz="1000" dirty="0">
                <a:solidFill>
                  <a:srgbClr val="0070C0"/>
                </a:solidFill>
              </a:rPr>
              <a:t>"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#include "json.hpp" // </a:t>
            </a:r>
            <a:r>
              <a:rPr lang="en-US" altLang="ru-RU" sz="1000" dirty="0" err="1">
                <a:solidFill>
                  <a:srgbClr val="0070C0"/>
                </a:solidFill>
              </a:rPr>
              <a:t>nlohmann</a:t>
            </a:r>
            <a:r>
              <a:rPr lang="en-US" altLang="ru-RU" sz="1000" dirty="0">
                <a:solidFill>
                  <a:srgbClr val="0070C0"/>
                </a:solidFill>
              </a:rPr>
              <a:t>/json.hpp "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using </a:t>
            </a:r>
            <a:r>
              <a:rPr lang="en-US" altLang="ru-RU" sz="1000" dirty="0" err="1">
                <a:solidFill>
                  <a:srgbClr val="0070C0"/>
                </a:solidFill>
              </a:rPr>
              <a:t>json</a:t>
            </a:r>
            <a:r>
              <a:rPr lang="en-US" altLang="ru-RU" sz="1000" dirty="0">
                <a:solidFill>
                  <a:srgbClr val="0070C0"/>
                </a:solidFill>
              </a:rPr>
              <a:t> = </a:t>
            </a:r>
            <a:r>
              <a:rPr lang="en-US" altLang="ru-RU" sz="1000" dirty="0" err="1">
                <a:solidFill>
                  <a:srgbClr val="0070C0"/>
                </a:solidFill>
              </a:rPr>
              <a:t>nlohmann</a:t>
            </a:r>
            <a:r>
              <a:rPr lang="en-US" altLang="ru-RU" sz="1000" dirty="0">
                <a:solidFill>
                  <a:srgbClr val="0070C0"/>
                </a:solidFill>
              </a:rPr>
              <a:t>::</a:t>
            </a:r>
            <a:r>
              <a:rPr lang="en-US" altLang="ru-RU" sz="1000" dirty="0" err="1">
                <a:solidFill>
                  <a:srgbClr val="0070C0"/>
                </a:solidFill>
              </a:rPr>
              <a:t>json</a:t>
            </a:r>
            <a:r>
              <a:rPr lang="en-US" altLang="ru-RU" sz="1000" dirty="0">
                <a:solidFill>
                  <a:srgbClr val="0070C0"/>
                </a:solidFill>
              </a:rPr>
              <a:t>;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int main() {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</a:t>
            </a:r>
            <a:r>
              <a:rPr lang="en-US" altLang="ru-RU" sz="1000" dirty="0" err="1">
                <a:solidFill>
                  <a:srgbClr val="0070C0"/>
                </a:solidFill>
              </a:rPr>
              <a:t>httplib</a:t>
            </a:r>
            <a:r>
              <a:rPr lang="en-US" altLang="ru-RU" sz="1000" dirty="0">
                <a:solidFill>
                  <a:srgbClr val="0070C0"/>
                </a:solidFill>
              </a:rPr>
              <a:t>::Server </a:t>
            </a:r>
            <a:r>
              <a:rPr lang="en-US" altLang="ru-RU" sz="1000" dirty="0" err="1">
                <a:solidFill>
                  <a:srgbClr val="0070C0"/>
                </a:solidFill>
              </a:rPr>
              <a:t>svr</a:t>
            </a:r>
            <a:r>
              <a:rPr lang="en-US" altLang="ru-RU" sz="1000" dirty="0">
                <a:solidFill>
                  <a:srgbClr val="0070C0"/>
                </a:solidFill>
              </a:rPr>
              <a:t>;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</a:t>
            </a:r>
            <a:r>
              <a:rPr lang="en-US" altLang="ru-RU" sz="1000" dirty="0" err="1">
                <a:solidFill>
                  <a:srgbClr val="0070C0"/>
                </a:solidFill>
              </a:rPr>
              <a:t>svr.Post</a:t>
            </a:r>
            <a:r>
              <a:rPr lang="en-US" altLang="ru-RU" sz="1000" dirty="0">
                <a:solidFill>
                  <a:srgbClr val="0070C0"/>
                </a:solidFill>
              </a:rPr>
              <a:t>("/commands", [](const </a:t>
            </a:r>
            <a:r>
              <a:rPr lang="en-US" altLang="ru-RU" sz="1000" dirty="0" err="1">
                <a:solidFill>
                  <a:srgbClr val="0070C0"/>
                </a:solidFill>
              </a:rPr>
              <a:t>httplib</a:t>
            </a:r>
            <a:r>
              <a:rPr lang="en-US" altLang="ru-RU" sz="1000" dirty="0">
                <a:solidFill>
                  <a:srgbClr val="0070C0"/>
                </a:solidFill>
              </a:rPr>
              <a:t>::Request&amp; req, </a:t>
            </a:r>
            <a:r>
              <a:rPr lang="en-US" altLang="ru-RU" sz="1000" dirty="0" err="1">
                <a:solidFill>
                  <a:srgbClr val="0070C0"/>
                </a:solidFill>
              </a:rPr>
              <a:t>httplib</a:t>
            </a:r>
            <a:r>
              <a:rPr lang="en-US" altLang="ru-RU" sz="1000" dirty="0">
                <a:solidFill>
                  <a:srgbClr val="0070C0"/>
                </a:solidFill>
              </a:rPr>
              <a:t>::Response&amp; res) {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std::string </a:t>
            </a:r>
            <a:r>
              <a:rPr lang="en-US" altLang="ru-RU" sz="1000" dirty="0" err="1">
                <a:solidFill>
                  <a:srgbClr val="0070C0"/>
                </a:solidFill>
              </a:rPr>
              <a:t>request_body</a:t>
            </a:r>
            <a:r>
              <a:rPr lang="en-US" altLang="ru-RU" sz="1000" dirty="0">
                <a:solidFill>
                  <a:srgbClr val="0070C0"/>
                </a:solidFill>
              </a:rPr>
              <a:t> = </a:t>
            </a:r>
            <a:r>
              <a:rPr lang="en-US" altLang="ru-RU" sz="1000" dirty="0" err="1">
                <a:solidFill>
                  <a:srgbClr val="0070C0"/>
                </a:solidFill>
              </a:rPr>
              <a:t>req.body</a:t>
            </a:r>
            <a:r>
              <a:rPr lang="en-US" altLang="ru-RU" sz="1000" dirty="0">
                <a:solidFill>
                  <a:srgbClr val="0070C0"/>
                </a:solidFill>
              </a:rPr>
              <a:t>;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if (</a:t>
            </a:r>
            <a:r>
              <a:rPr lang="en-US" altLang="ru-RU" sz="1000" dirty="0" err="1">
                <a:solidFill>
                  <a:srgbClr val="0070C0"/>
                </a:solidFill>
              </a:rPr>
              <a:t>req.get_header_value</a:t>
            </a:r>
            <a:r>
              <a:rPr lang="en-US" altLang="ru-RU" sz="1000" dirty="0">
                <a:solidFill>
                  <a:srgbClr val="0070C0"/>
                </a:solidFill>
              </a:rPr>
              <a:t>("Content-Type") != "application/</a:t>
            </a:r>
            <a:r>
              <a:rPr lang="en-US" altLang="ru-RU" sz="1000" dirty="0" err="1">
                <a:solidFill>
                  <a:srgbClr val="0070C0"/>
                </a:solidFill>
              </a:rPr>
              <a:t>json</a:t>
            </a:r>
            <a:r>
              <a:rPr lang="en-US" altLang="ru-RU" sz="1000" dirty="0">
                <a:solidFill>
                  <a:srgbClr val="0070C0"/>
                </a:solidFill>
              </a:rPr>
              <a:t>") {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    </a:t>
            </a:r>
            <a:r>
              <a:rPr lang="en-US" altLang="ru-RU" sz="1000" dirty="0" err="1">
                <a:solidFill>
                  <a:srgbClr val="0070C0"/>
                </a:solidFill>
              </a:rPr>
              <a:t>res.status</a:t>
            </a:r>
            <a:r>
              <a:rPr lang="en-US" altLang="ru-RU" sz="1000" dirty="0">
                <a:solidFill>
                  <a:srgbClr val="0070C0"/>
                </a:solidFill>
              </a:rPr>
              <a:t> = 415; // Unsupported Media Type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    </a:t>
            </a:r>
            <a:r>
              <a:rPr lang="en-US" altLang="ru-RU" sz="1000" dirty="0" err="1">
                <a:solidFill>
                  <a:srgbClr val="0070C0"/>
                </a:solidFill>
              </a:rPr>
              <a:t>res.set_content</a:t>
            </a:r>
            <a:r>
              <a:rPr lang="en-US" altLang="ru-RU" sz="1000" dirty="0">
                <a:solidFill>
                  <a:srgbClr val="0070C0"/>
                </a:solidFill>
              </a:rPr>
              <a:t>("Unsupported Content-Type. Expected application/</a:t>
            </a:r>
            <a:r>
              <a:rPr lang="en-US" altLang="ru-RU" sz="1000" dirty="0" err="1">
                <a:solidFill>
                  <a:srgbClr val="0070C0"/>
                </a:solidFill>
              </a:rPr>
              <a:t>json</a:t>
            </a:r>
            <a:r>
              <a:rPr lang="en-US" altLang="ru-RU" sz="1000" dirty="0">
                <a:solidFill>
                  <a:srgbClr val="0070C0"/>
                </a:solidFill>
              </a:rPr>
              <a:t>", "text/plain");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    return;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}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try {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    </a:t>
            </a:r>
            <a:r>
              <a:rPr lang="en-US" altLang="ru-RU" sz="1000" dirty="0" err="1">
                <a:solidFill>
                  <a:srgbClr val="0070C0"/>
                </a:solidFill>
              </a:rPr>
              <a:t>json</a:t>
            </a:r>
            <a:r>
              <a:rPr lang="en-US" altLang="ru-RU" sz="1000" dirty="0">
                <a:solidFill>
                  <a:srgbClr val="0070C0"/>
                </a:solidFill>
              </a:rPr>
              <a:t> </a:t>
            </a:r>
            <a:r>
              <a:rPr lang="en-US" altLang="ru-RU" sz="1000" dirty="0" err="1">
                <a:solidFill>
                  <a:srgbClr val="0070C0"/>
                </a:solidFill>
              </a:rPr>
              <a:t>request_json</a:t>
            </a:r>
            <a:r>
              <a:rPr lang="en-US" altLang="ru-RU" sz="1000" dirty="0">
                <a:solidFill>
                  <a:srgbClr val="0070C0"/>
                </a:solidFill>
              </a:rPr>
              <a:t> = </a:t>
            </a:r>
            <a:r>
              <a:rPr lang="en-US" altLang="ru-RU" sz="1000" dirty="0" err="1">
                <a:solidFill>
                  <a:srgbClr val="0070C0"/>
                </a:solidFill>
              </a:rPr>
              <a:t>json</a:t>
            </a:r>
            <a:r>
              <a:rPr lang="en-US" altLang="ru-RU" sz="1000" dirty="0">
                <a:solidFill>
                  <a:srgbClr val="0070C0"/>
                </a:solidFill>
              </a:rPr>
              <a:t>::parse(</a:t>
            </a:r>
            <a:r>
              <a:rPr lang="en-US" altLang="ru-RU" sz="1000" dirty="0" err="1">
                <a:solidFill>
                  <a:srgbClr val="0070C0"/>
                </a:solidFill>
              </a:rPr>
              <a:t>request_body</a:t>
            </a:r>
            <a:r>
              <a:rPr lang="en-US" altLang="ru-RU" sz="1000" dirty="0">
                <a:solidFill>
                  <a:srgbClr val="0070C0"/>
                </a:solidFill>
              </a:rPr>
              <a:t>);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    // Access data from the JSON object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    std::string name = </a:t>
            </a:r>
            <a:r>
              <a:rPr lang="en-US" altLang="ru-RU" sz="1000" dirty="0" err="1">
                <a:solidFill>
                  <a:srgbClr val="0070C0"/>
                </a:solidFill>
              </a:rPr>
              <a:t>request_json.value</a:t>
            </a:r>
            <a:r>
              <a:rPr lang="en-US" altLang="ru-RU" sz="1000" dirty="0">
                <a:solidFill>
                  <a:srgbClr val="0070C0"/>
                </a:solidFill>
              </a:rPr>
              <a:t>("command", "none");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    int id = </a:t>
            </a:r>
            <a:r>
              <a:rPr lang="en-US" altLang="ru-RU" sz="1000" dirty="0" err="1">
                <a:solidFill>
                  <a:srgbClr val="0070C0"/>
                </a:solidFill>
              </a:rPr>
              <a:t>request_json.value</a:t>
            </a:r>
            <a:r>
              <a:rPr lang="en-US" altLang="ru-RU" sz="1000" dirty="0">
                <a:solidFill>
                  <a:srgbClr val="0070C0"/>
                </a:solidFill>
              </a:rPr>
              <a:t>("id", 0);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    // Create a JSON response object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    </a:t>
            </a:r>
            <a:r>
              <a:rPr lang="en-US" altLang="ru-RU" sz="1000" dirty="0" err="1">
                <a:solidFill>
                  <a:srgbClr val="0070C0"/>
                </a:solidFill>
              </a:rPr>
              <a:t>json</a:t>
            </a:r>
            <a:r>
              <a:rPr lang="en-US" altLang="ru-RU" sz="1000" dirty="0">
                <a:solidFill>
                  <a:srgbClr val="0070C0"/>
                </a:solidFill>
              </a:rPr>
              <a:t> </a:t>
            </a:r>
            <a:r>
              <a:rPr lang="en-US" altLang="ru-RU" sz="1000" dirty="0" err="1">
                <a:solidFill>
                  <a:srgbClr val="0070C0"/>
                </a:solidFill>
              </a:rPr>
              <a:t>response_json</a:t>
            </a:r>
            <a:r>
              <a:rPr lang="en-US" altLang="ru-RU" sz="1000" dirty="0">
                <a:solidFill>
                  <a:srgbClr val="0070C0"/>
                </a:solidFill>
              </a:rPr>
              <a:t>;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    </a:t>
            </a:r>
            <a:r>
              <a:rPr lang="en-US" altLang="ru-RU" sz="1000" dirty="0" err="1">
                <a:solidFill>
                  <a:srgbClr val="0070C0"/>
                </a:solidFill>
              </a:rPr>
              <a:t>response_json</a:t>
            </a:r>
            <a:r>
              <a:rPr lang="en-US" altLang="ru-RU" sz="1000" dirty="0">
                <a:solidFill>
                  <a:srgbClr val="0070C0"/>
                </a:solidFill>
              </a:rPr>
              <a:t>["message"] = "Command received successfully";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    </a:t>
            </a:r>
            <a:r>
              <a:rPr lang="en-US" altLang="ru-RU" sz="1000" dirty="0" err="1">
                <a:solidFill>
                  <a:srgbClr val="0070C0"/>
                </a:solidFill>
              </a:rPr>
              <a:t>response_json</a:t>
            </a:r>
            <a:r>
              <a:rPr lang="en-US" altLang="ru-RU" sz="1000" dirty="0">
                <a:solidFill>
                  <a:srgbClr val="0070C0"/>
                </a:solidFill>
              </a:rPr>
              <a:t>["</a:t>
            </a:r>
            <a:r>
              <a:rPr lang="en-US" altLang="ru-RU" sz="1000" dirty="0" err="1">
                <a:solidFill>
                  <a:srgbClr val="0070C0"/>
                </a:solidFill>
              </a:rPr>
              <a:t>received_id</a:t>
            </a:r>
            <a:r>
              <a:rPr lang="en-US" altLang="ru-RU" sz="1000" dirty="0">
                <a:solidFill>
                  <a:srgbClr val="0070C0"/>
                </a:solidFill>
              </a:rPr>
              <a:t>"] = id;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    </a:t>
            </a:r>
            <a:r>
              <a:rPr lang="en-US" altLang="ru-RU" sz="1000" dirty="0" err="1">
                <a:solidFill>
                  <a:srgbClr val="0070C0"/>
                </a:solidFill>
              </a:rPr>
              <a:t>response_json</a:t>
            </a:r>
            <a:r>
              <a:rPr lang="en-US" altLang="ru-RU" sz="1000" dirty="0">
                <a:solidFill>
                  <a:srgbClr val="0070C0"/>
                </a:solidFill>
              </a:rPr>
              <a:t>["status"] = "success";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    </a:t>
            </a:r>
            <a:r>
              <a:rPr lang="en-US" altLang="ru-RU" sz="1000" dirty="0" err="1">
                <a:solidFill>
                  <a:srgbClr val="0070C0"/>
                </a:solidFill>
              </a:rPr>
              <a:t>res.set_content</a:t>
            </a:r>
            <a:r>
              <a:rPr lang="en-US" altLang="ru-RU" sz="1000" dirty="0">
                <a:solidFill>
                  <a:srgbClr val="0070C0"/>
                </a:solidFill>
              </a:rPr>
              <a:t>(</a:t>
            </a:r>
            <a:r>
              <a:rPr lang="en-US" altLang="ru-RU" sz="1000" dirty="0" err="1">
                <a:solidFill>
                  <a:srgbClr val="0070C0"/>
                </a:solidFill>
              </a:rPr>
              <a:t>response_json.dump</a:t>
            </a:r>
            <a:r>
              <a:rPr lang="en-US" altLang="ru-RU" sz="1000" dirty="0">
                <a:solidFill>
                  <a:srgbClr val="0070C0"/>
                </a:solidFill>
              </a:rPr>
              <a:t>(), "application/</a:t>
            </a:r>
            <a:r>
              <a:rPr lang="en-US" altLang="ru-RU" sz="1000" dirty="0" err="1">
                <a:solidFill>
                  <a:srgbClr val="0070C0"/>
                </a:solidFill>
              </a:rPr>
              <a:t>json</a:t>
            </a:r>
            <a:r>
              <a:rPr lang="en-US" altLang="ru-RU" sz="1000" dirty="0">
                <a:solidFill>
                  <a:srgbClr val="0070C0"/>
                </a:solidFill>
              </a:rPr>
              <a:t>");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    </a:t>
            </a:r>
            <a:r>
              <a:rPr lang="en-US" altLang="ru-RU" sz="1000" dirty="0" err="1">
                <a:solidFill>
                  <a:srgbClr val="0070C0"/>
                </a:solidFill>
              </a:rPr>
              <a:t>res.status</a:t>
            </a:r>
            <a:r>
              <a:rPr lang="en-US" altLang="ru-RU" sz="1000" dirty="0">
                <a:solidFill>
                  <a:srgbClr val="0070C0"/>
                </a:solidFill>
              </a:rPr>
              <a:t> = 200; // OK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} catch (const </a:t>
            </a:r>
            <a:r>
              <a:rPr lang="en-US" altLang="ru-RU" sz="1000" dirty="0" err="1">
                <a:solidFill>
                  <a:srgbClr val="0070C0"/>
                </a:solidFill>
              </a:rPr>
              <a:t>json</a:t>
            </a:r>
            <a:r>
              <a:rPr lang="en-US" altLang="ru-RU" sz="1000" dirty="0">
                <a:solidFill>
                  <a:srgbClr val="0070C0"/>
                </a:solidFill>
              </a:rPr>
              <a:t>::</a:t>
            </a:r>
            <a:r>
              <a:rPr lang="en-US" altLang="ru-RU" sz="1000" dirty="0" err="1">
                <a:solidFill>
                  <a:srgbClr val="0070C0"/>
                </a:solidFill>
              </a:rPr>
              <a:t>parse_error</a:t>
            </a:r>
            <a:r>
              <a:rPr lang="en-US" altLang="ru-RU" sz="1000" dirty="0">
                <a:solidFill>
                  <a:srgbClr val="0070C0"/>
                </a:solidFill>
              </a:rPr>
              <a:t>&amp; e) {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    </a:t>
            </a:r>
            <a:r>
              <a:rPr lang="en-US" altLang="ru-RU" sz="1000" dirty="0" err="1">
                <a:solidFill>
                  <a:srgbClr val="0070C0"/>
                </a:solidFill>
              </a:rPr>
              <a:t>res.status</a:t>
            </a:r>
            <a:r>
              <a:rPr lang="en-US" altLang="ru-RU" sz="1000" dirty="0">
                <a:solidFill>
                  <a:srgbClr val="0070C0"/>
                </a:solidFill>
              </a:rPr>
              <a:t> = 400; // Bad Request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    </a:t>
            </a:r>
            <a:r>
              <a:rPr lang="en-US" altLang="ru-RU" sz="1000" dirty="0" err="1">
                <a:solidFill>
                  <a:srgbClr val="0070C0"/>
                </a:solidFill>
              </a:rPr>
              <a:t>res.set_content</a:t>
            </a:r>
            <a:r>
              <a:rPr lang="en-US" altLang="ru-RU" sz="1000" dirty="0">
                <a:solidFill>
                  <a:srgbClr val="0070C0"/>
                </a:solidFill>
              </a:rPr>
              <a:t>("Invalid JSON format: " + std::string(</a:t>
            </a:r>
            <a:r>
              <a:rPr lang="en-US" altLang="ru-RU" sz="1000" dirty="0" err="1">
                <a:solidFill>
                  <a:srgbClr val="0070C0"/>
                </a:solidFill>
              </a:rPr>
              <a:t>e.what</a:t>
            </a:r>
            <a:r>
              <a:rPr lang="en-US" altLang="ru-RU" sz="1000" dirty="0">
                <a:solidFill>
                  <a:srgbClr val="0070C0"/>
                </a:solidFill>
              </a:rPr>
              <a:t>()), "text/plain");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    }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});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std::</a:t>
            </a:r>
            <a:r>
              <a:rPr lang="en-US" altLang="ru-RU" sz="1000" dirty="0" err="1">
                <a:solidFill>
                  <a:srgbClr val="0070C0"/>
                </a:solidFill>
              </a:rPr>
              <a:t>cout</a:t>
            </a:r>
            <a:r>
              <a:rPr lang="en-US" altLang="ru-RU" sz="1000" dirty="0">
                <a:solidFill>
                  <a:srgbClr val="0070C0"/>
                </a:solidFill>
              </a:rPr>
              <a:t> &lt;&lt; "Server listening on http://localhost:8080" &lt;&lt; std::</a:t>
            </a:r>
            <a:r>
              <a:rPr lang="en-US" altLang="ru-RU" sz="1000" dirty="0" err="1">
                <a:solidFill>
                  <a:srgbClr val="0070C0"/>
                </a:solidFill>
              </a:rPr>
              <a:t>endl</a:t>
            </a:r>
            <a:r>
              <a:rPr lang="en-US" altLang="ru-RU" sz="1000" dirty="0">
                <a:solidFill>
                  <a:srgbClr val="0070C0"/>
                </a:solidFill>
              </a:rPr>
              <a:t>;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std::</a:t>
            </a:r>
            <a:r>
              <a:rPr lang="en-US" altLang="ru-RU" sz="1000" dirty="0" err="1">
                <a:solidFill>
                  <a:srgbClr val="0070C0"/>
                </a:solidFill>
              </a:rPr>
              <a:t>cout</a:t>
            </a:r>
            <a:r>
              <a:rPr lang="en-US" altLang="ru-RU" sz="1000" dirty="0">
                <a:solidFill>
                  <a:srgbClr val="0070C0"/>
                </a:solidFill>
              </a:rPr>
              <a:t> &lt;&lt; "Try: curl -X POST -H \"Content-Type: application/</a:t>
            </a:r>
            <a:r>
              <a:rPr lang="en-US" altLang="ru-RU" sz="1000" dirty="0" err="1">
                <a:solidFill>
                  <a:srgbClr val="0070C0"/>
                </a:solidFill>
              </a:rPr>
              <a:t>json</a:t>
            </a:r>
            <a:r>
              <a:rPr lang="en-US" altLang="ru-RU" sz="1000" dirty="0">
                <a:solidFill>
                  <a:srgbClr val="0070C0"/>
                </a:solidFill>
              </a:rPr>
              <a:t>\" -d '{\"name\": \"forward\", \"time\": 10, \"id\": 123}' http://localhost:8080/data" &lt;&lt; std::</a:t>
            </a:r>
            <a:r>
              <a:rPr lang="en-US" altLang="ru-RU" sz="1000" dirty="0" err="1">
                <a:solidFill>
                  <a:srgbClr val="0070C0"/>
                </a:solidFill>
              </a:rPr>
              <a:t>endl</a:t>
            </a:r>
            <a:r>
              <a:rPr lang="en-US" altLang="ru-RU" sz="1000" dirty="0">
                <a:solidFill>
                  <a:srgbClr val="0070C0"/>
                </a:solidFill>
              </a:rPr>
              <a:t>;    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</a:t>
            </a:r>
            <a:r>
              <a:rPr lang="en-US" altLang="ru-RU" sz="1000" dirty="0" err="1">
                <a:solidFill>
                  <a:srgbClr val="0070C0"/>
                </a:solidFill>
              </a:rPr>
              <a:t>svr.listen</a:t>
            </a:r>
            <a:r>
              <a:rPr lang="en-US" altLang="ru-RU" sz="1000" dirty="0">
                <a:solidFill>
                  <a:srgbClr val="0070C0"/>
                </a:solidFill>
              </a:rPr>
              <a:t>("0.0.0.0", 8080);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    return 0;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1000" dirty="0">
                <a:solidFill>
                  <a:srgbClr val="0070C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714648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65D76-8A72-660C-2E66-67916329E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>
            <a:extLst>
              <a:ext uri="{FF2B5EF4-FFF2-40B4-BE49-F238E27FC236}">
                <a16:creationId xmlns:a16="http://schemas.microsoft.com/office/drawing/2014/main" id="{021A2BDB-44B4-2E80-2C85-81F7D79742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8878" y="244136"/>
            <a:ext cx="9691889" cy="6613863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402853" algn="l"/>
                <a:tab pos="807137" algn="l"/>
                <a:tab pos="1211418" algn="l"/>
                <a:tab pos="1615702" algn="l"/>
                <a:tab pos="2019983" algn="l"/>
                <a:tab pos="2424266" algn="l"/>
                <a:tab pos="2828548" algn="l"/>
                <a:tab pos="3232830" algn="l"/>
                <a:tab pos="3637112" algn="l"/>
                <a:tab pos="4041395" algn="l"/>
                <a:tab pos="4445677" algn="l"/>
                <a:tab pos="4849960" algn="l"/>
                <a:tab pos="5254242" algn="l"/>
                <a:tab pos="5658524" algn="l"/>
                <a:tab pos="6062807" algn="l"/>
                <a:tab pos="6467089" algn="l"/>
                <a:tab pos="6871372" algn="l"/>
                <a:tab pos="7275654" algn="l"/>
                <a:tab pos="7679936" algn="l"/>
                <a:tab pos="8084219" algn="l"/>
              </a:tabLst>
            </a:pPr>
            <a:r>
              <a:rPr lang="ru-RU" altLang="ru-RU" sz="3200" dirty="0">
                <a:solidFill>
                  <a:srgbClr val="0070C0"/>
                </a:solidFill>
              </a:rPr>
              <a:t>Пример сервера на </a:t>
            </a:r>
            <a:r>
              <a:rPr lang="en-US" altLang="ru-RU" sz="3200" dirty="0" err="1">
                <a:solidFill>
                  <a:srgbClr val="0070C0"/>
                </a:solidFill>
              </a:rPr>
              <a:t>cpp-httplib.h</a:t>
            </a:r>
            <a:r>
              <a:rPr lang="en-US" altLang="ru-RU" sz="3200" dirty="0">
                <a:solidFill>
                  <a:srgbClr val="0070C0"/>
                </a:solidFill>
              </a:rPr>
              <a:t> </a:t>
            </a:r>
            <a:r>
              <a:rPr lang="ru-RU" altLang="ru-RU" sz="3200" dirty="0">
                <a:solidFill>
                  <a:srgbClr val="0070C0"/>
                </a:solidFill>
              </a:rPr>
              <a:t>и </a:t>
            </a:r>
            <a:r>
              <a:rPr lang="en-US" altLang="ru-RU" sz="3200" dirty="0">
                <a:solidFill>
                  <a:srgbClr val="0070C0"/>
                </a:solidFill>
              </a:rPr>
              <a:t>json.hpp (</a:t>
            </a:r>
            <a:r>
              <a:rPr lang="en-US" altLang="ru-RU" sz="3200" dirty="0" err="1">
                <a:solidFill>
                  <a:srgbClr val="0070C0"/>
                </a:solidFill>
              </a:rPr>
              <a:t>nlohmann</a:t>
            </a:r>
            <a:r>
              <a:rPr lang="en-US" altLang="ru-RU" sz="3200" dirty="0">
                <a:solidFill>
                  <a:srgbClr val="0070C0"/>
                </a:solidFill>
              </a:rPr>
              <a:t>/</a:t>
            </a:r>
            <a:r>
              <a:rPr lang="en-US" altLang="ru-RU" sz="3200" dirty="0" err="1">
                <a:solidFill>
                  <a:srgbClr val="0070C0"/>
                </a:solidFill>
              </a:rPr>
              <a:t>json</a:t>
            </a:r>
            <a:r>
              <a:rPr lang="en-US" altLang="ru-RU" sz="3200" dirty="0">
                <a:solidFill>
                  <a:srgbClr val="0070C0"/>
                </a:solidFill>
              </a:rPr>
              <a:t>)</a:t>
            </a:r>
            <a:endParaRPr lang="ru-RU" altLang="ru-RU" sz="3200" dirty="0">
              <a:solidFill>
                <a:srgbClr val="0070C0"/>
              </a:solidFill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A2FE28CE-1816-2528-DD68-D85E48439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1497" y="1466859"/>
            <a:ext cx="9652436" cy="529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49263">
              <a:lnSpc>
                <a:spcPct val="88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1pPr>
            <a:lvl2pPr defTabSz="449263">
              <a:lnSpc>
                <a:spcPct val="88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2pPr>
            <a:lvl3pPr defTabSz="449263">
              <a:lnSpc>
                <a:spcPct val="88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3pPr>
            <a:lvl4pPr defTabSz="449263">
              <a:lnSpc>
                <a:spcPct val="88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4pPr>
            <a:lvl5pPr defTabSz="449263">
              <a:lnSpc>
                <a:spcPct val="88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ru-RU" altLang="ru-RU" sz="3200" dirty="0">
                <a:solidFill>
                  <a:srgbClr val="0070C0"/>
                </a:solidFill>
              </a:rPr>
              <a:t>Собрать заготовку сервера можно собрать следующими командами</a:t>
            </a:r>
            <a:r>
              <a:rPr lang="en-US" altLang="ru-RU" sz="3200" dirty="0">
                <a:solidFill>
                  <a:srgbClr val="0070C0"/>
                </a:solidFill>
              </a:rPr>
              <a:t>: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3200" dirty="0" err="1">
                <a:solidFill>
                  <a:srgbClr val="0070C0"/>
                </a:solidFill>
              </a:rPr>
              <a:t>mkdir</a:t>
            </a:r>
            <a:r>
              <a:rPr lang="en-US" altLang="ru-RU" sz="3200" dirty="0">
                <a:solidFill>
                  <a:srgbClr val="0070C0"/>
                </a:solidFill>
              </a:rPr>
              <a:t> build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3200" dirty="0">
                <a:solidFill>
                  <a:srgbClr val="0070C0"/>
                </a:solidFill>
              </a:rPr>
              <a:t>cd build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3200" dirty="0" err="1">
                <a:solidFill>
                  <a:srgbClr val="0070C0"/>
                </a:solidFill>
              </a:rPr>
              <a:t>cmake</a:t>
            </a:r>
            <a:r>
              <a:rPr lang="en-US" altLang="ru-RU" sz="3200" dirty="0">
                <a:solidFill>
                  <a:srgbClr val="0070C0"/>
                </a:solidFill>
              </a:rPr>
              <a:t> ..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3200" dirty="0" err="1">
                <a:solidFill>
                  <a:srgbClr val="0070C0"/>
                </a:solidFill>
              </a:rPr>
              <a:t>cmake</a:t>
            </a:r>
            <a:r>
              <a:rPr lang="en-US" altLang="ru-RU" sz="3200" dirty="0">
                <a:solidFill>
                  <a:srgbClr val="0070C0"/>
                </a:solidFill>
              </a:rPr>
              <a:t> --build .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en-US" altLang="ru-RU" sz="10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en-US" altLang="ru-RU" sz="10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en-US" altLang="ru-RU" sz="10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en-US" altLang="ru-RU" sz="1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1930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3E2EC-9E3F-0720-446C-966A91EEB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>
            <a:extLst>
              <a:ext uri="{FF2B5EF4-FFF2-40B4-BE49-F238E27FC236}">
                <a16:creationId xmlns:a16="http://schemas.microsoft.com/office/drawing/2014/main" id="{AD34E9DA-828C-8283-5CB0-6AFB4FF39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41418" y="244136"/>
            <a:ext cx="10159350" cy="6613863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402853" algn="l"/>
                <a:tab pos="807137" algn="l"/>
                <a:tab pos="1211418" algn="l"/>
                <a:tab pos="1615702" algn="l"/>
                <a:tab pos="2019983" algn="l"/>
                <a:tab pos="2424266" algn="l"/>
                <a:tab pos="2828548" algn="l"/>
                <a:tab pos="3232830" algn="l"/>
                <a:tab pos="3637112" algn="l"/>
                <a:tab pos="4041395" algn="l"/>
                <a:tab pos="4445677" algn="l"/>
                <a:tab pos="4849960" algn="l"/>
                <a:tab pos="5254242" algn="l"/>
                <a:tab pos="5658524" algn="l"/>
                <a:tab pos="6062807" algn="l"/>
                <a:tab pos="6467089" algn="l"/>
                <a:tab pos="6871372" algn="l"/>
                <a:tab pos="7275654" algn="l"/>
                <a:tab pos="7679936" algn="l"/>
                <a:tab pos="8084219" algn="l"/>
              </a:tabLst>
            </a:pPr>
            <a:r>
              <a:rPr lang="ru-RU" altLang="ru-RU" sz="3200" dirty="0">
                <a:solidFill>
                  <a:srgbClr val="0070C0"/>
                </a:solidFill>
              </a:rPr>
              <a:t>Пример сервера на </a:t>
            </a:r>
            <a:r>
              <a:rPr lang="en-US" altLang="ru-RU" sz="3200" dirty="0" err="1">
                <a:solidFill>
                  <a:srgbClr val="0070C0"/>
                </a:solidFill>
              </a:rPr>
              <a:t>cpp-httplib.h</a:t>
            </a:r>
            <a:r>
              <a:rPr lang="en-US" altLang="ru-RU" sz="3200" dirty="0">
                <a:solidFill>
                  <a:srgbClr val="0070C0"/>
                </a:solidFill>
              </a:rPr>
              <a:t> </a:t>
            </a:r>
            <a:r>
              <a:rPr lang="ru-RU" altLang="ru-RU" sz="3200" dirty="0">
                <a:solidFill>
                  <a:srgbClr val="0070C0"/>
                </a:solidFill>
              </a:rPr>
              <a:t>и </a:t>
            </a:r>
            <a:r>
              <a:rPr lang="en-US" altLang="ru-RU" sz="3200" dirty="0">
                <a:solidFill>
                  <a:srgbClr val="0070C0"/>
                </a:solidFill>
              </a:rPr>
              <a:t>json.hpp (</a:t>
            </a:r>
            <a:r>
              <a:rPr lang="en-US" altLang="ru-RU" sz="3200" dirty="0" err="1">
                <a:solidFill>
                  <a:srgbClr val="0070C0"/>
                </a:solidFill>
              </a:rPr>
              <a:t>nlohmann</a:t>
            </a:r>
            <a:r>
              <a:rPr lang="en-US" altLang="ru-RU" sz="3200" dirty="0">
                <a:solidFill>
                  <a:srgbClr val="0070C0"/>
                </a:solidFill>
              </a:rPr>
              <a:t>/</a:t>
            </a:r>
            <a:r>
              <a:rPr lang="en-US" altLang="ru-RU" sz="3200" dirty="0" err="1">
                <a:solidFill>
                  <a:srgbClr val="0070C0"/>
                </a:solidFill>
              </a:rPr>
              <a:t>json</a:t>
            </a:r>
            <a:r>
              <a:rPr lang="en-US" altLang="ru-RU" sz="3200" dirty="0">
                <a:solidFill>
                  <a:srgbClr val="0070C0"/>
                </a:solidFill>
              </a:rPr>
              <a:t>)</a:t>
            </a:r>
            <a:endParaRPr lang="ru-RU" altLang="ru-RU" sz="3200" dirty="0">
              <a:solidFill>
                <a:srgbClr val="0070C0"/>
              </a:solidFill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B6D134E6-1B38-C900-FDAC-0EE7BFAE4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417" y="1466859"/>
            <a:ext cx="10292516" cy="529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49263">
              <a:lnSpc>
                <a:spcPct val="88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1pPr>
            <a:lvl2pPr defTabSz="449263">
              <a:lnSpc>
                <a:spcPct val="88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2pPr>
            <a:lvl3pPr defTabSz="449263">
              <a:lnSpc>
                <a:spcPct val="88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3pPr>
            <a:lvl4pPr defTabSz="449263">
              <a:lnSpc>
                <a:spcPct val="88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4pPr>
            <a:lvl5pPr defTabSz="449263">
              <a:lnSpc>
                <a:spcPct val="88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ru-RU" altLang="ru-RU" sz="2000" dirty="0">
                <a:solidFill>
                  <a:srgbClr val="0070C0"/>
                </a:solidFill>
              </a:rPr>
              <a:t>Для проверки работы можно выполнить запрос при помощи </a:t>
            </a:r>
            <a:r>
              <a:rPr lang="en-US" altLang="ru-RU" sz="2000" dirty="0">
                <a:solidFill>
                  <a:srgbClr val="0070C0"/>
                </a:solidFill>
              </a:rPr>
              <a:t>curl. Curl </a:t>
            </a:r>
            <a:r>
              <a:rPr lang="ru-RU" altLang="ru-RU" sz="2000" dirty="0">
                <a:solidFill>
                  <a:srgbClr val="0070C0"/>
                </a:solidFill>
              </a:rPr>
              <a:t>можно скачать тут</a:t>
            </a:r>
            <a:r>
              <a:rPr lang="en-US" altLang="ru-RU" sz="2000" dirty="0">
                <a:solidFill>
                  <a:srgbClr val="0070C0"/>
                </a:solidFill>
              </a:rPr>
              <a:t>: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https://curl.se/windows/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en-US" altLang="ru-RU" sz="20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ru-RU" altLang="ru-RU" sz="2000" dirty="0">
                <a:solidFill>
                  <a:srgbClr val="0070C0"/>
                </a:solidFill>
              </a:rPr>
              <a:t>Пример запроса </a:t>
            </a:r>
            <a:r>
              <a:rPr lang="en-US" altLang="ru-RU" sz="2000" dirty="0">
                <a:solidFill>
                  <a:srgbClr val="0070C0"/>
                </a:solidFill>
              </a:rPr>
              <a:t>curl </a:t>
            </a:r>
            <a:r>
              <a:rPr lang="ru-RU" altLang="ru-RU" sz="2000" dirty="0">
                <a:solidFill>
                  <a:srgbClr val="0070C0"/>
                </a:solidFill>
              </a:rPr>
              <a:t>на </a:t>
            </a:r>
            <a:r>
              <a:rPr lang="en-US" altLang="ru-RU" sz="2000" dirty="0">
                <a:solidFill>
                  <a:srgbClr val="0070C0"/>
                </a:solidFill>
              </a:rPr>
              <a:t>windows: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en-US" altLang="ru-RU" sz="200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r>
              <a:rPr lang="en-US" altLang="ru-RU" sz="2000" dirty="0">
                <a:solidFill>
                  <a:srgbClr val="0070C0"/>
                </a:solidFill>
              </a:rPr>
              <a:t>curl -X GET "http://127.0.0.1:8080/commands" -H "Content-Type: application/</a:t>
            </a:r>
            <a:r>
              <a:rPr lang="en-US" altLang="ru-RU" sz="2000" dirty="0" err="1">
                <a:solidFill>
                  <a:srgbClr val="0070C0"/>
                </a:solidFill>
              </a:rPr>
              <a:t>json</a:t>
            </a:r>
            <a:r>
              <a:rPr lang="en-US" altLang="ru-RU" sz="2000" dirty="0">
                <a:solidFill>
                  <a:srgbClr val="0070C0"/>
                </a:solidFill>
              </a:rPr>
              <a:t>" -d "{\"command\":\"</a:t>
            </a:r>
            <a:r>
              <a:rPr lang="en-US" altLang="ru-RU" sz="2000" dirty="0" err="1">
                <a:solidFill>
                  <a:srgbClr val="0070C0"/>
                </a:solidFill>
              </a:rPr>
              <a:t>forvard</a:t>
            </a:r>
            <a:r>
              <a:rPr lang="en-US" altLang="ru-RU" sz="2000" dirty="0">
                <a:solidFill>
                  <a:srgbClr val="0070C0"/>
                </a:solidFill>
              </a:rPr>
              <a:t>\" }"</a:t>
            </a:r>
          </a:p>
          <a:p>
            <a:pPr algn="just">
              <a:lnSpc>
                <a:spcPct val="100000"/>
              </a:lnSpc>
              <a:spcAft>
                <a:spcPct val="0"/>
              </a:spcAft>
              <a:buSzPct val="114000"/>
            </a:pPr>
            <a:endParaRPr lang="en-US" altLang="ru-RU" sz="1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0775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F6D7F-6752-9FD6-875C-77E85E45E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>
            <a:extLst>
              <a:ext uri="{FF2B5EF4-FFF2-40B4-BE49-F238E27FC236}">
                <a16:creationId xmlns:a16="http://schemas.microsoft.com/office/drawing/2014/main" id="{0188C7A6-99C7-B006-2694-0A9B63AA37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86433" y="443301"/>
            <a:ext cx="9093112" cy="1209994"/>
          </a:xfrm>
        </p:spPr>
        <p:txBody>
          <a:bodyPr/>
          <a:lstStyle/>
          <a:p>
            <a:pPr>
              <a:tabLst>
                <a:tab pos="0" algn="l"/>
                <a:tab pos="402853" algn="l"/>
                <a:tab pos="807137" algn="l"/>
                <a:tab pos="1211418" algn="l"/>
                <a:tab pos="1615702" algn="l"/>
                <a:tab pos="2019983" algn="l"/>
                <a:tab pos="2424266" algn="l"/>
                <a:tab pos="2828548" algn="l"/>
                <a:tab pos="3232830" algn="l"/>
                <a:tab pos="3637112" algn="l"/>
                <a:tab pos="4041395" algn="l"/>
                <a:tab pos="4445677" algn="l"/>
                <a:tab pos="4849960" algn="l"/>
                <a:tab pos="5254242" algn="l"/>
                <a:tab pos="5658524" algn="l"/>
                <a:tab pos="6062807" algn="l"/>
                <a:tab pos="6467089" algn="l"/>
                <a:tab pos="6871372" algn="l"/>
                <a:tab pos="7275654" algn="l"/>
                <a:tab pos="7679936" algn="l"/>
                <a:tab pos="8084219" algn="l"/>
              </a:tabLst>
            </a:pPr>
            <a:r>
              <a:rPr lang="en-US" altLang="ru-RU" sz="4320" dirty="0">
                <a:solidFill>
                  <a:srgbClr val="0070C0"/>
                </a:solidFill>
              </a:rPr>
              <a:t>Post </a:t>
            </a:r>
            <a:r>
              <a:rPr lang="ru-RU" altLang="ru-RU" sz="4320" dirty="0">
                <a:solidFill>
                  <a:srgbClr val="0070C0"/>
                </a:solidFill>
              </a:rPr>
              <a:t>с параметрами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0D1E034E-E4DB-4197-BF5B-5A3CA09C7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455" y="1653296"/>
            <a:ext cx="10367088" cy="4051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49263">
              <a:lnSpc>
                <a:spcPct val="88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1pPr>
            <a:lvl2pPr defTabSz="449263">
              <a:lnSpc>
                <a:spcPct val="88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2pPr>
            <a:lvl3pPr defTabSz="449263">
              <a:lnSpc>
                <a:spcPct val="88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3pPr>
            <a:lvl4pPr defTabSz="449263">
              <a:lnSpc>
                <a:spcPct val="88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4pPr>
            <a:lvl5pPr defTabSz="449263">
              <a:lnSpc>
                <a:spcPct val="88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07975" algn="l"/>
                <a:tab pos="412750" algn="l"/>
                <a:tab pos="862013" algn="l"/>
                <a:tab pos="1311275" algn="l"/>
                <a:tab pos="1760538" algn="l"/>
                <a:tab pos="2209800" algn="l"/>
                <a:tab pos="2659063" algn="l"/>
                <a:tab pos="3108325" algn="l"/>
                <a:tab pos="3557588" algn="l"/>
                <a:tab pos="4006850" algn="l"/>
                <a:tab pos="4456113" algn="l"/>
                <a:tab pos="4905375" algn="l"/>
                <a:tab pos="5354638" algn="l"/>
                <a:tab pos="5803900" algn="l"/>
                <a:tab pos="6253163" algn="l"/>
                <a:tab pos="6702425" algn="l"/>
                <a:tab pos="7151688" algn="l"/>
                <a:tab pos="7600950" algn="l"/>
                <a:tab pos="8050213" algn="l"/>
                <a:tab pos="8499475" algn="l"/>
                <a:tab pos="8948738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ru-RU" altLang="ru-RU" sz="2880" dirty="0">
                <a:solidFill>
                  <a:srgbClr val="0070C0"/>
                </a:solidFill>
              </a:rPr>
              <a:t>Запуск</a:t>
            </a:r>
            <a:endParaRPr lang="en-US" altLang="ru-RU" sz="288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2880" dirty="0" err="1">
                <a:solidFill>
                  <a:srgbClr val="0070C0"/>
                </a:solidFill>
              </a:rPr>
              <a:t>uvicorn</a:t>
            </a:r>
            <a:r>
              <a:rPr lang="en-US" altLang="ru-RU" sz="2880" dirty="0">
                <a:solidFill>
                  <a:srgbClr val="0070C0"/>
                </a:solidFill>
              </a:rPr>
              <a:t> </a:t>
            </a:r>
            <a:r>
              <a:rPr lang="en-US" altLang="ru-RU" sz="2880" dirty="0" err="1">
                <a:solidFill>
                  <a:srgbClr val="0070C0"/>
                </a:solidFill>
              </a:rPr>
              <a:t>main:app</a:t>
            </a:r>
            <a:r>
              <a:rPr lang="en-US" altLang="ru-RU" sz="2880" dirty="0">
                <a:solidFill>
                  <a:srgbClr val="0070C0"/>
                </a:solidFill>
              </a:rPr>
              <a:t> –reload</a:t>
            </a:r>
            <a:endParaRPr lang="ru-RU" altLang="ru-RU" sz="288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endParaRPr lang="ru-RU" altLang="ru-RU" sz="2880" dirty="0">
              <a:solidFill>
                <a:srgbClr val="0070C0"/>
              </a:solidFill>
            </a:endParaRPr>
          </a:p>
          <a:p>
            <a:pPr algn="just">
              <a:lnSpc>
                <a:spcPct val="100000"/>
              </a:lnSpc>
              <a:spcBef>
                <a:spcPts val="720"/>
              </a:spcBef>
              <a:spcAft>
                <a:spcPct val="0"/>
              </a:spcAft>
              <a:buSzPct val="114000"/>
            </a:pPr>
            <a:r>
              <a:rPr lang="en-US" altLang="ru-RU" sz="2880" dirty="0">
                <a:solidFill>
                  <a:srgbClr val="0070C0"/>
                </a:solidFill>
              </a:rPr>
              <a:t>curl -X POST "http://127.0.0" -H "Content-Type: application/</a:t>
            </a:r>
            <a:r>
              <a:rPr lang="en-US" altLang="ru-RU" sz="2880" dirty="0" err="1">
                <a:solidFill>
                  <a:srgbClr val="0070C0"/>
                </a:solidFill>
              </a:rPr>
              <a:t>json</a:t>
            </a:r>
            <a:r>
              <a:rPr lang="en-US" altLang="ru-RU" sz="2880" dirty="0">
                <a:solidFill>
                  <a:srgbClr val="0070C0"/>
                </a:solidFill>
              </a:rPr>
              <a:t>" -d ‘{"forward": “10"}'</a:t>
            </a:r>
            <a:endParaRPr lang="ru-RU" altLang="ru-RU" sz="2880" dirty="0">
              <a:solidFill>
                <a:srgbClr val="0070C0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D6847B4-1D2F-C12F-F7D3-B70725026E8D}"/>
              </a:ext>
            </a:extLst>
          </p:cNvPr>
          <p:cNvSpPr/>
          <p:nvPr/>
        </p:nvSpPr>
        <p:spPr>
          <a:xfrm>
            <a:off x="1082455" y="6355147"/>
            <a:ext cx="6837128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60" dirty="0"/>
              <a:t>https://realpython.com/fastapi-python-web-apis/</a:t>
            </a:r>
            <a:endParaRPr lang="ru-RU" sz="2160" dirty="0"/>
          </a:p>
        </p:txBody>
      </p:sp>
    </p:spTree>
    <p:extLst>
      <p:ext uri="{BB962C8B-B14F-4D97-AF65-F5344CB8AC3E}">
        <p14:creationId xmlns:p14="http://schemas.microsoft.com/office/powerpoint/2010/main" val="13745641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EA0DD-D4DB-C819-C728-363CD00A2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3756E-D41F-7260-BFA1-9F955C881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EAC05F-324F-00E6-17CD-3B53FD266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 </a:t>
            </a:r>
            <a:r>
              <a:rPr lang="ru-RU" sz="4000" dirty="0"/>
              <a:t>Что такое </a:t>
            </a:r>
            <a:r>
              <a:rPr lang="en-US" sz="4000" dirty="0"/>
              <a:t>API </a:t>
            </a:r>
          </a:p>
          <a:p>
            <a:r>
              <a:rPr lang="en-US" sz="4000" dirty="0"/>
              <a:t> MQTT</a:t>
            </a:r>
            <a:endParaRPr lang="ru-RU" sz="4000" dirty="0"/>
          </a:p>
          <a:p>
            <a:pPr marL="0" indent="0">
              <a:buNone/>
            </a:pPr>
            <a:endParaRPr lang="en-US" sz="40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7468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>
          <a:xfrm>
            <a:off x="2178050" y="274639"/>
            <a:ext cx="8032750" cy="1144587"/>
          </a:xfrm>
        </p:spPr>
        <p:txBody>
          <a:bodyPr vert="horz" lIns="91440" tIns="10138" rIns="91440" bIns="45720" rtlCol="0" anchor="t">
            <a:normAutofit/>
          </a:bodyPr>
          <a:lstStyle/>
          <a:p>
            <a:pPr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ru-RU" altLang="ru-RU"/>
              <a:t>Архитектура </a:t>
            </a:r>
            <a:r>
              <a:rPr lang="en-US" altLang="ru-RU"/>
              <a:t>mqtt</a:t>
            </a:r>
          </a:p>
        </p:txBody>
      </p:sp>
      <p:pic>
        <p:nvPicPr>
          <p:cNvPr id="8195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813" y="1420814"/>
            <a:ext cx="6227762" cy="437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68808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>
          <a:xfrm>
            <a:off x="1703388" y="274639"/>
            <a:ext cx="8507412" cy="1144587"/>
          </a:xfrm>
        </p:spPr>
        <p:txBody>
          <a:bodyPr vert="horz" lIns="91440" tIns="10138" rIns="91440" bIns="45720" rtlCol="0" anchor="t">
            <a:normAutofit/>
          </a:bodyPr>
          <a:lstStyle/>
          <a:p>
            <a:pPr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ru-RU" altLang="ru-RU"/>
              <a:t>Архитектура m</a:t>
            </a:r>
            <a:r>
              <a:rPr lang="en-US" altLang="ru-RU"/>
              <a:t>qtt</a:t>
            </a:r>
          </a:p>
        </p:txBody>
      </p:sp>
      <p:sp>
        <p:nvSpPr>
          <p:cNvPr id="10243" name="Rectangle 2"/>
          <p:cNvSpPr txBox="1">
            <a:spLocks noChangeArrowheads="1"/>
          </p:cNvSpPr>
          <p:nvPr/>
        </p:nvSpPr>
        <p:spPr bwMode="auto">
          <a:xfrm>
            <a:off x="1933575" y="1116013"/>
            <a:ext cx="8521700" cy="497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42900" indent="-309563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ru-RU" sz="1800"/>
              <a:t>MQTT –</a:t>
            </a:r>
            <a:r>
              <a:rPr lang="ru-RU" altLang="ru-RU" sz="1800"/>
              <a:t> это протокол оринетированный на сообщения с идеологией публишер</a:t>
            </a:r>
            <a:r>
              <a:rPr lang="en-US" altLang="ru-RU" sz="1800"/>
              <a:t>/</a:t>
            </a:r>
            <a:r>
              <a:rPr lang="ru-RU" altLang="ru-RU" sz="1800"/>
              <a:t>субскрайбер (</a:t>
            </a:r>
            <a:r>
              <a:rPr lang="en-US" altLang="ru-RU" sz="1800"/>
              <a:t>publish/subscribe</a:t>
            </a:r>
            <a:r>
              <a:rPr lang="ru-RU" altLang="ru-RU" sz="1800"/>
              <a:t>). Разработан для простых </a:t>
            </a:r>
            <a:r>
              <a:rPr lang="en-US" altLang="ru-RU" sz="1800"/>
              <a:t>IoT </a:t>
            </a:r>
            <a:r>
              <a:rPr lang="ru-RU" altLang="ru-RU" sz="1800"/>
              <a:t>устройств компанией</a:t>
            </a:r>
            <a:r>
              <a:rPr lang="en-US" altLang="ru-RU" sz="1800"/>
              <a:t> IBM </a:t>
            </a:r>
            <a:r>
              <a:rPr lang="ru-RU" altLang="ru-RU" sz="1800"/>
              <a:t>и является открытым стандартом.</a:t>
            </a:r>
            <a:endParaRPr lang="en-US" altLang="ru-RU" sz="18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ru-RU" sz="18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ru-RU" sz="1800"/>
              <a:t>MQTT </a:t>
            </a:r>
            <a:r>
              <a:rPr lang="ru-RU" altLang="ru-RU" sz="1800"/>
              <a:t>имеет модель клиент-сервер, где сенсор является клиентом и подключается к серверу (брокеру) по протоколу </a:t>
            </a:r>
            <a:r>
              <a:rPr lang="en-US" altLang="ru-RU" sz="1800"/>
              <a:t>TCP.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ru-RU" sz="18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ru-RU" sz="1800"/>
              <a:t>MQTT </a:t>
            </a:r>
            <a:r>
              <a:rPr lang="ru-RU" altLang="ru-RU" sz="1800"/>
              <a:t>ориентирован на сообщения</a:t>
            </a:r>
            <a:r>
              <a:rPr lang="en-US" altLang="ru-RU" sz="1800"/>
              <a:t>.</a:t>
            </a:r>
            <a:r>
              <a:rPr lang="ru-RU" altLang="ru-RU" sz="1800"/>
              <a:t> Каждое сообщение это набор данных, который скрыт от брокера.</a:t>
            </a:r>
            <a:endParaRPr lang="en-US" altLang="ru-RU" sz="18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ru-RU" sz="18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1800"/>
              <a:t>Каждое сообщение публикуется по адресу – имени топика.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1800"/>
              <a:t>   (Например, </a:t>
            </a:r>
            <a:r>
              <a:rPr lang="en-US" altLang="ru-RU" sz="1800">
                <a:solidFill>
                  <a:srgbClr val="C7254E"/>
                </a:solidFill>
                <a:latin typeface="Menlo"/>
              </a:rPr>
              <a:t>kitchen/foo/temperature</a:t>
            </a:r>
            <a:r>
              <a:rPr lang="ru-RU" altLang="ru-RU" sz="1800"/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ru-RU" altLang="ru-RU" sz="18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1800"/>
              <a:t>Клиент может подписываться на несколько топиков. Каждый клиент подписанный на топик получает все сообщения опубликованные для топика.</a:t>
            </a:r>
            <a:endParaRPr lang="en-US" altLang="ru-RU" sz="1800"/>
          </a:p>
        </p:txBody>
      </p:sp>
    </p:spTree>
    <p:extLst>
      <p:ext uri="{BB962C8B-B14F-4D97-AF65-F5344CB8AC3E}">
        <p14:creationId xmlns:p14="http://schemas.microsoft.com/office/powerpoint/2010/main" val="42440664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ChangeArrowheads="1"/>
          </p:cNvSpPr>
          <p:nvPr>
            <p:ph type="title"/>
          </p:nvPr>
        </p:nvSpPr>
        <p:spPr>
          <a:xfrm>
            <a:off x="1703388" y="274639"/>
            <a:ext cx="8507412" cy="1144587"/>
          </a:xfrm>
        </p:spPr>
        <p:txBody>
          <a:bodyPr vert="horz" lIns="91440" tIns="10138" rIns="91440" bIns="45720" rtlCol="0" anchor="t">
            <a:normAutofit/>
          </a:bodyPr>
          <a:lstStyle/>
          <a:p>
            <a:pPr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en-US" altLang="ru-RU"/>
              <a:t>Mqtt</a:t>
            </a:r>
            <a:r>
              <a:rPr lang="ru-RU" altLang="ru-RU"/>
              <a:t> пакет</a:t>
            </a:r>
            <a:endParaRPr lang="en-US" altLang="ru-RU"/>
          </a:p>
        </p:txBody>
      </p:sp>
      <p:pic>
        <p:nvPicPr>
          <p:cNvPr id="12291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075" y="1916114"/>
            <a:ext cx="7956550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54270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ChangeArrowheads="1"/>
          </p:cNvSpPr>
          <p:nvPr>
            <p:ph type="title"/>
          </p:nvPr>
        </p:nvSpPr>
        <p:spPr>
          <a:xfrm>
            <a:off x="1811338" y="274639"/>
            <a:ext cx="8399462" cy="1144587"/>
          </a:xfrm>
        </p:spPr>
        <p:txBody>
          <a:bodyPr vert="horz" lIns="91440" tIns="10138" rIns="91440" bIns="45720" rtlCol="0" anchor="t">
            <a:normAutofit/>
          </a:bodyPr>
          <a:lstStyle/>
          <a:p>
            <a:pPr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ru-RU" altLang="ru-RU"/>
              <a:t>Установка </a:t>
            </a:r>
            <a:r>
              <a:rPr lang="en-US" altLang="ru-RU"/>
              <a:t>mqtt</a:t>
            </a:r>
          </a:p>
        </p:txBody>
      </p:sp>
      <p:sp>
        <p:nvSpPr>
          <p:cNvPr id="14339" name="Rectangle 2"/>
          <p:cNvSpPr txBox="1">
            <a:spLocks noChangeArrowheads="1"/>
          </p:cNvSpPr>
          <p:nvPr/>
        </p:nvSpPr>
        <p:spPr bwMode="auto">
          <a:xfrm>
            <a:off x="1811338" y="1163638"/>
            <a:ext cx="8521700" cy="500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42900" indent="-309563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ru-RU" altLang="ru-RU" sz="24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400" b="1" dirty="0"/>
              <a:t>Брокер </a:t>
            </a:r>
            <a:r>
              <a:rPr lang="en-US" altLang="ru-RU" sz="2400" b="1" dirty="0" err="1"/>
              <a:t>mosquitto</a:t>
            </a:r>
            <a:r>
              <a:rPr lang="ru-RU" altLang="ru-RU" sz="2400" b="1" dirty="0"/>
              <a:t> </a:t>
            </a:r>
            <a:endParaRPr lang="en-US" altLang="ru-RU" sz="2400" b="1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ru-RU" altLang="ru-RU" sz="24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ru-RU" sz="2400" dirty="0"/>
              <a:t>https://mosquitto.org/download/</a:t>
            </a:r>
            <a:endParaRPr lang="ru-RU" altLang="ru-RU" sz="24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ru-RU" altLang="ru-RU" sz="24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400" b="1" dirty="0"/>
              <a:t>Инструкция по установке брокера </a:t>
            </a:r>
            <a:r>
              <a:rPr lang="en-US" altLang="ru-RU" sz="2400" b="1" dirty="0" err="1"/>
              <a:t>mosquitto</a:t>
            </a:r>
            <a:endParaRPr lang="ru-RU" altLang="ru-RU" sz="2400" b="1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ru-RU" altLang="ru-RU" sz="24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ru-RU" sz="2400" dirty="0">
                <a:hlinkClick r:id="rId3"/>
              </a:rPr>
              <a:t>http://www.steves-internet-guide.com/install-mosquitto-broker/</a:t>
            </a:r>
            <a:endParaRPr lang="en-US" altLang="ru-RU" sz="24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ru-RU" sz="24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ru-RU" sz="24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ru-RU" sz="24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400" dirty="0"/>
              <a:t>Установка в </a:t>
            </a:r>
            <a:r>
              <a:rPr lang="en-US" altLang="ru-RU" sz="2400" dirty="0"/>
              <a:t>Ubuntu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ru-RU" sz="24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ru-RU" sz="2400" dirty="0" err="1"/>
              <a:t>sudo</a:t>
            </a:r>
            <a:r>
              <a:rPr lang="en-US" altLang="ru-RU" sz="2400" dirty="0"/>
              <a:t> apt install </a:t>
            </a:r>
            <a:r>
              <a:rPr lang="en-US" altLang="ru-RU" sz="2400" dirty="0" err="1"/>
              <a:t>mosquitto</a:t>
            </a:r>
            <a:r>
              <a:rPr lang="en-US" altLang="ru-RU" sz="2400" dirty="0"/>
              <a:t> </a:t>
            </a:r>
            <a:r>
              <a:rPr lang="en-US" altLang="ru-RU" sz="2400" dirty="0" err="1"/>
              <a:t>mosquitto</a:t>
            </a:r>
            <a:r>
              <a:rPr lang="en-US" altLang="ru-RU" sz="2400" dirty="0"/>
              <a:t>-clients</a:t>
            </a:r>
          </a:p>
        </p:txBody>
      </p:sp>
    </p:spTree>
    <p:extLst>
      <p:ext uri="{BB962C8B-B14F-4D97-AF65-F5344CB8AC3E}">
        <p14:creationId xmlns:p14="http://schemas.microsoft.com/office/powerpoint/2010/main" val="4362016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/>
          <p:cNvSpPr>
            <a:spLocks noGrp="1" noChangeArrowheads="1"/>
          </p:cNvSpPr>
          <p:nvPr>
            <p:ph type="title"/>
          </p:nvPr>
        </p:nvSpPr>
        <p:spPr>
          <a:xfrm>
            <a:off x="1933576" y="274639"/>
            <a:ext cx="8277225" cy="1144587"/>
          </a:xfrm>
        </p:spPr>
        <p:txBody>
          <a:bodyPr vert="horz" lIns="91440" tIns="10138" rIns="91440" bIns="45720" rtlCol="0" anchor="t">
            <a:normAutofit/>
          </a:bodyPr>
          <a:lstStyle/>
          <a:p>
            <a:pPr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ru-RU" altLang="ru-RU" sz="2800"/>
              <a:t>Пример работы из командной строки</a:t>
            </a:r>
            <a:endParaRPr lang="en-US" altLang="ru-RU" sz="2800"/>
          </a:p>
        </p:txBody>
      </p:sp>
      <p:sp>
        <p:nvSpPr>
          <p:cNvPr id="16387" name="Rectangle 2"/>
          <p:cNvSpPr txBox="1">
            <a:spLocks noChangeArrowheads="1"/>
          </p:cNvSpPr>
          <p:nvPr/>
        </p:nvSpPr>
        <p:spPr bwMode="auto">
          <a:xfrm>
            <a:off x="1933575" y="1116014"/>
            <a:ext cx="8521700" cy="5049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42900" indent="-309563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ru-RU" altLang="ru-RU" sz="2400" b="1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400" b="1" dirty="0"/>
              <a:t>Стартовать брокер</a:t>
            </a:r>
            <a:r>
              <a:rPr lang="en-US" altLang="ru-RU" sz="2400" b="1" dirty="0"/>
              <a:t> </a:t>
            </a:r>
            <a:r>
              <a:rPr lang="en-US" altLang="ru-RU" sz="2400" dirty="0" err="1"/>
              <a:t>mosquitto</a:t>
            </a:r>
            <a:r>
              <a:rPr lang="en-US" altLang="ru-RU" sz="2400" dirty="0"/>
              <a:t> </a:t>
            </a:r>
            <a:r>
              <a:rPr lang="en-US" altLang="ru-RU" sz="2400" b="1" dirty="0"/>
              <a:t>:</a:t>
            </a:r>
            <a:endParaRPr lang="ru-RU" altLang="ru-RU" sz="2400" b="1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ru-RU" sz="2400" dirty="0" err="1"/>
              <a:t>mosquitto</a:t>
            </a:r>
            <a:r>
              <a:rPr lang="ru-RU" altLang="ru-RU" sz="2400" dirty="0"/>
              <a:t> –</a:t>
            </a:r>
            <a:r>
              <a:rPr lang="en-US" altLang="ru-RU" sz="2400" dirty="0"/>
              <a:t>v</a:t>
            </a:r>
            <a:endParaRPr lang="ru-RU" altLang="ru-RU" sz="24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ru-RU" altLang="ru-RU" sz="24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ru-RU" altLang="ru-RU" sz="24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400" dirty="0"/>
              <a:t>Тестовая программа клиент командной строки</a:t>
            </a:r>
            <a:r>
              <a:rPr lang="en-US" altLang="ru-RU" sz="2400" dirty="0"/>
              <a:t> </a:t>
            </a:r>
            <a:r>
              <a:rPr lang="ru-RU" altLang="ru-RU" sz="2400" dirty="0"/>
              <a:t>– подписчик (</a:t>
            </a:r>
            <a:r>
              <a:rPr lang="en-US" altLang="ru-RU" sz="2400" dirty="0" err="1"/>
              <a:t>mosquitto_sub</a:t>
            </a:r>
            <a:r>
              <a:rPr lang="ru-RU" altLang="ru-RU" sz="2400" dirty="0"/>
              <a:t>)</a:t>
            </a:r>
            <a:r>
              <a:rPr lang="en-US" altLang="ru-RU" sz="2400" dirty="0"/>
              <a:t>:</a:t>
            </a:r>
            <a:endParaRPr lang="ru-RU" altLang="ru-RU" sz="24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ru-RU" sz="2400" dirty="0"/>
              <a:t>  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ru-RU" sz="2400" dirty="0" err="1"/>
              <a:t>mosquitto_sub</a:t>
            </a:r>
            <a:r>
              <a:rPr lang="en-US" altLang="ru-RU" sz="2400" dirty="0"/>
              <a:t> -t 'test/topic'</a:t>
            </a:r>
            <a:endParaRPr lang="ru-RU" altLang="ru-RU" sz="24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ru-RU" altLang="ru-RU" sz="2400" dirty="0"/>
          </a:p>
          <a:p>
            <a:pPr eaLnBrk="1" hangingPunct="1">
              <a:spcBef>
                <a:spcPct val="0"/>
              </a:spcBef>
              <a:buClrTx/>
            </a:pPr>
            <a:r>
              <a:rPr lang="ru-RU" altLang="ru-RU" sz="2400" dirty="0"/>
              <a:t>Тестовая программа клиент командной строки</a:t>
            </a:r>
            <a:r>
              <a:rPr lang="en-US" altLang="ru-RU" sz="2400" dirty="0"/>
              <a:t> </a:t>
            </a:r>
            <a:r>
              <a:rPr lang="ru-RU" altLang="ru-RU" sz="2400" dirty="0"/>
              <a:t>– публикатор (</a:t>
            </a:r>
            <a:r>
              <a:rPr lang="en-US" altLang="ru-RU" sz="2400" dirty="0" err="1"/>
              <a:t>mosquitto_pub</a:t>
            </a:r>
            <a:r>
              <a:rPr lang="ru-RU" altLang="ru-RU" sz="2400" dirty="0"/>
              <a:t>)</a:t>
            </a:r>
            <a:r>
              <a:rPr lang="en-US" altLang="ru-RU" sz="2400" dirty="0"/>
              <a:t>:</a:t>
            </a:r>
            <a:endParaRPr lang="ru-RU" altLang="ru-RU" sz="24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ru-RU" altLang="ru-RU" sz="24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ru-RU" sz="2400" dirty="0" err="1"/>
              <a:t>mosquitto_pub</a:t>
            </a:r>
            <a:r>
              <a:rPr lang="en-US" altLang="ru-RU" sz="2400" dirty="0"/>
              <a:t> -t 'test/topic' -m “hello world”</a:t>
            </a:r>
            <a:endParaRPr lang="ru-RU" altLang="ru-RU" sz="2400" dirty="0"/>
          </a:p>
        </p:txBody>
      </p:sp>
    </p:spTree>
    <p:extLst>
      <p:ext uri="{BB962C8B-B14F-4D97-AF65-F5344CB8AC3E}">
        <p14:creationId xmlns:p14="http://schemas.microsoft.com/office/powerpoint/2010/main" val="35911340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/>
          <p:cNvSpPr>
            <a:spLocks noGrp="1" noChangeArrowheads="1"/>
          </p:cNvSpPr>
          <p:nvPr>
            <p:ph type="title"/>
          </p:nvPr>
        </p:nvSpPr>
        <p:spPr>
          <a:xfrm>
            <a:off x="864158" y="0"/>
            <a:ext cx="11424976" cy="1030128"/>
          </a:xfrm>
        </p:spPr>
        <p:txBody>
          <a:bodyPr vert="horz" lIns="82296" tIns="9125" rIns="82296" bIns="41148" rtlCol="0" anchor="t">
            <a:noAutofit/>
          </a:bodyPr>
          <a:lstStyle/>
          <a:p>
            <a:pPr>
              <a:tabLst>
                <a:tab pos="372896" algn="l"/>
                <a:tab pos="745788" algn="l"/>
                <a:tab pos="1118684" algn="l"/>
                <a:tab pos="1491579" algn="l"/>
                <a:tab pos="1865900" algn="l"/>
                <a:tab pos="2238796" algn="l"/>
                <a:tab pos="2611691" algn="l"/>
                <a:tab pos="2984584" algn="l"/>
                <a:tab pos="3358908" algn="l"/>
                <a:tab pos="3731803" algn="l"/>
                <a:tab pos="4104696" algn="l"/>
                <a:tab pos="4477591" algn="l"/>
                <a:tab pos="4851915" algn="l"/>
                <a:tab pos="5224808" algn="l"/>
                <a:tab pos="5597703" algn="l"/>
                <a:tab pos="5970597" algn="l"/>
                <a:tab pos="6344920" algn="l"/>
                <a:tab pos="6717815" algn="l"/>
                <a:tab pos="7090709" algn="l"/>
              </a:tabLst>
            </a:pPr>
            <a:r>
              <a:rPr lang="ru-RU" altLang="ru-RU" b="1" dirty="0">
                <a:solidFill>
                  <a:srgbClr val="002060"/>
                </a:solidFill>
              </a:rPr>
              <a:t>Конфигурирование брокера- </a:t>
            </a:r>
            <a:r>
              <a:rPr lang="en-US" altLang="ru-RU" b="1" dirty="0" err="1">
                <a:solidFill>
                  <a:srgbClr val="002060"/>
                </a:solidFill>
              </a:rPr>
              <a:t>mosquitto.conf</a:t>
            </a:r>
            <a:endParaRPr lang="en-US" altLang="ru-RU" b="1" dirty="0">
              <a:solidFill>
                <a:srgbClr val="002060"/>
              </a:solidFill>
            </a:endParaRPr>
          </a:p>
        </p:txBody>
      </p:sp>
      <p:sp>
        <p:nvSpPr>
          <p:cNvPr id="16387" name="Rectangle 2"/>
          <p:cNvSpPr txBox="1">
            <a:spLocks noChangeArrowheads="1"/>
          </p:cNvSpPr>
          <p:nvPr/>
        </p:nvSpPr>
        <p:spPr bwMode="auto">
          <a:xfrm>
            <a:off x="1909186" y="1030128"/>
            <a:ext cx="9574615" cy="4544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42900" indent="-309563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lang="en-US" altLang="ru-RU" sz="2160" b="1" dirty="0">
                <a:solidFill>
                  <a:srgbClr val="002060"/>
                </a:solidFill>
              </a:rPr>
              <a:t>listener 1883 127.0.0.1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2160" dirty="0">
                <a:solidFill>
                  <a:srgbClr val="002060"/>
                </a:solidFill>
              </a:rPr>
              <a:t>persistence false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2160" dirty="0" err="1">
                <a:solidFill>
                  <a:srgbClr val="002060"/>
                </a:solidFill>
              </a:rPr>
              <a:t>persistence_location</a:t>
            </a:r>
            <a:r>
              <a:rPr lang="en-US" altLang="ru-RU" sz="2160" dirty="0">
                <a:solidFill>
                  <a:srgbClr val="002060"/>
                </a:solidFill>
              </a:rPr>
              <a:t> /</a:t>
            </a:r>
            <a:r>
              <a:rPr lang="en-US" altLang="ru-RU" sz="2160" dirty="0" err="1">
                <a:solidFill>
                  <a:srgbClr val="002060"/>
                </a:solidFill>
              </a:rPr>
              <a:t>path_to_persistent</a:t>
            </a:r>
            <a:r>
              <a:rPr lang="en-US" altLang="ru-RU" sz="2160" dirty="0">
                <a:solidFill>
                  <a:srgbClr val="002060"/>
                </a:solidFill>
              </a:rPr>
              <a:t>/</a:t>
            </a:r>
            <a:r>
              <a:rPr lang="en-US" altLang="ru-RU" sz="2160" dirty="0" err="1">
                <a:solidFill>
                  <a:srgbClr val="002060"/>
                </a:solidFill>
              </a:rPr>
              <a:t>mqtt</a:t>
            </a:r>
            <a:endParaRPr lang="en-US" altLang="ru-RU" sz="2160" dirty="0">
              <a:solidFill>
                <a:srgbClr val="002060"/>
              </a:solidFill>
            </a:endParaRPr>
          </a:p>
          <a:p>
            <a:pPr>
              <a:spcBef>
                <a:spcPct val="0"/>
              </a:spcBef>
              <a:buClrTx/>
            </a:pPr>
            <a:r>
              <a:rPr lang="en-US" altLang="ru-RU" sz="2160" dirty="0" err="1">
                <a:solidFill>
                  <a:srgbClr val="002060"/>
                </a:solidFill>
              </a:rPr>
              <a:t>persistence_file</a:t>
            </a:r>
            <a:r>
              <a:rPr lang="en-US" altLang="ru-RU" sz="2160" dirty="0">
                <a:solidFill>
                  <a:srgbClr val="002060"/>
                </a:solidFill>
              </a:rPr>
              <a:t> </a:t>
            </a:r>
            <a:r>
              <a:rPr lang="en-US" altLang="ru-RU" sz="2160" dirty="0" err="1">
                <a:solidFill>
                  <a:srgbClr val="002060"/>
                </a:solidFill>
              </a:rPr>
              <a:t>mosquitto.db</a:t>
            </a:r>
            <a:endParaRPr lang="en-US" altLang="ru-RU" sz="2160" dirty="0">
              <a:solidFill>
                <a:srgbClr val="002060"/>
              </a:solidFill>
            </a:endParaRPr>
          </a:p>
          <a:p>
            <a:pPr>
              <a:spcBef>
                <a:spcPct val="0"/>
              </a:spcBef>
              <a:buClrTx/>
            </a:pPr>
            <a:r>
              <a:rPr lang="en-US" altLang="ru-RU" sz="2160" dirty="0" err="1">
                <a:solidFill>
                  <a:srgbClr val="002060"/>
                </a:solidFill>
              </a:rPr>
              <a:t>log_dest</a:t>
            </a:r>
            <a:r>
              <a:rPr lang="en-US" altLang="ru-RU" sz="2160" dirty="0">
                <a:solidFill>
                  <a:srgbClr val="002060"/>
                </a:solidFill>
              </a:rPr>
              <a:t> syslog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2160" dirty="0" err="1">
                <a:solidFill>
                  <a:srgbClr val="002060"/>
                </a:solidFill>
              </a:rPr>
              <a:t>log_dest</a:t>
            </a:r>
            <a:r>
              <a:rPr lang="en-US" altLang="ru-RU" sz="2160" dirty="0">
                <a:solidFill>
                  <a:srgbClr val="002060"/>
                </a:solidFill>
              </a:rPr>
              <a:t> </a:t>
            </a:r>
            <a:r>
              <a:rPr lang="en-US" altLang="ru-RU" sz="2160" dirty="0" err="1">
                <a:solidFill>
                  <a:srgbClr val="002060"/>
                </a:solidFill>
              </a:rPr>
              <a:t>stdout</a:t>
            </a:r>
            <a:endParaRPr lang="en-US" altLang="ru-RU" sz="2160" dirty="0">
              <a:solidFill>
                <a:srgbClr val="002060"/>
              </a:solidFill>
            </a:endParaRPr>
          </a:p>
          <a:p>
            <a:pPr>
              <a:spcBef>
                <a:spcPct val="0"/>
              </a:spcBef>
              <a:buClrTx/>
            </a:pPr>
            <a:r>
              <a:rPr lang="en-US" altLang="ru-RU" sz="2160" dirty="0" err="1">
                <a:solidFill>
                  <a:srgbClr val="002060"/>
                </a:solidFill>
              </a:rPr>
              <a:t>log_dest</a:t>
            </a:r>
            <a:r>
              <a:rPr lang="en-US" altLang="ru-RU" sz="2160" dirty="0">
                <a:solidFill>
                  <a:srgbClr val="002060"/>
                </a:solidFill>
              </a:rPr>
              <a:t> topic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2160" dirty="0" err="1">
                <a:solidFill>
                  <a:srgbClr val="002060"/>
                </a:solidFill>
              </a:rPr>
              <a:t>log_type</a:t>
            </a:r>
            <a:r>
              <a:rPr lang="en-US" altLang="ru-RU" sz="2160" dirty="0">
                <a:solidFill>
                  <a:srgbClr val="002060"/>
                </a:solidFill>
              </a:rPr>
              <a:t> error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2160" dirty="0" err="1">
                <a:solidFill>
                  <a:srgbClr val="002060"/>
                </a:solidFill>
              </a:rPr>
              <a:t>log_type</a:t>
            </a:r>
            <a:r>
              <a:rPr lang="en-US" altLang="ru-RU" sz="2160" dirty="0">
                <a:solidFill>
                  <a:srgbClr val="002060"/>
                </a:solidFill>
              </a:rPr>
              <a:t> warning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2160" dirty="0" err="1">
                <a:solidFill>
                  <a:srgbClr val="002060"/>
                </a:solidFill>
              </a:rPr>
              <a:t>log_type</a:t>
            </a:r>
            <a:r>
              <a:rPr lang="en-US" altLang="ru-RU" sz="2160" dirty="0">
                <a:solidFill>
                  <a:srgbClr val="002060"/>
                </a:solidFill>
              </a:rPr>
              <a:t> notice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2160" dirty="0" err="1">
                <a:solidFill>
                  <a:srgbClr val="002060"/>
                </a:solidFill>
              </a:rPr>
              <a:t>log_type</a:t>
            </a:r>
            <a:r>
              <a:rPr lang="en-US" altLang="ru-RU" sz="2160" dirty="0">
                <a:solidFill>
                  <a:srgbClr val="002060"/>
                </a:solidFill>
              </a:rPr>
              <a:t> information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2160" dirty="0" err="1">
                <a:solidFill>
                  <a:srgbClr val="002060"/>
                </a:solidFill>
              </a:rPr>
              <a:t>connection_messages</a:t>
            </a:r>
            <a:r>
              <a:rPr lang="en-US" altLang="ru-RU" sz="2160" dirty="0">
                <a:solidFill>
                  <a:srgbClr val="002060"/>
                </a:solidFill>
              </a:rPr>
              <a:t> true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2160" dirty="0" err="1">
                <a:solidFill>
                  <a:srgbClr val="002060"/>
                </a:solidFill>
              </a:rPr>
              <a:t>log_timestamp</a:t>
            </a:r>
            <a:r>
              <a:rPr lang="en-US" altLang="ru-RU" sz="2160" dirty="0">
                <a:solidFill>
                  <a:srgbClr val="002060"/>
                </a:solidFill>
              </a:rPr>
              <a:t> true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2160" dirty="0" err="1">
                <a:solidFill>
                  <a:srgbClr val="002060"/>
                </a:solidFill>
              </a:rPr>
              <a:t>allow_anonymous</a:t>
            </a:r>
            <a:r>
              <a:rPr lang="en-US" altLang="ru-RU" sz="2160" dirty="0">
                <a:solidFill>
                  <a:srgbClr val="002060"/>
                </a:solidFill>
              </a:rPr>
              <a:t> true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2160" dirty="0" err="1">
                <a:solidFill>
                  <a:srgbClr val="002060"/>
                </a:solidFill>
              </a:rPr>
              <a:t>password_file</a:t>
            </a:r>
            <a:r>
              <a:rPr lang="en-US" altLang="ru-RU" sz="2160" dirty="0">
                <a:solidFill>
                  <a:srgbClr val="002060"/>
                </a:solidFill>
              </a:rPr>
              <a:t> /</a:t>
            </a:r>
            <a:r>
              <a:rPr lang="en-US" altLang="ru-RU" sz="2160" dirty="0" err="1">
                <a:solidFill>
                  <a:srgbClr val="002060"/>
                </a:solidFill>
              </a:rPr>
              <a:t>path_to_pwdfile</a:t>
            </a:r>
            <a:r>
              <a:rPr lang="en-US" altLang="ru-RU" sz="2160" dirty="0">
                <a:solidFill>
                  <a:srgbClr val="002060"/>
                </a:solidFill>
              </a:rPr>
              <a:t>/</a:t>
            </a:r>
            <a:r>
              <a:rPr lang="en-US" altLang="ru-RU" sz="2160" dirty="0" err="1">
                <a:solidFill>
                  <a:srgbClr val="002060"/>
                </a:solidFill>
              </a:rPr>
              <a:t>pwfile</a:t>
            </a:r>
            <a:endParaRPr lang="ru-RU" altLang="ru-RU" sz="216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3881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Grp="1" noChangeArrowheads="1"/>
          </p:cNvSpPr>
          <p:nvPr>
            <p:ph type="title"/>
          </p:nvPr>
        </p:nvSpPr>
        <p:spPr>
          <a:xfrm>
            <a:off x="1933576" y="274639"/>
            <a:ext cx="8277225" cy="1144587"/>
          </a:xfrm>
        </p:spPr>
        <p:txBody>
          <a:bodyPr vert="horz" lIns="91440" tIns="10138" rIns="91440" bIns="45720" rtlCol="0" anchor="t">
            <a:normAutofit/>
          </a:bodyPr>
          <a:lstStyle/>
          <a:p>
            <a:pPr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ru-RU" altLang="ru-RU" sz="2800"/>
              <a:t>Пример работы с </a:t>
            </a:r>
            <a:r>
              <a:rPr lang="en-US" altLang="ru-RU" sz="2800"/>
              <a:t>mqtt </a:t>
            </a:r>
            <a:r>
              <a:rPr lang="ru-RU" altLang="ru-RU" sz="2800"/>
              <a:t>на </a:t>
            </a:r>
            <a:r>
              <a:rPr lang="en-US" altLang="ru-RU" sz="2800"/>
              <a:t>C++</a:t>
            </a:r>
          </a:p>
        </p:txBody>
      </p:sp>
      <p:sp>
        <p:nvSpPr>
          <p:cNvPr id="18435" name="Rectangle 2"/>
          <p:cNvSpPr txBox="1">
            <a:spLocks noChangeArrowheads="1"/>
          </p:cNvSpPr>
          <p:nvPr/>
        </p:nvSpPr>
        <p:spPr bwMode="auto">
          <a:xfrm>
            <a:off x="1933575" y="1116013"/>
            <a:ext cx="8521700" cy="513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42900" indent="-309563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ru-RU" altLang="ru-RU" sz="16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000" dirty="0"/>
              <a:t>Для работы по с </a:t>
            </a:r>
            <a:r>
              <a:rPr lang="en-US" altLang="ru-RU" sz="2000" dirty="0" err="1"/>
              <a:t>mqtt</a:t>
            </a:r>
            <a:r>
              <a:rPr lang="en-US" altLang="ru-RU" sz="2000" dirty="0"/>
              <a:t> </a:t>
            </a:r>
            <a:r>
              <a:rPr lang="ru-RU" altLang="ru-RU" sz="2000" dirty="0"/>
              <a:t>из языка С++ можно использовать библиотеку </a:t>
            </a:r>
            <a:r>
              <a:rPr lang="en-US" altLang="ru-RU" sz="2000" dirty="0" err="1"/>
              <a:t>libmosquitto</a:t>
            </a:r>
            <a:r>
              <a:rPr lang="ru-RU" altLang="ru-RU" sz="2000" dirty="0"/>
              <a:t>, входящую в состав поставки брокера </a:t>
            </a:r>
            <a:r>
              <a:rPr lang="en-US" altLang="ru-RU" sz="2000" dirty="0" err="1"/>
              <a:t>mosquitto</a:t>
            </a:r>
            <a:r>
              <a:rPr lang="ru-RU" altLang="ru-RU" sz="2000" dirty="0"/>
              <a:t>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ru-RU" altLang="ru-RU" sz="20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000" dirty="0"/>
              <a:t>Пример работы с </a:t>
            </a:r>
            <a:r>
              <a:rPr lang="en-US" altLang="ru-RU" sz="2000" dirty="0" err="1"/>
              <a:t>libmosquitto</a:t>
            </a:r>
            <a:r>
              <a:rPr lang="en-US" altLang="ru-RU" sz="2000" dirty="0"/>
              <a:t>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ru-RU" sz="2000" b="1" dirty="0"/>
          </a:p>
          <a:p>
            <a:pPr>
              <a:spcBef>
                <a:spcPct val="0"/>
              </a:spcBef>
              <a:buClrTx/>
            </a:pPr>
            <a:r>
              <a:rPr lang="en-US" altLang="ru-RU" sz="2000" b="1" dirty="0"/>
              <a:t>https://www.fatalerrors.org/a/0tR22DE.html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ru-RU" sz="2000" b="1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ru-RU" sz="2000" b="1" dirty="0"/>
              <a:t>https://gist.github.com/evgeny-boger/8cefa502779f98efaf24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ru-RU" sz="20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ru-RU" sz="2000" dirty="0"/>
              <a:t>http://wiki.neuromeka.net/index.php?title=Implementing_MQTT_Client_using_C%2B%2B_with_libmosquitto</a:t>
            </a:r>
            <a:endParaRPr lang="ru-RU" altLang="ru-RU" sz="2000" dirty="0"/>
          </a:p>
        </p:txBody>
      </p:sp>
    </p:spTree>
    <p:extLst>
      <p:ext uri="{BB962C8B-B14F-4D97-AF65-F5344CB8AC3E}">
        <p14:creationId xmlns:p14="http://schemas.microsoft.com/office/powerpoint/2010/main" val="9581221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Grp="1" noChangeArrowheads="1"/>
          </p:cNvSpPr>
          <p:nvPr>
            <p:ph type="title"/>
          </p:nvPr>
        </p:nvSpPr>
        <p:spPr>
          <a:xfrm>
            <a:off x="1933576" y="274639"/>
            <a:ext cx="8277225" cy="1144587"/>
          </a:xfrm>
        </p:spPr>
        <p:txBody>
          <a:bodyPr vert="horz" lIns="91440" tIns="10138" rIns="91440" bIns="45720" rtlCol="0" anchor="t">
            <a:normAutofit/>
          </a:bodyPr>
          <a:lstStyle/>
          <a:p>
            <a:pPr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ru-RU" altLang="ru-RU" sz="2800" dirty="0"/>
              <a:t>Пример работы</a:t>
            </a:r>
            <a:r>
              <a:rPr lang="en-US" altLang="ru-RU" sz="2800" dirty="0"/>
              <a:t> </a:t>
            </a:r>
            <a:r>
              <a:rPr lang="ru-RU" altLang="ru-RU" sz="2800" dirty="0"/>
              <a:t> с </a:t>
            </a:r>
            <a:r>
              <a:rPr lang="en-US" altLang="ru-RU" sz="2800" dirty="0" err="1"/>
              <a:t>mqtt</a:t>
            </a:r>
            <a:r>
              <a:rPr lang="en-US" altLang="ru-RU" sz="2800" dirty="0"/>
              <a:t> subscriber </a:t>
            </a:r>
            <a:r>
              <a:rPr lang="ru-RU" altLang="ru-RU" sz="2800" dirty="0"/>
              <a:t>на </a:t>
            </a:r>
            <a:r>
              <a:rPr lang="en-US" altLang="ru-RU" sz="2800" dirty="0"/>
              <a:t>C++</a:t>
            </a:r>
          </a:p>
        </p:txBody>
      </p:sp>
      <p:sp>
        <p:nvSpPr>
          <p:cNvPr id="18435" name="Rectangle 2"/>
          <p:cNvSpPr txBox="1">
            <a:spLocks noChangeArrowheads="1"/>
          </p:cNvSpPr>
          <p:nvPr/>
        </p:nvSpPr>
        <p:spPr bwMode="auto">
          <a:xfrm>
            <a:off x="1933575" y="1116013"/>
            <a:ext cx="8521700" cy="513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42900" indent="-309563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#include &lt;</a:t>
            </a:r>
            <a:r>
              <a:rPr lang="en-US" altLang="ru-RU" sz="1400" dirty="0" err="1"/>
              <a:t>signal.h</a:t>
            </a:r>
            <a:r>
              <a:rPr lang="en-US" altLang="ru-RU" sz="1400" dirty="0"/>
              <a:t>&gt;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#include &lt;</a:t>
            </a:r>
            <a:r>
              <a:rPr lang="en-US" altLang="ru-RU" sz="1400" dirty="0" err="1"/>
              <a:t>stdio.h</a:t>
            </a:r>
            <a:r>
              <a:rPr lang="en-US" altLang="ru-RU" sz="1400" dirty="0"/>
              <a:t>&gt;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#include &lt;</a:t>
            </a:r>
            <a:r>
              <a:rPr lang="en-US" altLang="ru-RU" sz="1400" dirty="0" err="1"/>
              <a:t>stdint.h</a:t>
            </a:r>
            <a:r>
              <a:rPr lang="en-US" altLang="ru-RU" sz="1400" dirty="0"/>
              <a:t>&gt;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#include &lt;</a:t>
            </a:r>
            <a:r>
              <a:rPr lang="en-US" altLang="ru-RU" sz="1400" dirty="0" err="1"/>
              <a:t>string.h</a:t>
            </a:r>
            <a:r>
              <a:rPr lang="en-US" altLang="ru-RU" sz="1400" dirty="0"/>
              <a:t>&gt;</a:t>
            </a:r>
          </a:p>
          <a:p>
            <a:pPr>
              <a:spcBef>
                <a:spcPct val="0"/>
              </a:spcBef>
              <a:buClrTx/>
            </a:pPr>
            <a:endParaRPr lang="en-US" altLang="ru-RU" sz="1400" dirty="0"/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#include &lt;</a:t>
            </a:r>
            <a:r>
              <a:rPr lang="en-US" altLang="ru-RU" sz="1400" dirty="0" err="1"/>
              <a:t>mosquitto.h</a:t>
            </a:r>
            <a:r>
              <a:rPr lang="en-US" altLang="ru-RU" sz="1400" dirty="0"/>
              <a:t>&gt;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#define </a:t>
            </a:r>
            <a:r>
              <a:rPr lang="en-US" altLang="ru-RU" sz="1400" dirty="0" err="1"/>
              <a:t>mqtt_host</a:t>
            </a:r>
            <a:r>
              <a:rPr lang="en-US" altLang="ru-RU" sz="1400" dirty="0"/>
              <a:t> "localhost"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#define </a:t>
            </a:r>
            <a:r>
              <a:rPr lang="en-US" altLang="ru-RU" sz="1400" dirty="0" err="1"/>
              <a:t>mqtt_port</a:t>
            </a:r>
            <a:r>
              <a:rPr lang="en-US" altLang="ru-RU" sz="1400" dirty="0"/>
              <a:t> 1883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static </a:t>
            </a:r>
            <a:r>
              <a:rPr lang="en-US" altLang="ru-RU" sz="1400" dirty="0" err="1"/>
              <a:t>int</a:t>
            </a:r>
            <a:r>
              <a:rPr lang="en-US" altLang="ru-RU" sz="1400" dirty="0"/>
              <a:t> run = 1;</a:t>
            </a:r>
          </a:p>
          <a:p>
            <a:pPr>
              <a:spcBef>
                <a:spcPct val="0"/>
              </a:spcBef>
              <a:buClrTx/>
            </a:pPr>
            <a:endParaRPr lang="en-US" altLang="ru-RU" sz="1400" dirty="0"/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void </a:t>
            </a:r>
            <a:r>
              <a:rPr lang="en-US" altLang="ru-RU" sz="1400" dirty="0" err="1"/>
              <a:t>handle_signal</a:t>
            </a:r>
            <a:r>
              <a:rPr lang="en-US" altLang="ru-RU" sz="1400" dirty="0"/>
              <a:t>(</a:t>
            </a:r>
            <a:r>
              <a:rPr lang="en-US" altLang="ru-RU" sz="1400" dirty="0" err="1"/>
              <a:t>int</a:t>
            </a:r>
            <a:r>
              <a:rPr lang="en-US" altLang="ru-RU" sz="1400" dirty="0"/>
              <a:t> s) {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run = 0;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}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void </a:t>
            </a:r>
            <a:r>
              <a:rPr lang="en-US" altLang="ru-RU" sz="1400" dirty="0" err="1"/>
              <a:t>connect_callback</a:t>
            </a:r>
            <a:r>
              <a:rPr lang="en-US" altLang="ru-RU" sz="1400" dirty="0"/>
              <a:t>(</a:t>
            </a:r>
            <a:r>
              <a:rPr lang="en-US" altLang="ru-RU" sz="1400" dirty="0" err="1"/>
              <a:t>struct</a:t>
            </a:r>
            <a:r>
              <a:rPr lang="en-US" altLang="ru-RU" sz="1400" dirty="0"/>
              <a:t> </a:t>
            </a:r>
            <a:r>
              <a:rPr lang="en-US" altLang="ru-RU" sz="1400" dirty="0" err="1"/>
              <a:t>mosquitto</a:t>
            </a:r>
            <a:r>
              <a:rPr lang="en-US" altLang="ru-RU" sz="1400" dirty="0"/>
              <a:t> *</a:t>
            </a:r>
            <a:r>
              <a:rPr lang="en-US" altLang="ru-RU" sz="1400" dirty="0" err="1"/>
              <a:t>mosq</a:t>
            </a:r>
            <a:r>
              <a:rPr lang="en-US" altLang="ru-RU" sz="1400" dirty="0"/>
              <a:t>, void *</a:t>
            </a:r>
            <a:r>
              <a:rPr lang="en-US" altLang="ru-RU" sz="1400" dirty="0" err="1"/>
              <a:t>obj</a:t>
            </a:r>
            <a:r>
              <a:rPr lang="en-US" altLang="ru-RU" sz="1400" dirty="0"/>
              <a:t>, </a:t>
            </a:r>
            <a:r>
              <a:rPr lang="en-US" altLang="ru-RU" sz="1400" dirty="0" err="1"/>
              <a:t>int</a:t>
            </a:r>
            <a:r>
              <a:rPr lang="en-US" altLang="ru-RU" sz="1400" dirty="0"/>
              <a:t> result) {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</a:t>
            </a:r>
            <a:r>
              <a:rPr lang="en-US" altLang="ru-RU" sz="1400" dirty="0" err="1"/>
              <a:t>printf</a:t>
            </a:r>
            <a:r>
              <a:rPr lang="en-US" altLang="ru-RU" sz="1400" dirty="0"/>
              <a:t>("connect callback, </a:t>
            </a:r>
            <a:r>
              <a:rPr lang="en-US" altLang="ru-RU" sz="1400" dirty="0" err="1"/>
              <a:t>rc</a:t>
            </a:r>
            <a:r>
              <a:rPr lang="en-US" altLang="ru-RU" sz="1400" dirty="0"/>
              <a:t>=%d\n", result);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}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void </a:t>
            </a:r>
            <a:r>
              <a:rPr lang="en-US" altLang="ru-RU" sz="1400" dirty="0" err="1"/>
              <a:t>message_callback</a:t>
            </a:r>
            <a:r>
              <a:rPr lang="en-US" altLang="ru-RU" sz="1400" dirty="0"/>
              <a:t>(</a:t>
            </a:r>
            <a:r>
              <a:rPr lang="en-US" altLang="ru-RU" sz="1400" dirty="0" err="1"/>
              <a:t>struct</a:t>
            </a:r>
            <a:r>
              <a:rPr lang="en-US" altLang="ru-RU" sz="1400" dirty="0"/>
              <a:t> </a:t>
            </a:r>
            <a:r>
              <a:rPr lang="en-US" altLang="ru-RU" sz="1400" dirty="0" err="1"/>
              <a:t>mosquitto</a:t>
            </a:r>
            <a:r>
              <a:rPr lang="en-US" altLang="ru-RU" sz="1400" dirty="0"/>
              <a:t> *</a:t>
            </a:r>
            <a:r>
              <a:rPr lang="en-US" altLang="ru-RU" sz="1400" dirty="0" err="1"/>
              <a:t>mosq</a:t>
            </a:r>
            <a:r>
              <a:rPr lang="en-US" altLang="ru-RU" sz="1400" dirty="0"/>
              <a:t>, void *</a:t>
            </a:r>
            <a:r>
              <a:rPr lang="en-US" altLang="ru-RU" sz="1400" dirty="0" err="1"/>
              <a:t>obj</a:t>
            </a:r>
            <a:r>
              <a:rPr lang="en-US" altLang="ru-RU" sz="1400" dirty="0"/>
              <a:t>, </a:t>
            </a:r>
            <a:r>
              <a:rPr lang="en-US" altLang="ru-RU" sz="1400" dirty="0" err="1"/>
              <a:t>const</a:t>
            </a:r>
            <a:r>
              <a:rPr lang="en-US" altLang="ru-RU" sz="1400" dirty="0"/>
              <a:t> </a:t>
            </a:r>
            <a:r>
              <a:rPr lang="en-US" altLang="ru-RU" sz="1400" dirty="0" err="1"/>
              <a:t>struct</a:t>
            </a:r>
            <a:r>
              <a:rPr lang="en-US" altLang="ru-RU" sz="1400" dirty="0"/>
              <a:t> </a:t>
            </a:r>
            <a:r>
              <a:rPr lang="en-US" altLang="ru-RU" sz="1400" dirty="0" err="1"/>
              <a:t>mosquitto_message</a:t>
            </a:r>
            <a:r>
              <a:rPr lang="en-US" altLang="ru-RU" sz="1400" dirty="0"/>
              <a:t> *message) {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bool match = 0;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</a:t>
            </a:r>
            <a:r>
              <a:rPr lang="en-US" altLang="ru-RU" sz="1400" dirty="0" err="1"/>
              <a:t>printf</a:t>
            </a:r>
            <a:r>
              <a:rPr lang="en-US" altLang="ru-RU" sz="1400" dirty="0"/>
              <a:t>("got message '%.*s' for topic '%s'\n", message-&gt;</a:t>
            </a:r>
            <a:r>
              <a:rPr lang="en-US" altLang="ru-RU" sz="1400" dirty="0" err="1"/>
              <a:t>payloadlen</a:t>
            </a:r>
            <a:r>
              <a:rPr lang="en-US" altLang="ru-RU" sz="1400" dirty="0"/>
              <a:t>, (char*) message-&gt;payload, message-&gt;topic);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</a:t>
            </a:r>
            <a:r>
              <a:rPr lang="en-US" altLang="ru-RU" sz="1400" dirty="0" err="1"/>
              <a:t>mosquitto_topic_matches_sub</a:t>
            </a:r>
            <a:r>
              <a:rPr lang="en-US" altLang="ru-RU" sz="1400" dirty="0"/>
              <a:t>("/devices/</a:t>
            </a:r>
            <a:r>
              <a:rPr lang="en-US" altLang="ru-RU" sz="1400" dirty="0" err="1"/>
              <a:t>wb-adc</a:t>
            </a:r>
            <a:r>
              <a:rPr lang="en-US" altLang="ru-RU" sz="1400" dirty="0"/>
              <a:t>/controls/+", message-&gt;topic, &amp;match);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if (match) {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	</a:t>
            </a:r>
            <a:r>
              <a:rPr lang="en-US" altLang="ru-RU" sz="1400" dirty="0" err="1"/>
              <a:t>printf</a:t>
            </a:r>
            <a:r>
              <a:rPr lang="en-US" altLang="ru-RU" sz="1400" dirty="0"/>
              <a:t>("got message for ADC topic\n");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}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67113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Grp="1" noChangeArrowheads="1"/>
          </p:cNvSpPr>
          <p:nvPr>
            <p:ph type="title"/>
          </p:nvPr>
        </p:nvSpPr>
        <p:spPr>
          <a:xfrm>
            <a:off x="1933575" y="0"/>
            <a:ext cx="8277225" cy="1144587"/>
          </a:xfrm>
        </p:spPr>
        <p:txBody>
          <a:bodyPr vert="horz" lIns="91440" tIns="10138" rIns="91440" bIns="45720" rtlCol="0" anchor="t">
            <a:normAutofit/>
          </a:bodyPr>
          <a:lstStyle/>
          <a:p>
            <a:pPr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ru-RU" altLang="ru-RU" sz="2800" dirty="0"/>
              <a:t>Пример работы с </a:t>
            </a:r>
            <a:r>
              <a:rPr lang="en-US" altLang="ru-RU" sz="2800" dirty="0" err="1"/>
              <a:t>mqtt</a:t>
            </a:r>
            <a:r>
              <a:rPr lang="en-US" altLang="ru-RU" sz="2800" dirty="0"/>
              <a:t> </a:t>
            </a:r>
            <a:r>
              <a:rPr lang="ru-RU" altLang="ru-RU" sz="2800" dirty="0"/>
              <a:t>на </a:t>
            </a:r>
            <a:r>
              <a:rPr lang="en-US" altLang="ru-RU" sz="2800" dirty="0"/>
              <a:t>C++</a:t>
            </a:r>
          </a:p>
        </p:txBody>
      </p:sp>
      <p:sp>
        <p:nvSpPr>
          <p:cNvPr id="18435" name="Rectangle 2"/>
          <p:cNvSpPr txBox="1">
            <a:spLocks noChangeArrowheads="1"/>
          </p:cNvSpPr>
          <p:nvPr/>
        </p:nvSpPr>
        <p:spPr bwMode="auto">
          <a:xfrm>
            <a:off x="1933575" y="572293"/>
            <a:ext cx="8521700" cy="5838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42900" indent="-309563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lang="en-US" altLang="ru-RU" sz="1400" dirty="0" err="1"/>
              <a:t>int</a:t>
            </a:r>
            <a:r>
              <a:rPr lang="en-US" altLang="ru-RU" sz="1400" dirty="0"/>
              <a:t> main(</a:t>
            </a:r>
            <a:r>
              <a:rPr lang="en-US" altLang="ru-RU" sz="1400" dirty="0" err="1"/>
              <a:t>int</a:t>
            </a:r>
            <a:r>
              <a:rPr lang="en-US" altLang="ru-RU" sz="1400" dirty="0"/>
              <a:t> </a:t>
            </a:r>
            <a:r>
              <a:rPr lang="en-US" altLang="ru-RU" sz="1400" dirty="0" err="1"/>
              <a:t>argc</a:t>
            </a:r>
            <a:r>
              <a:rPr lang="en-US" altLang="ru-RU" sz="1400" dirty="0"/>
              <a:t>, char *</a:t>
            </a:r>
            <a:r>
              <a:rPr lang="en-US" altLang="ru-RU" sz="1400" dirty="0" err="1"/>
              <a:t>argv</a:t>
            </a:r>
            <a:r>
              <a:rPr lang="en-US" altLang="ru-RU" sz="1400" dirty="0"/>
              <a:t>[]) {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uint8_t reconnect = true;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char </a:t>
            </a:r>
            <a:r>
              <a:rPr lang="en-US" altLang="ru-RU" sz="1400" dirty="0" err="1"/>
              <a:t>clientid</a:t>
            </a:r>
            <a:r>
              <a:rPr lang="en-US" altLang="ru-RU" sz="1400" dirty="0"/>
              <a:t>[24];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</a:t>
            </a:r>
            <a:r>
              <a:rPr lang="en-US" altLang="ru-RU" sz="1400" dirty="0" err="1"/>
              <a:t>struct</a:t>
            </a:r>
            <a:r>
              <a:rPr lang="en-US" altLang="ru-RU" sz="1400" dirty="0"/>
              <a:t> </a:t>
            </a:r>
            <a:r>
              <a:rPr lang="en-US" altLang="ru-RU" sz="1400" dirty="0" err="1"/>
              <a:t>mosquitto</a:t>
            </a:r>
            <a:r>
              <a:rPr lang="en-US" altLang="ru-RU" sz="1400" dirty="0"/>
              <a:t> *</a:t>
            </a:r>
            <a:r>
              <a:rPr lang="en-US" altLang="ru-RU" sz="1400" dirty="0" err="1"/>
              <a:t>mosq</a:t>
            </a:r>
            <a:r>
              <a:rPr lang="en-US" altLang="ru-RU" sz="1400" dirty="0"/>
              <a:t>;  </a:t>
            </a:r>
            <a:r>
              <a:rPr lang="en-US" altLang="ru-RU" sz="1400" dirty="0" err="1"/>
              <a:t>int</a:t>
            </a:r>
            <a:r>
              <a:rPr lang="en-US" altLang="ru-RU" sz="1400" dirty="0"/>
              <a:t> </a:t>
            </a:r>
            <a:r>
              <a:rPr lang="en-US" altLang="ru-RU" sz="1400" dirty="0" err="1"/>
              <a:t>rc</a:t>
            </a:r>
            <a:r>
              <a:rPr lang="en-US" altLang="ru-RU" sz="1400" dirty="0"/>
              <a:t> = 0;</a:t>
            </a:r>
          </a:p>
          <a:p>
            <a:pPr>
              <a:spcBef>
                <a:spcPct val="0"/>
              </a:spcBef>
              <a:buClrTx/>
            </a:pPr>
            <a:endParaRPr lang="en-US" altLang="ru-RU" sz="1400" dirty="0"/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signal(SIGINT, </a:t>
            </a:r>
            <a:r>
              <a:rPr lang="en-US" altLang="ru-RU" sz="1400" dirty="0" err="1"/>
              <a:t>handle_signal</a:t>
            </a:r>
            <a:r>
              <a:rPr lang="en-US" altLang="ru-RU" sz="1400" dirty="0"/>
              <a:t>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signal(SIGTERM, </a:t>
            </a:r>
            <a:r>
              <a:rPr lang="en-US" altLang="ru-RU" sz="1400" dirty="0" err="1"/>
              <a:t>handle_signal</a:t>
            </a:r>
            <a:r>
              <a:rPr lang="en-US" altLang="ru-RU" sz="1400" dirty="0"/>
              <a:t>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</a:t>
            </a:r>
            <a:r>
              <a:rPr lang="en-US" altLang="ru-RU" sz="1400" dirty="0" err="1"/>
              <a:t>mosquitto_lib_init</a:t>
            </a:r>
            <a:r>
              <a:rPr lang="en-US" altLang="ru-RU" sz="1400" dirty="0"/>
              <a:t>();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</a:t>
            </a:r>
            <a:r>
              <a:rPr lang="en-US" altLang="ru-RU" sz="1400" dirty="0" err="1"/>
              <a:t>memset</a:t>
            </a:r>
            <a:r>
              <a:rPr lang="en-US" altLang="ru-RU" sz="1400" dirty="0"/>
              <a:t>(</a:t>
            </a:r>
            <a:r>
              <a:rPr lang="en-US" altLang="ru-RU" sz="1400" dirty="0" err="1"/>
              <a:t>clientid</a:t>
            </a:r>
            <a:r>
              <a:rPr lang="en-US" altLang="ru-RU" sz="1400" dirty="0"/>
              <a:t>, 0, 24);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</a:t>
            </a:r>
            <a:r>
              <a:rPr lang="en-US" altLang="ru-RU" sz="1400" dirty="0" err="1"/>
              <a:t>snprintf</a:t>
            </a:r>
            <a:r>
              <a:rPr lang="en-US" altLang="ru-RU" sz="1400" dirty="0"/>
              <a:t>(</a:t>
            </a:r>
            <a:r>
              <a:rPr lang="en-US" altLang="ru-RU" sz="1400" dirty="0" err="1"/>
              <a:t>clientid</a:t>
            </a:r>
            <a:r>
              <a:rPr lang="en-US" altLang="ru-RU" sz="1400" dirty="0"/>
              <a:t>, 23, "</a:t>
            </a:r>
            <a:r>
              <a:rPr lang="en-US" altLang="ru-RU" sz="1400" dirty="0" err="1"/>
              <a:t>mysql_log_%d</a:t>
            </a:r>
            <a:r>
              <a:rPr lang="en-US" altLang="ru-RU" sz="1400" dirty="0"/>
              <a:t>", </a:t>
            </a:r>
            <a:r>
              <a:rPr lang="en-US" altLang="ru-RU" sz="1400" dirty="0" err="1"/>
              <a:t>getpid</a:t>
            </a:r>
            <a:r>
              <a:rPr lang="en-US" altLang="ru-RU" sz="1400" dirty="0"/>
              <a:t>());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</a:t>
            </a:r>
            <a:r>
              <a:rPr lang="en-US" altLang="ru-RU" sz="1400" dirty="0" err="1"/>
              <a:t>mosq</a:t>
            </a:r>
            <a:r>
              <a:rPr lang="en-US" altLang="ru-RU" sz="1400" dirty="0"/>
              <a:t> = </a:t>
            </a:r>
            <a:r>
              <a:rPr lang="en-US" altLang="ru-RU" sz="1400" dirty="0" err="1"/>
              <a:t>mosquitto_new</a:t>
            </a:r>
            <a:r>
              <a:rPr lang="en-US" altLang="ru-RU" sz="1400" dirty="0"/>
              <a:t>(</a:t>
            </a:r>
            <a:r>
              <a:rPr lang="en-US" altLang="ru-RU" sz="1400" dirty="0" err="1"/>
              <a:t>clientid</a:t>
            </a:r>
            <a:r>
              <a:rPr lang="en-US" altLang="ru-RU" sz="1400" dirty="0"/>
              <a:t>, true, 0);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if  (</a:t>
            </a:r>
            <a:r>
              <a:rPr lang="en-US" altLang="ru-RU" sz="1400" dirty="0" err="1"/>
              <a:t>mosq</a:t>
            </a:r>
            <a:r>
              <a:rPr lang="en-US" altLang="ru-RU" sz="1400" dirty="0"/>
              <a:t>){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	</a:t>
            </a:r>
            <a:r>
              <a:rPr lang="en-US" altLang="ru-RU" sz="1400" dirty="0" err="1"/>
              <a:t>mosquitto_connect_callback_set</a:t>
            </a:r>
            <a:r>
              <a:rPr lang="en-US" altLang="ru-RU" sz="1400" dirty="0"/>
              <a:t>(</a:t>
            </a:r>
            <a:r>
              <a:rPr lang="en-US" altLang="ru-RU" sz="1400" dirty="0" err="1"/>
              <a:t>mosq</a:t>
            </a:r>
            <a:r>
              <a:rPr lang="en-US" altLang="ru-RU" sz="1400" dirty="0"/>
              <a:t>, </a:t>
            </a:r>
            <a:r>
              <a:rPr lang="en-US" altLang="ru-RU" sz="1400" dirty="0" err="1"/>
              <a:t>connect_callback</a:t>
            </a:r>
            <a:r>
              <a:rPr lang="en-US" altLang="ru-RU" sz="1400" dirty="0"/>
              <a:t>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	</a:t>
            </a:r>
            <a:r>
              <a:rPr lang="en-US" altLang="ru-RU" sz="1400" dirty="0" err="1"/>
              <a:t>mosquitto_message_callback_set</a:t>
            </a:r>
            <a:r>
              <a:rPr lang="en-US" altLang="ru-RU" sz="1400" dirty="0"/>
              <a:t>(</a:t>
            </a:r>
            <a:r>
              <a:rPr lang="en-US" altLang="ru-RU" sz="1400" dirty="0" err="1"/>
              <a:t>mosq</a:t>
            </a:r>
            <a:r>
              <a:rPr lang="en-US" altLang="ru-RU" sz="1400" dirty="0"/>
              <a:t>, </a:t>
            </a:r>
            <a:r>
              <a:rPr lang="en-US" altLang="ru-RU" sz="1400" dirty="0" err="1"/>
              <a:t>message_callback</a:t>
            </a:r>
            <a:r>
              <a:rPr lang="en-US" altLang="ru-RU" sz="1400" dirty="0"/>
              <a:t>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    </a:t>
            </a:r>
            <a:r>
              <a:rPr lang="en-US" altLang="ru-RU" sz="1400" dirty="0" err="1"/>
              <a:t>rc</a:t>
            </a:r>
            <a:r>
              <a:rPr lang="en-US" altLang="ru-RU" sz="1400" dirty="0"/>
              <a:t> = </a:t>
            </a:r>
            <a:r>
              <a:rPr lang="en-US" altLang="ru-RU" sz="1400" dirty="0" err="1"/>
              <a:t>mosquitto_connect</a:t>
            </a:r>
            <a:r>
              <a:rPr lang="en-US" altLang="ru-RU" sz="1400" dirty="0"/>
              <a:t>(</a:t>
            </a:r>
            <a:r>
              <a:rPr lang="en-US" altLang="ru-RU" sz="1400" dirty="0" err="1"/>
              <a:t>mosq</a:t>
            </a:r>
            <a:r>
              <a:rPr lang="en-US" altLang="ru-RU" sz="1400" dirty="0"/>
              <a:t>, </a:t>
            </a:r>
            <a:r>
              <a:rPr lang="en-US" altLang="ru-RU" sz="1400" dirty="0" err="1"/>
              <a:t>mqtt_host</a:t>
            </a:r>
            <a:r>
              <a:rPr lang="en-US" altLang="ru-RU" sz="1400" dirty="0"/>
              <a:t>, </a:t>
            </a:r>
            <a:r>
              <a:rPr lang="en-US" altLang="ru-RU" sz="1400" dirty="0" err="1"/>
              <a:t>mqtt_port</a:t>
            </a:r>
            <a:r>
              <a:rPr lang="en-US" altLang="ru-RU" sz="1400" dirty="0"/>
              <a:t>, 60);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	</a:t>
            </a:r>
            <a:r>
              <a:rPr lang="en-US" altLang="ru-RU" sz="1400" dirty="0" err="1"/>
              <a:t>mosquitto_subscribe</a:t>
            </a:r>
            <a:r>
              <a:rPr lang="en-US" altLang="ru-RU" sz="1400" dirty="0"/>
              <a:t>(</a:t>
            </a:r>
            <a:r>
              <a:rPr lang="en-US" altLang="ru-RU" sz="1400" dirty="0" err="1"/>
              <a:t>mosq</a:t>
            </a:r>
            <a:r>
              <a:rPr lang="en-US" altLang="ru-RU" sz="1400" dirty="0"/>
              <a:t>, NULL, "/devices/</a:t>
            </a:r>
            <a:r>
              <a:rPr lang="en-US" altLang="ru-RU" sz="1400" dirty="0" err="1"/>
              <a:t>wb-adc</a:t>
            </a:r>
            <a:r>
              <a:rPr lang="en-US" altLang="ru-RU" sz="1400" dirty="0"/>
              <a:t>/controls/+", 0);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	while(run){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		</a:t>
            </a:r>
            <a:r>
              <a:rPr lang="en-US" altLang="ru-RU" sz="1400" dirty="0" err="1"/>
              <a:t>rc</a:t>
            </a:r>
            <a:r>
              <a:rPr lang="en-US" altLang="ru-RU" sz="1400" dirty="0"/>
              <a:t> = </a:t>
            </a:r>
            <a:r>
              <a:rPr lang="en-US" altLang="ru-RU" sz="1400" dirty="0" err="1"/>
              <a:t>mosquitto_loop</a:t>
            </a:r>
            <a:r>
              <a:rPr lang="en-US" altLang="ru-RU" sz="1400" dirty="0"/>
              <a:t>(</a:t>
            </a:r>
            <a:r>
              <a:rPr lang="en-US" altLang="ru-RU" sz="1400" dirty="0" err="1"/>
              <a:t>mosq</a:t>
            </a:r>
            <a:r>
              <a:rPr lang="en-US" altLang="ru-RU" sz="1400" dirty="0"/>
              <a:t>, -1, 1);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		if(run &amp;&amp; </a:t>
            </a:r>
            <a:r>
              <a:rPr lang="en-US" altLang="ru-RU" sz="1400" dirty="0" err="1"/>
              <a:t>rc</a:t>
            </a:r>
            <a:r>
              <a:rPr lang="en-US" altLang="ru-RU" sz="1400" dirty="0"/>
              <a:t>){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			</a:t>
            </a:r>
            <a:r>
              <a:rPr lang="en-US" altLang="ru-RU" sz="1400" dirty="0" err="1"/>
              <a:t>printf</a:t>
            </a:r>
            <a:r>
              <a:rPr lang="en-US" altLang="ru-RU" sz="1400" dirty="0"/>
              <a:t>("connection error!\n");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			sleep(10);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			</a:t>
            </a:r>
            <a:r>
              <a:rPr lang="en-US" altLang="ru-RU" sz="1400" dirty="0" err="1"/>
              <a:t>mosquitto_reconnect</a:t>
            </a:r>
            <a:r>
              <a:rPr lang="en-US" altLang="ru-RU" sz="1400" dirty="0"/>
              <a:t>(</a:t>
            </a:r>
            <a:r>
              <a:rPr lang="en-US" altLang="ru-RU" sz="1400" dirty="0" err="1"/>
              <a:t>mosq</a:t>
            </a:r>
            <a:r>
              <a:rPr lang="en-US" altLang="ru-RU" sz="1400" dirty="0"/>
              <a:t>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		}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	}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	</a:t>
            </a:r>
            <a:r>
              <a:rPr lang="en-US" altLang="ru-RU" sz="1400" dirty="0" err="1"/>
              <a:t>mosquitto_destroy</a:t>
            </a:r>
            <a:r>
              <a:rPr lang="en-US" altLang="ru-RU" sz="1400" dirty="0"/>
              <a:t>(</a:t>
            </a:r>
            <a:r>
              <a:rPr lang="en-US" altLang="ru-RU" sz="1400" dirty="0" err="1"/>
              <a:t>mosq</a:t>
            </a:r>
            <a:r>
              <a:rPr lang="en-US" altLang="ru-RU" sz="1400" dirty="0"/>
              <a:t>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}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</a:t>
            </a:r>
            <a:r>
              <a:rPr lang="en-US" altLang="ru-RU" sz="1400" dirty="0" err="1"/>
              <a:t>mosquitto_lib_cleanup</a:t>
            </a:r>
            <a:r>
              <a:rPr lang="en-US" altLang="ru-RU" sz="1400" dirty="0"/>
              <a:t>();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	return </a:t>
            </a:r>
            <a:r>
              <a:rPr lang="en-US" altLang="ru-RU" sz="1400" dirty="0" err="1"/>
              <a:t>rc</a:t>
            </a:r>
            <a:r>
              <a:rPr lang="en-US" altLang="ru-RU" sz="1400" dirty="0"/>
              <a:t>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}</a:t>
            </a:r>
            <a:endParaRPr lang="ru-RU" altLang="ru-RU" sz="1400" dirty="0"/>
          </a:p>
        </p:txBody>
      </p:sp>
    </p:spTree>
    <p:extLst>
      <p:ext uri="{BB962C8B-B14F-4D97-AF65-F5344CB8AC3E}">
        <p14:creationId xmlns:p14="http://schemas.microsoft.com/office/powerpoint/2010/main" val="10540113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Grp="1" noChangeArrowheads="1"/>
          </p:cNvSpPr>
          <p:nvPr>
            <p:ph type="title"/>
          </p:nvPr>
        </p:nvSpPr>
        <p:spPr>
          <a:xfrm>
            <a:off x="1933575" y="0"/>
            <a:ext cx="8277225" cy="1144587"/>
          </a:xfrm>
        </p:spPr>
        <p:txBody>
          <a:bodyPr vert="horz" lIns="91440" tIns="10138" rIns="91440" bIns="45720" rtlCol="0" anchor="t">
            <a:normAutofit/>
          </a:bodyPr>
          <a:lstStyle/>
          <a:p>
            <a:pPr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ru-RU" altLang="ru-RU" sz="2800" dirty="0"/>
              <a:t>Пример работы с </a:t>
            </a:r>
            <a:r>
              <a:rPr lang="en-US" altLang="ru-RU" sz="2800" dirty="0" err="1"/>
              <a:t>mqtt</a:t>
            </a:r>
            <a:r>
              <a:rPr lang="en-US" altLang="ru-RU" sz="2800" dirty="0"/>
              <a:t> publisher </a:t>
            </a:r>
            <a:r>
              <a:rPr lang="ru-RU" altLang="ru-RU" sz="2800" dirty="0"/>
              <a:t>на </a:t>
            </a:r>
            <a:r>
              <a:rPr lang="en-US" altLang="ru-RU" sz="2800" dirty="0"/>
              <a:t>C++</a:t>
            </a:r>
          </a:p>
        </p:txBody>
      </p:sp>
      <p:sp>
        <p:nvSpPr>
          <p:cNvPr id="18435" name="Rectangle 2"/>
          <p:cNvSpPr txBox="1">
            <a:spLocks noChangeArrowheads="1"/>
          </p:cNvSpPr>
          <p:nvPr/>
        </p:nvSpPr>
        <p:spPr bwMode="auto">
          <a:xfrm>
            <a:off x="1933575" y="572293"/>
            <a:ext cx="8521700" cy="5838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42900" indent="-309563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#include &lt;</a:t>
            </a:r>
            <a:r>
              <a:rPr lang="en-US" altLang="ru-RU" sz="1400" dirty="0" err="1"/>
              <a:t>stdio.h</a:t>
            </a:r>
            <a:r>
              <a:rPr lang="en-US" altLang="ru-RU" sz="1400" dirty="0"/>
              <a:t>&gt;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#include &lt;</a:t>
            </a:r>
            <a:r>
              <a:rPr lang="en-US" altLang="ru-RU" sz="1400" dirty="0" err="1"/>
              <a:t>stdlib.h</a:t>
            </a:r>
            <a:r>
              <a:rPr lang="en-US" altLang="ru-RU" sz="1400" dirty="0"/>
              <a:t>&gt;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#include &lt;</a:t>
            </a:r>
            <a:r>
              <a:rPr lang="en-US" altLang="ru-RU" sz="1400" dirty="0" err="1"/>
              <a:t>unistd.h</a:t>
            </a:r>
            <a:r>
              <a:rPr lang="en-US" altLang="ru-RU" sz="1400" dirty="0"/>
              <a:t>&gt;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#include &lt;</a:t>
            </a:r>
            <a:r>
              <a:rPr lang="en-US" altLang="ru-RU" sz="1400" dirty="0" err="1"/>
              <a:t>pthread.h</a:t>
            </a:r>
            <a:r>
              <a:rPr lang="en-US" altLang="ru-RU" sz="1400" dirty="0"/>
              <a:t>&gt;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#include &lt;</a:t>
            </a:r>
            <a:r>
              <a:rPr lang="en-US" altLang="ru-RU" sz="1400" dirty="0" err="1"/>
              <a:t>mosquitto.h</a:t>
            </a:r>
            <a:r>
              <a:rPr lang="en-US" altLang="ru-RU" sz="1400" dirty="0"/>
              <a:t>&gt;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#include &lt;</a:t>
            </a:r>
            <a:r>
              <a:rPr lang="en-US" altLang="ru-RU" sz="1400" dirty="0" err="1"/>
              <a:t>string.h</a:t>
            </a:r>
            <a:r>
              <a:rPr lang="en-US" altLang="ru-RU" sz="1400" dirty="0"/>
              <a:t>&gt;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#include &lt;</a:t>
            </a:r>
            <a:r>
              <a:rPr lang="en-US" altLang="ru-RU" sz="1400" dirty="0" err="1"/>
              <a:t>json</a:t>
            </a:r>
            <a:r>
              <a:rPr lang="en-US" altLang="ru-RU" sz="1400" dirty="0"/>
              <a:t>-c/</a:t>
            </a:r>
            <a:r>
              <a:rPr lang="en-US" altLang="ru-RU" sz="1400" dirty="0" err="1"/>
              <a:t>json.h</a:t>
            </a:r>
            <a:r>
              <a:rPr lang="en-US" altLang="ru-RU" sz="1400" dirty="0"/>
              <a:t>&gt;</a:t>
            </a:r>
          </a:p>
          <a:p>
            <a:pPr>
              <a:spcBef>
                <a:spcPct val="0"/>
              </a:spcBef>
              <a:buClrTx/>
            </a:pPr>
            <a:endParaRPr lang="en-US" altLang="ru-RU" sz="1400" dirty="0"/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#define NUM_MESSAGES    30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#define THREAD          10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#define MQTT_SERVER     "localhost"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#define KEEP_ALIVE      60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#define MQTT_PORT       1883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#define MQTT_PUB_TOPIC  "/</a:t>
            </a:r>
            <a:r>
              <a:rPr lang="en-US" altLang="ru-RU" sz="1400" dirty="0" err="1"/>
              <a:t>funmqqt</a:t>
            </a:r>
            <a:r>
              <a:rPr lang="en-US" altLang="ru-RU" sz="1400" dirty="0"/>
              <a:t>"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#define MQTT_QOS_LEVEL  2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#define MSG_MAX_SIZE    512</a:t>
            </a:r>
          </a:p>
          <a:p>
            <a:pPr>
              <a:spcBef>
                <a:spcPct val="0"/>
              </a:spcBef>
              <a:buClrTx/>
            </a:pPr>
            <a:endParaRPr lang="en-US" altLang="ru-RU" sz="1400" dirty="0"/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void </a:t>
            </a:r>
            <a:r>
              <a:rPr lang="en-US" altLang="ru-RU" sz="1400" dirty="0" err="1"/>
              <a:t>sendtoserver</a:t>
            </a:r>
            <a:r>
              <a:rPr lang="en-US" altLang="ru-RU" sz="1400" dirty="0"/>
              <a:t> (</a:t>
            </a:r>
            <a:r>
              <a:rPr lang="en-US" altLang="ru-RU" sz="1400" dirty="0" err="1"/>
              <a:t>const</a:t>
            </a:r>
            <a:r>
              <a:rPr lang="en-US" altLang="ru-RU" sz="1400" dirty="0"/>
              <a:t> char* data) {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    bool </a:t>
            </a:r>
            <a:r>
              <a:rPr lang="en-US" altLang="ru-RU" sz="1400" dirty="0" err="1"/>
              <a:t>clean_session</a:t>
            </a:r>
            <a:r>
              <a:rPr lang="en-US" altLang="ru-RU" sz="1400" dirty="0"/>
              <a:t> = true;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    </a:t>
            </a:r>
            <a:r>
              <a:rPr lang="en-US" altLang="ru-RU" sz="1400" dirty="0" err="1"/>
              <a:t>struct</a:t>
            </a:r>
            <a:r>
              <a:rPr lang="en-US" altLang="ru-RU" sz="1400" dirty="0"/>
              <a:t> </a:t>
            </a:r>
            <a:r>
              <a:rPr lang="en-US" altLang="ru-RU" sz="1400" dirty="0" err="1"/>
              <a:t>mosquitto</a:t>
            </a:r>
            <a:r>
              <a:rPr lang="en-US" altLang="ru-RU" sz="1400" dirty="0"/>
              <a:t> *</a:t>
            </a:r>
            <a:r>
              <a:rPr lang="en-US" altLang="ru-RU" sz="1400" dirty="0" err="1"/>
              <a:t>mosq</a:t>
            </a:r>
            <a:r>
              <a:rPr lang="en-US" altLang="ru-RU" sz="1400" dirty="0"/>
              <a:t> = NULL;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    </a:t>
            </a:r>
            <a:r>
              <a:rPr lang="en-US" altLang="ru-RU" sz="1400" dirty="0" err="1"/>
              <a:t>mosq</a:t>
            </a:r>
            <a:r>
              <a:rPr lang="en-US" altLang="ru-RU" sz="1400" dirty="0"/>
              <a:t> = </a:t>
            </a:r>
            <a:r>
              <a:rPr lang="en-US" altLang="ru-RU" sz="1400" dirty="0" err="1"/>
              <a:t>mosquitto_new</a:t>
            </a:r>
            <a:r>
              <a:rPr lang="en-US" altLang="ru-RU" sz="1400" dirty="0"/>
              <a:t>( NULL, </a:t>
            </a:r>
            <a:r>
              <a:rPr lang="en-US" altLang="ru-RU" sz="1400" dirty="0" err="1"/>
              <a:t>clean_session</a:t>
            </a:r>
            <a:r>
              <a:rPr lang="en-US" altLang="ru-RU" sz="1400" dirty="0"/>
              <a:t>, NULL 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    </a:t>
            </a:r>
            <a:r>
              <a:rPr lang="en-US" altLang="ru-RU" sz="1400" dirty="0" err="1"/>
              <a:t>mosquitto_connect</a:t>
            </a:r>
            <a:r>
              <a:rPr lang="en-US" altLang="ru-RU" sz="1400" dirty="0"/>
              <a:t>(</a:t>
            </a:r>
            <a:r>
              <a:rPr lang="en-US" altLang="ru-RU" sz="1400" dirty="0" err="1"/>
              <a:t>mosq</a:t>
            </a:r>
            <a:r>
              <a:rPr lang="en-US" altLang="ru-RU" sz="1400" dirty="0"/>
              <a:t>, MQTT_SERVER, MQTT_PORT, KEEP_ALIVE);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    </a:t>
            </a:r>
            <a:r>
              <a:rPr lang="en-US" altLang="ru-RU" sz="1400" b="1" dirty="0" err="1"/>
              <a:t>mosquitto_publish</a:t>
            </a:r>
            <a:r>
              <a:rPr lang="en-US" altLang="ru-RU" sz="1400" dirty="0"/>
              <a:t>( </a:t>
            </a:r>
            <a:r>
              <a:rPr lang="en-US" altLang="ru-RU" sz="1400" dirty="0" err="1"/>
              <a:t>mosq</a:t>
            </a:r>
            <a:r>
              <a:rPr lang="en-US" altLang="ru-RU" sz="1400" dirty="0"/>
              <a:t>, NULL, MQTT_PUB_TOPIC, </a:t>
            </a:r>
            <a:r>
              <a:rPr lang="en-US" altLang="ru-RU" sz="1400" dirty="0" err="1"/>
              <a:t>strlen</a:t>
            </a:r>
            <a:r>
              <a:rPr lang="en-US" altLang="ru-RU" sz="1400" dirty="0"/>
              <a:t>(data), data, 0, 0 );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    </a:t>
            </a:r>
            <a:r>
              <a:rPr lang="en-US" altLang="ru-RU" sz="1400" dirty="0" err="1"/>
              <a:t>mosquitto_destroy</a:t>
            </a:r>
            <a:r>
              <a:rPr lang="en-US" altLang="ru-RU" sz="1400" dirty="0"/>
              <a:t>( </a:t>
            </a:r>
            <a:r>
              <a:rPr lang="en-US" altLang="ru-RU" sz="1400" dirty="0" err="1"/>
              <a:t>mosq</a:t>
            </a:r>
            <a:r>
              <a:rPr lang="en-US" altLang="ru-RU" sz="1400" dirty="0"/>
              <a:t> 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400" dirty="0"/>
              <a:t>}</a:t>
            </a:r>
          </a:p>
          <a:p>
            <a:pPr>
              <a:spcBef>
                <a:spcPct val="0"/>
              </a:spcBef>
              <a:buClrTx/>
            </a:pPr>
            <a:endParaRPr lang="en-US" altLang="ru-RU" sz="1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550794" y="6410385"/>
            <a:ext cx="99344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https://medium.com/@Sorawich.ts/mqtt-with-multithread-7fc01db93b51</a:t>
            </a:r>
          </a:p>
        </p:txBody>
      </p:sp>
    </p:spTree>
    <p:extLst>
      <p:ext uri="{BB962C8B-B14F-4D97-AF65-F5344CB8AC3E}">
        <p14:creationId xmlns:p14="http://schemas.microsoft.com/office/powerpoint/2010/main" val="4692035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Grp="1" noChangeArrowheads="1"/>
          </p:cNvSpPr>
          <p:nvPr>
            <p:ph type="title"/>
          </p:nvPr>
        </p:nvSpPr>
        <p:spPr>
          <a:xfrm>
            <a:off x="1933575" y="0"/>
            <a:ext cx="8277225" cy="1144587"/>
          </a:xfrm>
        </p:spPr>
        <p:txBody>
          <a:bodyPr vert="horz" lIns="91440" tIns="10138" rIns="91440" bIns="45720" rtlCol="0" anchor="t">
            <a:normAutofit/>
          </a:bodyPr>
          <a:lstStyle/>
          <a:p>
            <a:pPr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ru-RU" altLang="ru-RU" sz="2800" dirty="0"/>
              <a:t>Пример работы с </a:t>
            </a:r>
            <a:r>
              <a:rPr lang="en-US" altLang="ru-RU" sz="2800" dirty="0" err="1"/>
              <a:t>mqtt</a:t>
            </a:r>
            <a:r>
              <a:rPr lang="en-US" altLang="ru-RU" sz="2800" dirty="0"/>
              <a:t> publisher </a:t>
            </a:r>
            <a:r>
              <a:rPr lang="ru-RU" altLang="ru-RU" sz="2800" dirty="0"/>
              <a:t>на </a:t>
            </a:r>
            <a:r>
              <a:rPr lang="en-US" altLang="ru-RU" sz="2800" dirty="0"/>
              <a:t>C++</a:t>
            </a:r>
          </a:p>
        </p:txBody>
      </p:sp>
      <p:sp>
        <p:nvSpPr>
          <p:cNvPr id="18435" name="Rectangle 2"/>
          <p:cNvSpPr txBox="1">
            <a:spLocks noChangeArrowheads="1"/>
          </p:cNvSpPr>
          <p:nvPr/>
        </p:nvSpPr>
        <p:spPr bwMode="auto">
          <a:xfrm>
            <a:off x="1933575" y="572293"/>
            <a:ext cx="8521700" cy="5838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42900" indent="-309563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void *Publish (void *</a:t>
            </a:r>
            <a:r>
              <a:rPr lang="en-US" altLang="ru-RU" sz="1100" dirty="0" err="1"/>
              <a:t>threadid</a:t>
            </a:r>
            <a:r>
              <a:rPr lang="en-US" altLang="ru-RU" sz="1100" dirty="0"/>
              <a:t>) {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long id = (long)</a:t>
            </a:r>
            <a:r>
              <a:rPr lang="en-US" altLang="ru-RU" sz="1100" dirty="0" err="1"/>
              <a:t>threadid</a:t>
            </a:r>
            <a:r>
              <a:rPr lang="en-US" altLang="ru-RU" sz="1100" dirty="0"/>
              <a:t>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static </a:t>
            </a:r>
            <a:r>
              <a:rPr lang="en-US" altLang="ru-RU" sz="1100" dirty="0" err="1"/>
              <a:t>int</a:t>
            </a:r>
            <a:r>
              <a:rPr lang="en-US" altLang="ru-RU" sz="1100" dirty="0"/>
              <a:t> </a:t>
            </a:r>
            <a:r>
              <a:rPr lang="en-US" altLang="ru-RU" sz="1100" dirty="0" err="1"/>
              <a:t>uniquemessageid</a:t>
            </a:r>
            <a:r>
              <a:rPr lang="en-US" altLang="ru-RU" sz="1100" dirty="0"/>
              <a:t> = 0;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for (</a:t>
            </a:r>
            <a:r>
              <a:rPr lang="en-US" altLang="ru-RU" sz="1100" dirty="0" err="1"/>
              <a:t>int</a:t>
            </a:r>
            <a:r>
              <a:rPr lang="en-US" altLang="ru-RU" sz="1100" dirty="0"/>
              <a:t> </a:t>
            </a:r>
            <a:r>
              <a:rPr lang="en-US" altLang="ru-RU" sz="1100" dirty="0" err="1"/>
              <a:t>i</a:t>
            </a:r>
            <a:r>
              <a:rPr lang="en-US" altLang="ru-RU" sz="1100" dirty="0"/>
              <a:t> = 0; </a:t>
            </a:r>
            <a:r>
              <a:rPr lang="en-US" altLang="ru-RU" sz="1100" dirty="0" err="1"/>
              <a:t>i</a:t>
            </a:r>
            <a:r>
              <a:rPr lang="en-US" altLang="ru-RU" sz="1100" dirty="0"/>
              <a:t> &lt; NUM_MESSAGES; </a:t>
            </a:r>
            <a:r>
              <a:rPr lang="en-US" altLang="ru-RU" sz="1100" dirty="0" err="1"/>
              <a:t>i</a:t>
            </a:r>
            <a:r>
              <a:rPr lang="en-US" altLang="ru-RU" sz="1100" dirty="0"/>
              <a:t>++) {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    char message[128];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    </a:t>
            </a:r>
            <a:r>
              <a:rPr lang="en-US" altLang="ru-RU" sz="1100" dirty="0" err="1"/>
              <a:t>snprintf</a:t>
            </a:r>
            <a:r>
              <a:rPr lang="en-US" altLang="ru-RU" sz="1100" dirty="0"/>
              <a:t>(message, </a:t>
            </a:r>
            <a:r>
              <a:rPr lang="en-US" altLang="ru-RU" sz="1100" dirty="0" err="1"/>
              <a:t>sizeof</a:t>
            </a:r>
            <a:r>
              <a:rPr lang="en-US" altLang="ru-RU" sz="1100" dirty="0"/>
              <a:t>(message), "HELLOOOOOO");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    </a:t>
            </a:r>
            <a:r>
              <a:rPr lang="en-US" altLang="ru-RU" sz="1100" dirty="0" err="1"/>
              <a:t>json_object</a:t>
            </a:r>
            <a:r>
              <a:rPr lang="en-US" altLang="ru-RU" sz="1100" dirty="0"/>
              <a:t> *</a:t>
            </a:r>
            <a:r>
              <a:rPr lang="en-US" altLang="ru-RU" sz="1100" dirty="0" err="1"/>
              <a:t>json_obj</a:t>
            </a:r>
            <a:r>
              <a:rPr lang="en-US" altLang="ru-RU" sz="1100" dirty="0"/>
              <a:t>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    </a:t>
            </a:r>
            <a:r>
              <a:rPr lang="en-US" altLang="ru-RU" sz="1100" dirty="0" err="1"/>
              <a:t>json_obj</a:t>
            </a:r>
            <a:r>
              <a:rPr lang="en-US" altLang="ru-RU" sz="1100" dirty="0"/>
              <a:t> = </a:t>
            </a:r>
            <a:r>
              <a:rPr lang="en-US" altLang="ru-RU" sz="1100" dirty="0" err="1"/>
              <a:t>json_tokener_parse</a:t>
            </a:r>
            <a:r>
              <a:rPr lang="en-US" altLang="ru-RU" sz="1100" dirty="0"/>
              <a:t>( "{}" 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    </a:t>
            </a:r>
            <a:r>
              <a:rPr lang="en-US" altLang="ru-RU" sz="1100" dirty="0" err="1"/>
              <a:t>const</a:t>
            </a:r>
            <a:r>
              <a:rPr lang="en-US" altLang="ru-RU" sz="1100" dirty="0"/>
              <a:t> char *</a:t>
            </a:r>
            <a:r>
              <a:rPr lang="en-US" altLang="ru-RU" sz="1100" dirty="0" err="1"/>
              <a:t>json_str</a:t>
            </a:r>
            <a:r>
              <a:rPr lang="en-US" altLang="ru-RU" sz="1100" dirty="0"/>
              <a:t>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    </a:t>
            </a:r>
            <a:r>
              <a:rPr lang="en-US" altLang="ru-RU" sz="1100" dirty="0" err="1"/>
              <a:t>json_object_object_add</a:t>
            </a:r>
            <a:r>
              <a:rPr lang="en-US" altLang="ru-RU" sz="1100" dirty="0"/>
              <a:t>( </a:t>
            </a:r>
            <a:r>
              <a:rPr lang="en-US" altLang="ru-RU" sz="1100" dirty="0" err="1"/>
              <a:t>json_obj</a:t>
            </a:r>
            <a:r>
              <a:rPr lang="en-US" altLang="ru-RU" sz="1100" dirty="0"/>
              <a:t>, "</a:t>
            </a:r>
            <a:r>
              <a:rPr lang="en-US" altLang="ru-RU" sz="1100" dirty="0" err="1"/>
              <a:t>Thread_ID</a:t>
            </a:r>
            <a:r>
              <a:rPr lang="en-US" altLang="ru-RU" sz="1100" dirty="0"/>
              <a:t>", json_object_new_int64(id));       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    </a:t>
            </a:r>
            <a:r>
              <a:rPr lang="en-US" altLang="ru-RU" sz="1100" dirty="0" err="1"/>
              <a:t>json_object_object_add</a:t>
            </a:r>
            <a:r>
              <a:rPr lang="en-US" altLang="ru-RU" sz="1100" dirty="0"/>
              <a:t>( </a:t>
            </a:r>
            <a:r>
              <a:rPr lang="en-US" altLang="ru-RU" sz="1100" dirty="0" err="1"/>
              <a:t>json_obj</a:t>
            </a:r>
            <a:r>
              <a:rPr lang="en-US" altLang="ru-RU" sz="1100" dirty="0"/>
              <a:t>, "</a:t>
            </a:r>
            <a:r>
              <a:rPr lang="en-US" altLang="ru-RU" sz="1100" dirty="0" err="1"/>
              <a:t>Message_ID</a:t>
            </a:r>
            <a:r>
              <a:rPr lang="en-US" altLang="ru-RU" sz="1100" dirty="0"/>
              <a:t>", json_object_new_int64(</a:t>
            </a:r>
            <a:r>
              <a:rPr lang="en-US" altLang="ru-RU" sz="1100" dirty="0" err="1"/>
              <a:t>uniquemessageid</a:t>
            </a:r>
            <a:r>
              <a:rPr lang="en-US" altLang="ru-RU" sz="1100" dirty="0"/>
              <a:t>));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    </a:t>
            </a:r>
            <a:r>
              <a:rPr lang="en-US" altLang="ru-RU" sz="1100" dirty="0" err="1"/>
              <a:t>uniquemessageid</a:t>
            </a:r>
            <a:r>
              <a:rPr lang="en-US" altLang="ru-RU" sz="1100" dirty="0"/>
              <a:t>++;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    </a:t>
            </a:r>
            <a:r>
              <a:rPr lang="en-US" altLang="ru-RU" sz="1100" dirty="0" err="1"/>
              <a:t>json_object_object_add</a:t>
            </a:r>
            <a:r>
              <a:rPr lang="en-US" altLang="ru-RU" sz="1100" dirty="0"/>
              <a:t>( </a:t>
            </a:r>
            <a:r>
              <a:rPr lang="en-US" altLang="ru-RU" sz="1100" dirty="0" err="1"/>
              <a:t>json_obj</a:t>
            </a:r>
            <a:r>
              <a:rPr lang="en-US" altLang="ru-RU" sz="1100" dirty="0"/>
              <a:t>, "Message", </a:t>
            </a:r>
            <a:r>
              <a:rPr lang="en-US" altLang="ru-RU" sz="1100" dirty="0" err="1"/>
              <a:t>json_object_new_string</a:t>
            </a:r>
            <a:r>
              <a:rPr lang="en-US" altLang="ru-RU" sz="1100" dirty="0"/>
              <a:t>(message));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    </a:t>
            </a:r>
            <a:r>
              <a:rPr lang="en-US" altLang="ru-RU" sz="1100" dirty="0" err="1"/>
              <a:t>json_str</a:t>
            </a:r>
            <a:r>
              <a:rPr lang="en-US" altLang="ru-RU" sz="1100" dirty="0"/>
              <a:t> = </a:t>
            </a:r>
            <a:r>
              <a:rPr lang="en-US" altLang="ru-RU" sz="1100" dirty="0" err="1"/>
              <a:t>json_object_get_string</a:t>
            </a:r>
            <a:r>
              <a:rPr lang="en-US" altLang="ru-RU" sz="1100" dirty="0"/>
              <a:t>( </a:t>
            </a:r>
            <a:r>
              <a:rPr lang="en-US" altLang="ru-RU" sz="1100" dirty="0" err="1"/>
              <a:t>json_obj</a:t>
            </a:r>
            <a:r>
              <a:rPr lang="en-US" altLang="ru-RU" sz="1100" dirty="0"/>
              <a:t> 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    </a:t>
            </a:r>
            <a:r>
              <a:rPr lang="en-US" altLang="ru-RU" sz="1100" dirty="0" err="1"/>
              <a:t>sendtoserver</a:t>
            </a:r>
            <a:r>
              <a:rPr lang="en-US" altLang="ru-RU" sz="1100" dirty="0"/>
              <a:t>(</a:t>
            </a:r>
            <a:r>
              <a:rPr lang="en-US" altLang="ru-RU" sz="1100" dirty="0" err="1"/>
              <a:t>json_str</a:t>
            </a:r>
            <a:r>
              <a:rPr lang="en-US" altLang="ru-RU" sz="1100" dirty="0"/>
              <a:t>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}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return NULL;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}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 err="1"/>
              <a:t>int</a:t>
            </a:r>
            <a:r>
              <a:rPr lang="en-US" altLang="ru-RU" sz="1100" dirty="0"/>
              <a:t> main() {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</a:t>
            </a:r>
            <a:r>
              <a:rPr lang="en-US" altLang="ru-RU" sz="1100" dirty="0" err="1"/>
              <a:t>int</a:t>
            </a:r>
            <a:r>
              <a:rPr lang="en-US" altLang="ru-RU" sz="1100" dirty="0"/>
              <a:t> </a:t>
            </a:r>
            <a:r>
              <a:rPr lang="en-US" altLang="ru-RU" sz="1100" dirty="0" err="1"/>
              <a:t>retval</a:t>
            </a:r>
            <a:r>
              <a:rPr lang="en-US" altLang="ru-RU" sz="1100" dirty="0"/>
              <a:t>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</a:t>
            </a:r>
            <a:r>
              <a:rPr lang="en-US" altLang="ru-RU" sz="1100" dirty="0" err="1"/>
              <a:t>pthread_t</a:t>
            </a:r>
            <a:r>
              <a:rPr lang="en-US" altLang="ru-RU" sz="1100" dirty="0"/>
              <a:t> </a:t>
            </a:r>
            <a:r>
              <a:rPr lang="en-US" altLang="ru-RU" sz="1100" dirty="0" err="1"/>
              <a:t>thread_id</a:t>
            </a:r>
            <a:r>
              <a:rPr lang="en-US" altLang="ru-RU" sz="1100" dirty="0"/>
              <a:t>[THREAD];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</a:t>
            </a:r>
            <a:r>
              <a:rPr lang="en-US" altLang="ru-RU" sz="1100" dirty="0" err="1"/>
              <a:t>mosquitto_lib_init</a:t>
            </a:r>
            <a:r>
              <a:rPr lang="en-US" altLang="ru-RU" sz="1100" dirty="0"/>
              <a:t>();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</a:t>
            </a:r>
            <a:r>
              <a:rPr lang="en-US" altLang="ru-RU" sz="1100" dirty="0" err="1"/>
              <a:t>printf</a:t>
            </a:r>
            <a:r>
              <a:rPr lang="en-US" altLang="ru-RU" sz="1100" dirty="0"/>
              <a:t>("Build Thread\n");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for (</a:t>
            </a:r>
            <a:r>
              <a:rPr lang="en-US" altLang="ru-RU" sz="1100" dirty="0" err="1"/>
              <a:t>int</a:t>
            </a:r>
            <a:r>
              <a:rPr lang="en-US" altLang="ru-RU" sz="1100" dirty="0"/>
              <a:t> </a:t>
            </a:r>
            <a:r>
              <a:rPr lang="en-US" altLang="ru-RU" sz="1100" dirty="0" err="1"/>
              <a:t>i</a:t>
            </a:r>
            <a:r>
              <a:rPr lang="en-US" altLang="ru-RU" sz="1100" dirty="0"/>
              <a:t> = 0; </a:t>
            </a:r>
            <a:r>
              <a:rPr lang="en-US" altLang="ru-RU" sz="1100" dirty="0" err="1"/>
              <a:t>i</a:t>
            </a:r>
            <a:r>
              <a:rPr lang="en-US" altLang="ru-RU" sz="1100" dirty="0"/>
              <a:t> &lt; THREAD; </a:t>
            </a:r>
            <a:r>
              <a:rPr lang="en-US" altLang="ru-RU" sz="1100" dirty="0" err="1"/>
              <a:t>i</a:t>
            </a:r>
            <a:r>
              <a:rPr lang="en-US" altLang="ru-RU" sz="1100" dirty="0"/>
              <a:t>++) {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    long id = i+1;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    </a:t>
            </a:r>
            <a:r>
              <a:rPr lang="en-US" altLang="ru-RU" sz="1100" dirty="0" err="1"/>
              <a:t>retval</a:t>
            </a:r>
            <a:r>
              <a:rPr lang="en-US" altLang="ru-RU" sz="1100" dirty="0"/>
              <a:t> = </a:t>
            </a:r>
            <a:r>
              <a:rPr lang="en-US" altLang="ru-RU" sz="1100" dirty="0" err="1"/>
              <a:t>pthread_create</a:t>
            </a:r>
            <a:r>
              <a:rPr lang="en-US" altLang="ru-RU" sz="1100" dirty="0"/>
              <a:t>(&amp;</a:t>
            </a:r>
            <a:r>
              <a:rPr lang="en-US" altLang="ru-RU" sz="1100" dirty="0" err="1"/>
              <a:t>thread_id</a:t>
            </a:r>
            <a:r>
              <a:rPr lang="en-US" altLang="ru-RU" sz="1100" dirty="0"/>
              <a:t>[</a:t>
            </a:r>
            <a:r>
              <a:rPr lang="en-US" altLang="ru-RU" sz="1100" dirty="0" err="1"/>
              <a:t>i</a:t>
            </a:r>
            <a:r>
              <a:rPr lang="en-US" altLang="ru-RU" sz="1100" dirty="0"/>
              <a:t>], NULL, Publish, (void*)id);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}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for (</a:t>
            </a:r>
            <a:r>
              <a:rPr lang="en-US" altLang="ru-RU" sz="1100" dirty="0" err="1"/>
              <a:t>int</a:t>
            </a:r>
            <a:r>
              <a:rPr lang="en-US" altLang="ru-RU" sz="1100" dirty="0"/>
              <a:t> </a:t>
            </a:r>
            <a:r>
              <a:rPr lang="en-US" altLang="ru-RU" sz="1100" dirty="0" err="1"/>
              <a:t>i</a:t>
            </a:r>
            <a:r>
              <a:rPr lang="en-US" altLang="ru-RU" sz="1100" dirty="0"/>
              <a:t> = 0; </a:t>
            </a:r>
            <a:r>
              <a:rPr lang="en-US" altLang="ru-RU" sz="1100" dirty="0" err="1"/>
              <a:t>i</a:t>
            </a:r>
            <a:r>
              <a:rPr lang="en-US" altLang="ru-RU" sz="1100" dirty="0"/>
              <a:t> &lt; THREAD; </a:t>
            </a:r>
            <a:r>
              <a:rPr lang="en-US" altLang="ru-RU" sz="1100" dirty="0" err="1"/>
              <a:t>i</a:t>
            </a:r>
            <a:r>
              <a:rPr lang="en-US" altLang="ru-RU" sz="1100" dirty="0"/>
              <a:t>++) {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    </a:t>
            </a:r>
            <a:r>
              <a:rPr lang="en-US" altLang="ru-RU" sz="1100" dirty="0" err="1"/>
              <a:t>pthread_join</a:t>
            </a:r>
            <a:r>
              <a:rPr lang="en-US" altLang="ru-RU" sz="1100" dirty="0"/>
              <a:t>(</a:t>
            </a:r>
            <a:r>
              <a:rPr lang="en-US" altLang="ru-RU" sz="1100" dirty="0" err="1"/>
              <a:t>thread_id</a:t>
            </a:r>
            <a:r>
              <a:rPr lang="en-US" altLang="ru-RU" sz="1100" dirty="0"/>
              <a:t>[</a:t>
            </a:r>
            <a:r>
              <a:rPr lang="en-US" altLang="ru-RU" sz="1100" dirty="0" err="1"/>
              <a:t>i</a:t>
            </a:r>
            <a:r>
              <a:rPr lang="en-US" altLang="ru-RU" sz="1100" dirty="0"/>
              <a:t>],NULL);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}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</a:t>
            </a:r>
            <a:r>
              <a:rPr lang="en-US" altLang="ru-RU" sz="1100" dirty="0" err="1"/>
              <a:t>sendtoserver</a:t>
            </a:r>
            <a:r>
              <a:rPr lang="en-US" altLang="ru-RU" sz="1100" dirty="0"/>
              <a:t>("END");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</a:t>
            </a:r>
            <a:r>
              <a:rPr lang="en-US" altLang="ru-RU" sz="1100" dirty="0" err="1"/>
              <a:t>printf</a:t>
            </a:r>
            <a:r>
              <a:rPr lang="en-US" altLang="ru-RU" sz="1100" dirty="0"/>
              <a:t>("Done\n");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</a:t>
            </a:r>
            <a:r>
              <a:rPr lang="en-US" altLang="ru-RU" sz="1100" dirty="0" err="1"/>
              <a:t>mosquitto_lib_cleanup</a:t>
            </a:r>
            <a:r>
              <a:rPr lang="en-US" altLang="ru-RU" sz="1100" dirty="0"/>
              <a:t>();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    exit(0);</a:t>
            </a:r>
          </a:p>
          <a:p>
            <a:pPr>
              <a:spcBef>
                <a:spcPct val="0"/>
              </a:spcBef>
              <a:buClrTx/>
            </a:pPr>
            <a:r>
              <a:rPr lang="en-US" altLang="ru-RU" sz="1100" dirty="0"/>
              <a:t>}</a:t>
            </a:r>
            <a:endParaRPr lang="ru-RU" altLang="ru-RU" sz="1100" dirty="0"/>
          </a:p>
        </p:txBody>
      </p:sp>
    </p:spTree>
    <p:extLst>
      <p:ext uri="{BB962C8B-B14F-4D97-AF65-F5344CB8AC3E}">
        <p14:creationId xmlns:p14="http://schemas.microsoft.com/office/powerpoint/2010/main" val="31604216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Grp="1" noChangeArrowheads="1"/>
          </p:cNvSpPr>
          <p:nvPr>
            <p:ph type="title"/>
          </p:nvPr>
        </p:nvSpPr>
        <p:spPr>
          <a:xfrm>
            <a:off x="1933576" y="274639"/>
            <a:ext cx="8277225" cy="1144587"/>
          </a:xfrm>
        </p:spPr>
        <p:txBody>
          <a:bodyPr vert="horz" lIns="91440" tIns="10138" rIns="91440" bIns="45720" rtlCol="0" anchor="t">
            <a:normAutofit/>
          </a:bodyPr>
          <a:lstStyle/>
          <a:p>
            <a:pPr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ru-RU" altLang="ru-RU" sz="2800" dirty="0"/>
              <a:t>Возможность работы </a:t>
            </a:r>
            <a:r>
              <a:rPr lang="en-US" altLang="ru-RU" sz="2800" dirty="0"/>
              <a:t>Mosquito </a:t>
            </a:r>
            <a:r>
              <a:rPr lang="ru-RU" altLang="ru-RU" sz="2800" dirty="0"/>
              <a:t>в контейнера</a:t>
            </a:r>
            <a:endParaRPr lang="en-US" altLang="ru-RU" sz="2800" dirty="0"/>
          </a:p>
        </p:txBody>
      </p:sp>
      <p:sp>
        <p:nvSpPr>
          <p:cNvPr id="4" name="Text Box 38"/>
          <p:cNvSpPr txBox="1">
            <a:spLocks noChangeArrowheads="1"/>
          </p:cNvSpPr>
          <p:nvPr/>
        </p:nvSpPr>
        <p:spPr bwMode="auto">
          <a:xfrm>
            <a:off x="1376624" y="1256044"/>
            <a:ext cx="10269416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just">
              <a:lnSpc>
                <a:spcPct val="75000"/>
              </a:lnSpc>
              <a:spcBef>
                <a:spcPct val="0"/>
              </a:spcBef>
              <a:buClrTx/>
            </a:pPr>
            <a:r>
              <a:rPr lang="ru-RU" altLang="ru-RU" sz="2400" dirty="0">
                <a:latin typeface="Times New Roman" panose="02020603050405020304" pitchFamily="18" charset="0"/>
              </a:rPr>
              <a:t>Установить </a:t>
            </a:r>
            <a:r>
              <a:rPr lang="en-US" altLang="ru-RU" sz="2400" dirty="0" err="1">
                <a:latin typeface="Times New Roman" panose="02020603050405020304" pitchFamily="18" charset="0"/>
              </a:rPr>
              <a:t>docker</a:t>
            </a:r>
            <a:r>
              <a:rPr lang="en-US" altLang="ru-RU" sz="2400" dirty="0">
                <a:latin typeface="Times New Roman" panose="02020603050405020304" pitchFamily="18" charset="0"/>
              </a:rPr>
              <a:t> </a:t>
            </a:r>
            <a:r>
              <a:rPr lang="ru-RU" altLang="ru-RU" sz="2400" dirty="0">
                <a:latin typeface="Times New Roman" panose="02020603050405020304" pitchFamily="18" charset="0"/>
              </a:rPr>
              <a:t>образ с брокером </a:t>
            </a:r>
            <a:r>
              <a:rPr lang="en-US" altLang="ru-RU" sz="2400" dirty="0" err="1">
                <a:latin typeface="Times New Roman" panose="02020603050405020304" pitchFamily="18" charset="0"/>
              </a:rPr>
              <a:t>Mosquitto</a:t>
            </a:r>
            <a:r>
              <a:rPr lang="en-US" altLang="ru-RU" sz="2400" dirty="0">
                <a:latin typeface="Times New Roman" panose="02020603050405020304" pitchFamily="18" charset="0"/>
              </a:rPr>
              <a:t> </a:t>
            </a:r>
            <a:r>
              <a:rPr lang="ru-RU" altLang="ru-RU" sz="2400" dirty="0">
                <a:latin typeface="Times New Roman" panose="02020603050405020304" pitchFamily="18" charset="0"/>
              </a:rPr>
              <a:t>и пробросить порты</a:t>
            </a:r>
            <a:r>
              <a:rPr lang="en-US" altLang="ru-RU" sz="2400" dirty="0">
                <a:latin typeface="Times New Roman" panose="02020603050405020304" pitchFamily="18" charset="0"/>
              </a:rPr>
              <a:t>:</a:t>
            </a:r>
          </a:p>
          <a:p>
            <a:pPr algn="just">
              <a:lnSpc>
                <a:spcPct val="75000"/>
              </a:lnSpc>
              <a:spcBef>
                <a:spcPct val="0"/>
              </a:spcBef>
              <a:buClrTx/>
            </a:pPr>
            <a:endParaRPr lang="en-US" altLang="ru-RU" sz="2400" dirty="0">
              <a:latin typeface="Times New Roman" panose="02020603050405020304" pitchFamily="18" charset="0"/>
            </a:endParaRPr>
          </a:p>
          <a:p>
            <a:pPr algn="just">
              <a:lnSpc>
                <a:spcPct val="75000"/>
              </a:lnSpc>
              <a:spcBef>
                <a:spcPct val="0"/>
              </a:spcBef>
              <a:buClrTx/>
            </a:pPr>
            <a:r>
              <a:rPr lang="en-US" altLang="ru-RU" sz="2400" dirty="0" err="1">
                <a:latin typeface="Times New Roman" panose="02020603050405020304" pitchFamily="18" charset="0"/>
              </a:rPr>
              <a:t>docker</a:t>
            </a:r>
            <a:r>
              <a:rPr lang="en-US" altLang="ru-RU" sz="2400" dirty="0">
                <a:latin typeface="Times New Roman" panose="02020603050405020304" pitchFamily="18" charset="0"/>
              </a:rPr>
              <a:t> run -it -p 1883:1883 -p 9001:9001 -d eclipse-mosquito</a:t>
            </a:r>
          </a:p>
          <a:p>
            <a:pPr algn="just">
              <a:lnSpc>
                <a:spcPct val="75000"/>
              </a:lnSpc>
              <a:spcBef>
                <a:spcPct val="0"/>
              </a:spcBef>
              <a:buClrTx/>
            </a:pPr>
            <a:endParaRPr lang="en-US" altLang="ru-RU" sz="2400" dirty="0">
              <a:latin typeface="Times New Roman" panose="02020603050405020304" pitchFamily="18" charset="0"/>
            </a:endParaRPr>
          </a:p>
          <a:p>
            <a:pPr algn="just">
              <a:lnSpc>
                <a:spcPct val="75000"/>
              </a:lnSpc>
              <a:spcBef>
                <a:spcPct val="0"/>
              </a:spcBef>
              <a:buClrTx/>
            </a:pPr>
            <a:endParaRPr lang="en-US" altLang="ru-RU" sz="2400" dirty="0">
              <a:latin typeface="Times New Roman" panose="02020603050405020304" pitchFamily="18" charset="0"/>
            </a:endParaRPr>
          </a:p>
          <a:p>
            <a:pPr algn="just">
              <a:lnSpc>
                <a:spcPct val="75000"/>
              </a:lnSpc>
              <a:spcBef>
                <a:spcPct val="0"/>
              </a:spcBef>
              <a:buClrTx/>
            </a:pPr>
            <a:r>
              <a:rPr lang="ru-RU" altLang="ru-RU" sz="2400" dirty="0">
                <a:latin typeface="Times New Roman" panose="02020603050405020304" pitchFamily="18" charset="0"/>
              </a:rPr>
              <a:t>Посмотреть, что контейнер работает командой </a:t>
            </a:r>
            <a:r>
              <a:rPr lang="en-US" altLang="ru-RU" sz="2400" dirty="0" err="1">
                <a:latin typeface="Times New Roman" panose="02020603050405020304" pitchFamily="18" charset="0"/>
              </a:rPr>
              <a:t>docker</a:t>
            </a:r>
            <a:r>
              <a:rPr lang="en-US" altLang="ru-RU" sz="2400" dirty="0">
                <a:latin typeface="Times New Roman" panose="02020603050405020304" pitchFamily="18" charset="0"/>
              </a:rPr>
              <a:t> </a:t>
            </a:r>
            <a:r>
              <a:rPr lang="en-US" altLang="ru-RU" sz="2400" dirty="0" err="1">
                <a:latin typeface="Times New Roman" panose="02020603050405020304" pitchFamily="18" charset="0"/>
              </a:rPr>
              <a:t>ps</a:t>
            </a:r>
            <a:endParaRPr lang="en-US" altLang="ru-RU" sz="2400" dirty="0">
              <a:latin typeface="Times New Roman" panose="02020603050405020304" pitchFamily="18" charset="0"/>
            </a:endParaRPr>
          </a:p>
          <a:p>
            <a:pPr algn="just">
              <a:lnSpc>
                <a:spcPct val="75000"/>
              </a:lnSpc>
              <a:spcBef>
                <a:spcPct val="0"/>
              </a:spcBef>
              <a:buClrTx/>
            </a:pPr>
            <a:endParaRPr lang="en-US" altLang="ru-RU" sz="2400" dirty="0">
              <a:latin typeface="Times New Roman" panose="02020603050405020304" pitchFamily="18" charset="0"/>
            </a:endParaRPr>
          </a:p>
          <a:p>
            <a:pPr algn="just">
              <a:lnSpc>
                <a:spcPct val="75000"/>
              </a:lnSpc>
              <a:spcBef>
                <a:spcPct val="0"/>
              </a:spcBef>
              <a:buClrTx/>
            </a:pPr>
            <a:endParaRPr lang="en-US" altLang="ru-RU" sz="1800" dirty="0">
              <a:latin typeface="Times New Roman" panose="02020603050405020304" pitchFamily="18" charset="0"/>
            </a:endParaRPr>
          </a:p>
          <a:p>
            <a:pPr algn="just">
              <a:lnSpc>
                <a:spcPct val="75000"/>
              </a:lnSpc>
              <a:spcBef>
                <a:spcPct val="0"/>
              </a:spcBef>
              <a:buClrTx/>
            </a:pPr>
            <a:endParaRPr lang="en-US" altLang="ru-RU" sz="1800" dirty="0">
              <a:latin typeface="Times New Roman" panose="02020603050405020304" pitchFamily="18" charset="0"/>
            </a:endParaRPr>
          </a:p>
          <a:p>
            <a:pPr algn="just">
              <a:lnSpc>
                <a:spcPct val="75000"/>
              </a:lnSpc>
              <a:spcBef>
                <a:spcPct val="0"/>
              </a:spcBef>
              <a:buClrTx/>
            </a:pPr>
            <a:endParaRPr lang="en-US" altLang="ru-RU" sz="1800" dirty="0">
              <a:latin typeface="Times New Roman" panose="02020603050405020304" pitchFamily="18" charset="0"/>
            </a:endParaRPr>
          </a:p>
          <a:p>
            <a:pPr algn="just">
              <a:lnSpc>
                <a:spcPct val="75000"/>
              </a:lnSpc>
              <a:spcBef>
                <a:spcPct val="0"/>
              </a:spcBef>
              <a:buClrTx/>
            </a:pPr>
            <a:endParaRPr lang="en-US" altLang="ru-RU" sz="1800" dirty="0">
              <a:latin typeface="Times New Roman" panose="02020603050405020304" pitchFamily="18" charset="0"/>
            </a:endParaRPr>
          </a:p>
          <a:p>
            <a:pPr algn="just">
              <a:lnSpc>
                <a:spcPct val="75000"/>
              </a:lnSpc>
              <a:spcBef>
                <a:spcPct val="0"/>
              </a:spcBef>
              <a:buClrTx/>
            </a:pPr>
            <a:endParaRPr lang="en-US" altLang="ru-RU" sz="1800" dirty="0">
              <a:latin typeface="Times New Roman" panose="02020603050405020304" pitchFamily="18" charset="0"/>
            </a:endParaRPr>
          </a:p>
          <a:p>
            <a:pPr algn="just">
              <a:lnSpc>
                <a:spcPct val="75000"/>
              </a:lnSpc>
              <a:spcBef>
                <a:spcPct val="0"/>
              </a:spcBef>
              <a:buClrTx/>
            </a:pPr>
            <a:endParaRPr lang="en-US" altLang="ru-RU" sz="1800" dirty="0">
              <a:latin typeface="Times New Roman" panose="02020603050405020304" pitchFamily="18" charset="0"/>
            </a:endParaRPr>
          </a:p>
          <a:p>
            <a:pPr algn="just">
              <a:lnSpc>
                <a:spcPct val="75000"/>
              </a:lnSpc>
              <a:spcBef>
                <a:spcPct val="0"/>
              </a:spcBef>
              <a:buClrTx/>
            </a:pPr>
            <a:endParaRPr lang="en-US" altLang="ru-RU" sz="1800" dirty="0">
              <a:latin typeface="Times New Roman" panose="02020603050405020304" pitchFamily="18" charset="0"/>
            </a:endParaRPr>
          </a:p>
          <a:p>
            <a:pPr algn="just">
              <a:lnSpc>
                <a:spcPct val="75000"/>
              </a:lnSpc>
              <a:spcBef>
                <a:spcPct val="0"/>
              </a:spcBef>
              <a:buClrTx/>
            </a:pPr>
            <a:endParaRPr lang="en-US" altLang="ru-RU" sz="1800" dirty="0">
              <a:latin typeface="Times New Roman" panose="02020603050405020304" pitchFamily="18" charset="0"/>
            </a:endParaRPr>
          </a:p>
          <a:p>
            <a:pPr algn="just">
              <a:lnSpc>
                <a:spcPct val="75000"/>
              </a:lnSpc>
              <a:spcBef>
                <a:spcPct val="0"/>
              </a:spcBef>
              <a:buClrTx/>
            </a:pPr>
            <a:endParaRPr lang="en-US" altLang="ru-RU" sz="1800" dirty="0">
              <a:latin typeface="Times New Roman" panose="02020603050405020304" pitchFamily="18" charset="0"/>
            </a:endParaRPr>
          </a:p>
          <a:p>
            <a:pPr algn="just">
              <a:lnSpc>
                <a:spcPct val="75000"/>
              </a:lnSpc>
              <a:spcBef>
                <a:spcPct val="0"/>
              </a:spcBef>
              <a:buClrTx/>
            </a:pPr>
            <a:endParaRPr lang="ru-RU" altLang="ru-RU" sz="1800" dirty="0">
              <a:latin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77" y="3557116"/>
            <a:ext cx="11402850" cy="131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936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Grp="1" noChangeArrowheads="1"/>
          </p:cNvSpPr>
          <p:nvPr>
            <p:ph type="title"/>
          </p:nvPr>
        </p:nvSpPr>
        <p:spPr>
          <a:xfrm>
            <a:off x="1933576" y="274639"/>
            <a:ext cx="8277225" cy="1144587"/>
          </a:xfrm>
        </p:spPr>
        <p:txBody>
          <a:bodyPr vert="horz" lIns="91440" tIns="10138" rIns="91440" bIns="45720" rtlCol="0" anchor="t">
            <a:normAutofit/>
          </a:bodyPr>
          <a:lstStyle/>
          <a:p>
            <a:pPr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ru-RU" altLang="ru-RU" sz="2800" dirty="0"/>
              <a:t>Пример работы </a:t>
            </a:r>
            <a:r>
              <a:rPr lang="en-US" altLang="ru-RU" sz="2800" dirty="0"/>
              <a:t>c MQTT </a:t>
            </a:r>
            <a:r>
              <a:rPr lang="ru-RU" altLang="ru-RU" sz="2800" dirty="0"/>
              <a:t>в </a:t>
            </a:r>
            <a:r>
              <a:rPr lang="en-US" altLang="ru-RU" sz="2800" dirty="0"/>
              <a:t>Python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577591" y="1185496"/>
            <a:ext cx="1118381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paho.mqtt.client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mqtt</a:t>
            </a:r>
            <a:endParaRPr lang="ru-RU" dirty="0"/>
          </a:p>
          <a:p>
            <a:endParaRPr lang="ru-RU" dirty="0"/>
          </a:p>
          <a:p>
            <a:r>
              <a:rPr lang="ru-RU" dirty="0"/>
              <a:t># </a:t>
            </a:r>
            <a:r>
              <a:rPr lang="ru-RU" dirty="0" err="1"/>
              <a:t>callback</a:t>
            </a:r>
            <a:r>
              <a:rPr lang="ru-RU" dirty="0"/>
              <a:t> для подключения клиента к брокеру</a:t>
            </a:r>
          </a:p>
          <a:p>
            <a:endParaRPr lang="ru-RU" dirty="0"/>
          </a:p>
          <a:p>
            <a:r>
              <a:rPr lang="ru-RU" dirty="0" err="1"/>
              <a:t>def</a:t>
            </a:r>
            <a:r>
              <a:rPr lang="ru-RU" dirty="0"/>
              <a:t> </a:t>
            </a:r>
            <a:r>
              <a:rPr lang="ru-RU" dirty="0" err="1"/>
              <a:t>on_connect</a:t>
            </a:r>
            <a:r>
              <a:rPr lang="ru-RU" dirty="0"/>
              <a:t>(</a:t>
            </a:r>
            <a:r>
              <a:rPr lang="ru-RU" dirty="0" err="1"/>
              <a:t>client</a:t>
            </a:r>
            <a:r>
              <a:rPr lang="ru-RU" dirty="0"/>
              <a:t>, </a:t>
            </a:r>
            <a:r>
              <a:rPr lang="ru-RU" dirty="0" err="1"/>
              <a:t>userdata</a:t>
            </a:r>
            <a:r>
              <a:rPr lang="ru-RU" dirty="0"/>
              <a:t>, </a:t>
            </a:r>
            <a:r>
              <a:rPr lang="ru-RU" dirty="0" err="1"/>
              <a:t>flags</a:t>
            </a:r>
            <a:r>
              <a:rPr lang="ru-RU" dirty="0"/>
              <a:t>, </a:t>
            </a:r>
            <a:r>
              <a:rPr lang="ru-RU" dirty="0" err="1"/>
              <a:t>rc</a:t>
            </a:r>
            <a:r>
              <a:rPr lang="ru-RU" dirty="0"/>
              <a:t>):</a:t>
            </a:r>
          </a:p>
          <a:p>
            <a:r>
              <a:rPr lang="ru-RU" dirty="0"/>
              <a:t>    </a:t>
            </a:r>
            <a:r>
              <a:rPr lang="ru-RU" dirty="0" err="1"/>
              <a:t>print</a:t>
            </a:r>
            <a:r>
              <a:rPr lang="ru-RU" dirty="0"/>
              <a:t>("</a:t>
            </a:r>
            <a:r>
              <a:rPr lang="ru-RU" dirty="0" err="1"/>
              <a:t>Connected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result</a:t>
            </a:r>
            <a:r>
              <a:rPr lang="ru-RU" dirty="0"/>
              <a:t> </a:t>
            </a:r>
            <a:r>
              <a:rPr lang="ru-RU" dirty="0" err="1"/>
              <a:t>code</a:t>
            </a:r>
            <a:r>
              <a:rPr lang="ru-RU" dirty="0"/>
              <a:t> {0}".</a:t>
            </a:r>
            <a:r>
              <a:rPr lang="ru-RU" dirty="0" err="1"/>
              <a:t>format</a:t>
            </a:r>
            <a:r>
              <a:rPr lang="ru-RU" dirty="0"/>
              <a:t>(</a:t>
            </a:r>
            <a:r>
              <a:rPr lang="ru-RU" dirty="0" err="1"/>
              <a:t>str</a:t>
            </a:r>
            <a:r>
              <a:rPr lang="ru-RU" dirty="0"/>
              <a:t>(</a:t>
            </a:r>
            <a:r>
              <a:rPr lang="ru-RU" dirty="0" err="1"/>
              <a:t>rc</a:t>
            </a:r>
            <a:r>
              <a:rPr lang="ru-RU" dirty="0"/>
              <a:t>)))</a:t>
            </a:r>
          </a:p>
          <a:p>
            <a:r>
              <a:rPr lang="ru-RU" dirty="0"/>
              <a:t>    </a:t>
            </a:r>
            <a:r>
              <a:rPr lang="ru-RU" dirty="0" err="1"/>
              <a:t>client.subscribe</a:t>
            </a:r>
            <a:r>
              <a:rPr lang="ru-RU" dirty="0"/>
              <a:t>("</a:t>
            </a:r>
            <a:r>
              <a:rPr lang="ru-RU" dirty="0" err="1"/>
              <a:t>digitest</a:t>
            </a:r>
            <a:r>
              <a:rPr lang="ru-RU" dirty="0"/>
              <a:t>/test1")                                      # Подписка на топик “</a:t>
            </a:r>
            <a:r>
              <a:rPr lang="ru-RU" dirty="0" err="1"/>
              <a:t>digitest</a:t>
            </a:r>
            <a:r>
              <a:rPr lang="ru-RU" dirty="0"/>
              <a:t>/test1”</a:t>
            </a:r>
          </a:p>
          <a:p>
            <a:endParaRPr lang="ru-RU" dirty="0"/>
          </a:p>
          <a:p>
            <a:r>
              <a:rPr lang="ru-RU" dirty="0" err="1"/>
              <a:t>def</a:t>
            </a:r>
            <a:r>
              <a:rPr lang="ru-RU" dirty="0"/>
              <a:t> </a:t>
            </a:r>
            <a:r>
              <a:rPr lang="ru-RU" dirty="0" err="1"/>
              <a:t>on_message</a:t>
            </a:r>
            <a:r>
              <a:rPr lang="ru-RU" dirty="0"/>
              <a:t>(</a:t>
            </a:r>
            <a:r>
              <a:rPr lang="ru-RU" dirty="0" err="1"/>
              <a:t>client</a:t>
            </a:r>
            <a:r>
              <a:rPr lang="ru-RU" dirty="0"/>
              <a:t>, </a:t>
            </a:r>
            <a:r>
              <a:rPr lang="ru-RU" dirty="0" err="1"/>
              <a:t>userdata</a:t>
            </a:r>
            <a:r>
              <a:rPr lang="ru-RU" dirty="0"/>
              <a:t>, </a:t>
            </a:r>
            <a:r>
              <a:rPr lang="ru-RU" dirty="0" err="1"/>
              <a:t>msg</a:t>
            </a:r>
            <a:r>
              <a:rPr lang="ru-RU" dirty="0"/>
              <a:t>):                           # </a:t>
            </a:r>
            <a:r>
              <a:rPr lang="ru-RU" dirty="0" err="1"/>
              <a:t>callback</a:t>
            </a:r>
            <a:r>
              <a:rPr lang="ru-RU" dirty="0"/>
              <a:t> на получение сообщений.</a:t>
            </a:r>
          </a:p>
          <a:p>
            <a:r>
              <a:rPr lang="ru-RU" dirty="0"/>
              <a:t>    </a:t>
            </a:r>
            <a:r>
              <a:rPr lang="ru-RU" dirty="0" err="1"/>
              <a:t>print</a:t>
            </a:r>
            <a:r>
              <a:rPr lang="ru-RU" dirty="0"/>
              <a:t>("</a:t>
            </a:r>
            <a:r>
              <a:rPr lang="ru-RU" dirty="0" err="1"/>
              <a:t>Message</a:t>
            </a:r>
            <a:r>
              <a:rPr lang="ru-RU" dirty="0"/>
              <a:t> </a:t>
            </a:r>
            <a:r>
              <a:rPr lang="ru-RU" dirty="0" err="1"/>
              <a:t>received</a:t>
            </a:r>
            <a:r>
              <a:rPr lang="ru-RU" dirty="0"/>
              <a:t>-&gt; " + </a:t>
            </a:r>
            <a:r>
              <a:rPr lang="ru-RU" dirty="0" err="1"/>
              <a:t>msg.topic</a:t>
            </a:r>
            <a:r>
              <a:rPr lang="ru-RU" dirty="0"/>
              <a:t> + " " + </a:t>
            </a:r>
            <a:r>
              <a:rPr lang="ru-RU" dirty="0" err="1"/>
              <a:t>str</a:t>
            </a:r>
            <a:r>
              <a:rPr lang="ru-RU" dirty="0"/>
              <a:t>(</a:t>
            </a:r>
            <a:r>
              <a:rPr lang="ru-RU" dirty="0" err="1"/>
              <a:t>msg.payload</a:t>
            </a:r>
            <a:r>
              <a:rPr lang="ru-RU" dirty="0"/>
              <a:t>))  # Печать сообщений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 err="1"/>
              <a:t>client</a:t>
            </a:r>
            <a:r>
              <a:rPr lang="ru-RU" dirty="0"/>
              <a:t> = </a:t>
            </a:r>
            <a:r>
              <a:rPr lang="ru-RU" dirty="0" err="1"/>
              <a:t>mqtt.Client</a:t>
            </a:r>
            <a:r>
              <a:rPr lang="ru-RU" dirty="0"/>
              <a:t>("</a:t>
            </a:r>
            <a:r>
              <a:rPr lang="ru-RU" dirty="0" err="1"/>
              <a:t>digi_mqtt_test</a:t>
            </a:r>
            <a:r>
              <a:rPr lang="ru-RU" dirty="0"/>
              <a:t>")</a:t>
            </a:r>
          </a:p>
          <a:p>
            <a:r>
              <a:rPr lang="ru-RU" dirty="0" err="1"/>
              <a:t>client.on_connect</a:t>
            </a:r>
            <a:r>
              <a:rPr lang="ru-RU" dirty="0"/>
              <a:t> = </a:t>
            </a:r>
            <a:r>
              <a:rPr lang="ru-RU" dirty="0" err="1"/>
              <a:t>on_connect</a:t>
            </a:r>
            <a:r>
              <a:rPr lang="ru-RU" dirty="0"/>
              <a:t>                        # Ставим </a:t>
            </a:r>
            <a:r>
              <a:rPr lang="ru-RU" dirty="0" err="1"/>
              <a:t>callback</a:t>
            </a:r>
            <a:r>
              <a:rPr lang="ru-RU" dirty="0"/>
              <a:t> на подключение</a:t>
            </a:r>
          </a:p>
          <a:p>
            <a:r>
              <a:rPr lang="ru-RU" dirty="0" err="1"/>
              <a:t>client.on_message</a:t>
            </a:r>
            <a:r>
              <a:rPr lang="ru-RU" dirty="0"/>
              <a:t> = </a:t>
            </a:r>
            <a:r>
              <a:rPr lang="ru-RU" dirty="0" err="1"/>
              <a:t>on_message</a:t>
            </a:r>
            <a:r>
              <a:rPr lang="ru-RU" dirty="0"/>
              <a:t>                      # Ставим </a:t>
            </a:r>
            <a:r>
              <a:rPr lang="ru-RU" dirty="0" err="1"/>
              <a:t>callback</a:t>
            </a:r>
            <a:r>
              <a:rPr lang="ru-RU" dirty="0"/>
              <a:t> на получение сообщений</a:t>
            </a:r>
          </a:p>
          <a:p>
            <a:r>
              <a:rPr lang="ru-RU" dirty="0"/>
              <a:t># </a:t>
            </a:r>
            <a:r>
              <a:rPr lang="ru-RU" dirty="0" err="1"/>
              <a:t>client.connect</a:t>
            </a:r>
            <a:r>
              <a:rPr lang="ru-RU" dirty="0"/>
              <a:t>("m2m.eclipse.org", 1883, 60)  # </a:t>
            </a:r>
            <a:r>
              <a:rPr lang="ru-RU" dirty="0" err="1"/>
              <a:t>Connect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(</a:t>
            </a:r>
            <a:r>
              <a:rPr lang="ru-RU" dirty="0" err="1"/>
              <a:t>broker</a:t>
            </a:r>
            <a:r>
              <a:rPr lang="ru-RU" dirty="0"/>
              <a:t>, </a:t>
            </a:r>
            <a:r>
              <a:rPr lang="ru-RU" dirty="0" err="1"/>
              <a:t>port</a:t>
            </a:r>
            <a:r>
              <a:rPr lang="ru-RU" dirty="0"/>
              <a:t>, </a:t>
            </a:r>
            <a:r>
              <a:rPr lang="ru-RU" dirty="0" err="1"/>
              <a:t>keepalive-time</a:t>
            </a:r>
            <a:r>
              <a:rPr lang="ru-RU" dirty="0"/>
              <a:t>)</a:t>
            </a:r>
          </a:p>
          <a:p>
            <a:r>
              <a:rPr lang="ru-RU" dirty="0" err="1"/>
              <a:t>client.connect</a:t>
            </a:r>
            <a:r>
              <a:rPr lang="ru-RU" dirty="0"/>
              <a:t>('127.0.0.1', 17300)</a:t>
            </a:r>
          </a:p>
          <a:p>
            <a:r>
              <a:rPr lang="ru-RU" dirty="0" err="1"/>
              <a:t>client.loop_forever</a:t>
            </a:r>
            <a:r>
              <a:rPr lang="ru-RU" dirty="0"/>
              <a:t>()                                              # </a:t>
            </a:r>
            <a:r>
              <a:rPr lang="ru-RU" dirty="0" err="1"/>
              <a:t>Start</a:t>
            </a:r>
            <a:r>
              <a:rPr lang="ru-RU" dirty="0"/>
              <a:t> </a:t>
            </a:r>
            <a:r>
              <a:rPr lang="ru-RU" dirty="0" err="1"/>
              <a:t>networking</a:t>
            </a:r>
            <a:r>
              <a:rPr lang="ru-RU" dirty="0"/>
              <a:t> </a:t>
            </a:r>
            <a:r>
              <a:rPr lang="ru-RU" dirty="0" err="1"/>
              <a:t>daemon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74045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09521" y="273461"/>
            <a:ext cx="10971371" cy="1144439"/>
          </a:xfrm>
        </p:spPr>
        <p:txBody>
          <a:bodyPr vert="horz" lIns="91440" tIns="15118" rIns="91440" bIns="45720" rtlCol="0" anchor="t">
            <a:normAutofit/>
          </a:bodyPr>
          <a:lstStyle/>
          <a:p>
            <a:pPr>
              <a:tabLst>
                <a:tab pos="0" algn="l"/>
                <a:tab pos="457154" algn="l"/>
                <a:tab pos="914309" algn="l"/>
                <a:tab pos="1371463" algn="l"/>
                <a:tab pos="1828617" algn="l"/>
                <a:tab pos="2285771" algn="l"/>
                <a:tab pos="2742926" algn="l"/>
                <a:tab pos="3200080" algn="l"/>
                <a:tab pos="3657234" algn="l"/>
                <a:tab pos="4114389" algn="l"/>
                <a:tab pos="4571543" algn="l"/>
                <a:tab pos="5028697" algn="l"/>
                <a:tab pos="5485851" algn="l"/>
                <a:tab pos="5943006" algn="l"/>
                <a:tab pos="6400160" algn="l"/>
                <a:tab pos="6857314" algn="l"/>
                <a:tab pos="7314468" algn="l"/>
                <a:tab pos="7771623" algn="l"/>
                <a:tab pos="8228777" algn="l"/>
                <a:tab pos="8685931" algn="l"/>
                <a:tab pos="9143086" algn="l"/>
                <a:tab pos="9409759" algn="l"/>
                <a:tab pos="10133587" algn="l"/>
                <a:tab pos="10857414" algn="l"/>
              </a:tabLst>
            </a:pPr>
            <a:r>
              <a:rPr lang="ru-RU" altLang="ru-RU" sz="4000" b="1" dirty="0">
                <a:solidFill>
                  <a:srgbClr val="406880"/>
                </a:solidFill>
                <a:latin typeface="Open Sans Extrabold" charset="0"/>
              </a:rPr>
              <a:t>|</a:t>
            </a:r>
            <a:r>
              <a:rPr lang="ru-RU" altLang="ru-RU" sz="4000" dirty="0">
                <a:solidFill>
                  <a:srgbClr val="406880"/>
                </a:solidFill>
                <a:latin typeface="Open Sans Extrabold" charset="0"/>
              </a:rPr>
              <a:t> Литература</a:t>
            </a:r>
          </a:p>
        </p:txBody>
      </p:sp>
      <p:sp>
        <p:nvSpPr>
          <p:cNvPr id="48131" name="Прямоугольник 2"/>
          <p:cNvSpPr>
            <a:spLocks noChangeArrowheads="1"/>
          </p:cNvSpPr>
          <p:nvPr/>
        </p:nvSpPr>
        <p:spPr bwMode="auto">
          <a:xfrm>
            <a:off x="964642" y="1557582"/>
            <a:ext cx="11090724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>
                <a:hlinkClick r:id="rId3"/>
              </a:rPr>
              <a:t>http://www.steves-internet-guide.com/mosquitto_pub-sub-clients/</a:t>
            </a:r>
            <a:endParaRPr lang="en-US" sz="2000" dirty="0"/>
          </a:p>
          <a:p>
            <a:pPr marL="342900" indent="-342900">
              <a:buAutoNum type="arabicPeriod"/>
            </a:pPr>
            <a:r>
              <a:rPr lang="en-US" sz="2000" dirty="0">
                <a:hlinkClick r:id="rId4"/>
              </a:rPr>
              <a:t>http://nano-chicken.blogspot.com/2017/11/mqtt-sample-code-using-libmosquitto.html</a:t>
            </a:r>
            <a:endParaRPr lang="en-US" sz="2000" dirty="0"/>
          </a:p>
          <a:p>
            <a:pPr marL="342900" indent="-342900">
              <a:buAutoNum type="arabicPeriod"/>
            </a:pPr>
            <a:r>
              <a:rPr lang="en-US" sz="2000" dirty="0"/>
              <a:t>https://medium.com/@Sorawich.ts/mqtt-with-multithread-7fc01db93b51</a:t>
            </a:r>
          </a:p>
          <a:p>
            <a:endParaRPr lang="en-US" sz="1400" dirty="0"/>
          </a:p>
          <a:p>
            <a:endParaRPr lang="en-US" sz="1200" dirty="0"/>
          </a:p>
          <a:p>
            <a:endParaRPr lang="ru-RU" alt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7638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Легкий дым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1253</TotalTime>
  <Words>3825</Words>
  <Application>Microsoft Office PowerPoint</Application>
  <PresentationFormat>Widescreen</PresentationFormat>
  <Paragraphs>562</Paragraphs>
  <Slides>39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Arial</vt:lpstr>
      <vt:lpstr>Calibri</vt:lpstr>
      <vt:lpstr>Century Gothic</vt:lpstr>
      <vt:lpstr>Droid Sans Fallback</vt:lpstr>
      <vt:lpstr>Menlo</vt:lpstr>
      <vt:lpstr>Open Sans Extrabold</vt:lpstr>
      <vt:lpstr>Times New Roman</vt:lpstr>
      <vt:lpstr>Wingdings 3</vt:lpstr>
      <vt:lpstr>Легкий дым</vt:lpstr>
      <vt:lpstr>Практическое занятие 4  REST and MQTT</vt:lpstr>
      <vt:lpstr>Задание</vt:lpstr>
      <vt:lpstr>REST</vt:lpstr>
      <vt:lpstr>Описание HTTP методов</vt:lpstr>
      <vt:lpstr>Ошибки</vt:lpstr>
      <vt:lpstr>Пример результата GET запроса к /api/v1/flavors</vt:lpstr>
      <vt:lpstr>curl</vt:lpstr>
      <vt:lpstr>GET – метод по умолчанию</vt:lpstr>
      <vt:lpstr>POST</vt:lpstr>
      <vt:lpstr>PUT</vt:lpstr>
      <vt:lpstr>Install FastAPI</vt:lpstr>
      <vt:lpstr>  </vt:lpstr>
      <vt:lpstr>  </vt:lpstr>
      <vt:lpstr>FastAPI – hello world</vt:lpstr>
      <vt:lpstr>REST server example</vt:lpstr>
      <vt:lpstr>FastAPI decorators</vt:lpstr>
      <vt:lpstr>Пример сервера </vt:lpstr>
      <vt:lpstr>Клиент. Post с параметрами</vt:lpstr>
      <vt:lpstr>Клиент. Get с параметрами </vt:lpstr>
      <vt:lpstr>Библиотека cpp-httplib.h и json.hpp (nlohmann/json)</vt:lpstr>
      <vt:lpstr>Пример сервера на cpp-httplib.h и json.hpp (nlohmann/json)</vt:lpstr>
      <vt:lpstr>Пример сервера на cpp-httplib.h и json.hpp (nlohmann/json)</vt:lpstr>
      <vt:lpstr>Пример сервера на cpp-httplib.h и json.hpp (nlohmann/json)</vt:lpstr>
      <vt:lpstr>Post с параметрами</vt:lpstr>
      <vt:lpstr>Содержание</vt:lpstr>
      <vt:lpstr>Архитектура mqtt</vt:lpstr>
      <vt:lpstr>Архитектура mqtt</vt:lpstr>
      <vt:lpstr>Mqtt пакет</vt:lpstr>
      <vt:lpstr>Установка mqtt</vt:lpstr>
      <vt:lpstr>Пример работы из командной строки</vt:lpstr>
      <vt:lpstr>Конфигурирование брокера- mosquitto.conf</vt:lpstr>
      <vt:lpstr>Пример работы с mqtt на C++</vt:lpstr>
      <vt:lpstr>Пример работы  с mqtt subscriber на C++</vt:lpstr>
      <vt:lpstr>Пример работы с mqtt на C++</vt:lpstr>
      <vt:lpstr>Пример работы с mqtt publisher на C++</vt:lpstr>
      <vt:lpstr>Пример работы с mqtt publisher на C++</vt:lpstr>
      <vt:lpstr>Возможность работы Mosquito в контейнера</vt:lpstr>
      <vt:lpstr>Пример работы c MQTT в Python</vt:lpstr>
      <vt:lpstr>| Литература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Графический стек Linux</dc:title>
  <dc:creator>Maksimov</dc:creator>
  <cp:lastModifiedBy>Alexey Maximov</cp:lastModifiedBy>
  <cp:revision>61</cp:revision>
  <dcterms:created xsi:type="dcterms:W3CDTF">2020-10-11T02:30:05Z</dcterms:created>
  <dcterms:modified xsi:type="dcterms:W3CDTF">2026-04-04T08:26:46Z</dcterms:modified>
</cp:coreProperties>
</file>